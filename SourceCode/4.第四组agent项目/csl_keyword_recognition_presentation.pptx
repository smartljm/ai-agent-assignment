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99" autoAdjust="0"/>
  </p:normalViewPr>
  <p:slideViewPr>
    <p:cSldViewPr snapToGrid="0">
      <p:cViewPr varScale="1">
        <p:scale>
          <a:sx n="98" d="100"/>
          <a:sy n="98" d="100"/>
        </p:scale>
        <p:origin x="8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各位老师同学好，我们这次课程大作业选择的是 CLUE Benchmark 中的 CSL 论文关键词识别任务。汇报主题是基于预训练语言模型的中文论文关键词识别研究。整体工作不是只跑一个模型，而是按课程要求完成了数据统计、分词和去停用词、N-Gram TF-IDF 特征提取、传统机器学习基线、BERT 微调，以及 Type I 和 Type II 错误分析。最终 BERT-base-Chinese 在验证集上的 Macro-F1 为 0.8077，后面我会按实验流程展开。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这一页是汇报路线。第一部分说明为什么论文关键词识别值得做，以及它和普通文本分类有什么不同。第二部分定义 CSL 任务，包括输入、输出和标签。第三部分介绍数据集和预处理结果。第四部分说明特征提取和模型方案。第五部分展示实验指标和混淆矩阵。最后分析错误样例，说明模型优缺点、任务挑战、改进方向，并列出小组分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我们选择 CSL 的原因主要有三点。第一，关键词本身是论文检索、分类、推荐和知识组织的重要元数据，判断关键词是否匹配摘要具有明确应用意义。第二，这个任务的负例不是完全无关文本，而是由伪造关键词和真实关键词混合构造，很多负例与摘要主题仍然高度相关，所以它比普通主题分类更细。第三，数据规模适中，训练集两万条、验证集三千条，既能完成完整实验，也适合在课程作业中做清楚的统计和错误分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CSL 的全称是 Chinese Scientific Literature，中文科技文献数据集。每条样本包含四个字段：id、论文摘要 abst、关键词 keyword 和标签 label。模型看到的是一段摘要和一组关键词，需要输出 0 或 1。1 表示这组关键词是真实关键词；0 表示关键词由伪造关键词构成，或并不完全匹配这篇摘要。也就是说，我们学习的是一个函数 f(A,K)，输入摘要 A 和关键词集合 K，输出二分类标签 y。这个定义决定了模型必须同时理解摘要语义和关键词集合的整体一致性。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相关方法可以分成三类。第一类是传统文本表示，例如 Bag-of-Words、N-Gram 和 TF-IDF，再接 SVM 或 Logistic Regression。这类方法快、可解释，但主要依赖词面共现。第二类是预训练语言模型，以 BERT 为代表，它通过 Transformer 编码上下文，适合做摘要和关键词之间的语义匹配。中文任务中还有 Chinese BERT-wwm、RoBERTa-wwm、MacBERT 等改进。第三类是大模型提示式方法，可以让模型给出解释，但在课程实验里成本和复现性不如 BERT 微调稳定。因此我们采用 TF-IDF 作为基线，BERT 微调作为主模型。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这里是数据集统计。训练集有两万条，其中 label 0 和 label 1 各一万条；验证集三千条，正负各一千五百条；测试集三千条，但没有公开标签。摘要平均长度大约 276 到 279 个中文字符，关键词平均数量约 3.6 个。由于训练集和验证集完全均衡，Accuracy 不会被类别不平衡严重干扰；同时我们也报告 Macro Precision、Macro Recall 和 Macro-F1，使结果更完整。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预处理部分主要面向传统特征模型。我们首先读取</a:t>
            </a:r>
            <a:r>
              <a:rPr dirty="0"/>
              <a:t> </a:t>
            </a:r>
            <a:r>
              <a:rPr dirty="0" err="1"/>
              <a:t>train、dev</a:t>
            </a:r>
            <a:r>
              <a:rPr dirty="0"/>
              <a:t> 和 test </a:t>
            </a:r>
            <a:r>
              <a:rPr dirty="0" err="1"/>
              <a:t>三个</a:t>
            </a:r>
            <a:r>
              <a:rPr dirty="0"/>
              <a:t> JSON </a:t>
            </a:r>
            <a:r>
              <a:rPr dirty="0" err="1"/>
              <a:t>文件，把摘要和关键词拼接为文本，然后用</a:t>
            </a:r>
            <a:r>
              <a:rPr dirty="0"/>
              <a:t> </a:t>
            </a:r>
            <a:r>
              <a:rPr dirty="0" err="1"/>
              <a:t>jieba</a:t>
            </a:r>
            <a:r>
              <a:rPr dirty="0"/>
              <a:t> </a:t>
            </a:r>
            <a:r>
              <a:rPr dirty="0" err="1"/>
              <a:t>做中文分词，再过滤自定义停用词。需要强调的是，BERT</a:t>
            </a:r>
            <a:r>
              <a:rPr dirty="0"/>
              <a:t> </a:t>
            </a:r>
            <a:r>
              <a:rPr dirty="0" err="1"/>
              <a:t>本身使用自己的</a:t>
            </a:r>
            <a:r>
              <a:rPr dirty="0"/>
              <a:t> </a:t>
            </a:r>
            <a:r>
              <a:rPr dirty="0" err="1"/>
              <a:t>tokenizer，所以分词去停用词主要用于</a:t>
            </a:r>
            <a:r>
              <a:rPr dirty="0"/>
              <a:t> TF-IDF </a:t>
            </a:r>
            <a:r>
              <a:rPr dirty="0" err="1"/>
              <a:t>特征，不直接替换</a:t>
            </a:r>
            <a:r>
              <a:rPr dirty="0"/>
              <a:t> BERT </a:t>
            </a:r>
            <a:r>
              <a:rPr dirty="0" err="1"/>
              <a:t>的原始输入。全量二万六千条样本分词前共有约</a:t>
            </a:r>
            <a:r>
              <a:rPr dirty="0"/>
              <a:t> 419.5 </a:t>
            </a:r>
            <a:r>
              <a:rPr dirty="0" err="1"/>
              <a:t>万个</a:t>
            </a:r>
            <a:r>
              <a:rPr dirty="0"/>
              <a:t> </a:t>
            </a:r>
            <a:r>
              <a:rPr dirty="0" err="1"/>
              <a:t>token，去停用词后保留约</a:t>
            </a:r>
            <a:r>
              <a:rPr dirty="0"/>
              <a:t> 297.3 </a:t>
            </a:r>
            <a:r>
              <a:rPr dirty="0" err="1"/>
              <a:t>万个</a:t>
            </a:r>
            <a:r>
              <a:rPr dirty="0"/>
              <a:t> </a:t>
            </a:r>
            <a:r>
              <a:rPr dirty="0" err="1"/>
              <a:t>token，整体过滤比例为</a:t>
            </a:r>
            <a:r>
              <a:rPr dirty="0"/>
              <a:t> 29.12%。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特征提取阶段，我们分别构建词级和字符级 N-Gram TF-IDF。词级特征使用分词和去停用词后的文本，N-Gram 范围为 1 到 2；字符级特征直接在原始拼接文本上提取 1 到 3 gram。二者的训练矩阵维度都是 20000 乘 200000。可以看到字符级特征的非零元素更多，密度也更高，说明它捕获了更多局部片段。后续传统基线采用字符级 N-Gram TF-IDF 加 Logistic Regression。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模型部分分为基线和主模型。基线模型是字符级 N-Gram TF-IDF 加 Logistic Regression，它的优势是快、简单、容易解释，可以看作词面统计方法在本任务上的参照。主模型是 BERT-base-Chinese 微调。输入格式为 [CLS] 摘要 [SEP] 关键词 [SEP]，BERT 编码后取 [CLS] 位置的向量代表整条摘要和关键词组合，再接一个线性分类层输出 0 或 1。两者的核心差异是：基线主要看词面共现，而 BERT 能让摘要和关键词在上下文中交互建模。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这一页解释 BERT 是怎么真正学习 CSL 任务的。BERT 不是不训练直接判断，而是先把摘要和关键词交给 tokenizer，转换成 input_ids、attention_mask 和 token_type_ids。然后 BERT Encoder 让每个 token 通过多层 Transformer 和其他 token 交互。最后取 [CLS] 位置的向量作为整条输入的表示，送入分类层。训练时分类层会输出两个类别的概率，与真实 label 计算交叉熵损失，再通过反向传播更新分类层和 BERT 参数。我们的配置是训练 3 个 epoch，batch size 32，最大长度 256，学习率 2e-5。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实验结果显示，TF-IDF 加 Logistic Regression 在验证集上的 Accuracy 为 0.5503，Macro-F1 为 0.5412，只比随机猜测略好。这说明单纯的词面统计很难区分 CSL 中的干扰关键词。BERT-base-Chinese 微调后 Accuracy 达到 0.8080，Macro-F1 达到 0.8077，相比基线提升约 0.2665。提升的主要原因是 BERT 可以在同一输入中同时编码摘要和关键词，让二者通过上下文语义进行匹配，而不是只看某些词是否共同出现。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混淆矩阵可以更具体地看模型错误。真实为 0 且预测为 0 的样本有 1155 条，真实为 1 且预测为 1 的样本有 1269 条，所以总共正确 2424 条。错误共有 576 条，其中 False Positive 是 345 条，也就是伪关键词被误判为真实关键词；False Negative 是 231 条，也就是真实关键词被误判为伪关键词。模型对正例的识别相对更好，但它仍然容易被主题相近、表面上很合理的伪关键词干扰。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错误分析分为两类。Type I，也就是 False Positive，有 345 条，含义是真实标签为 0，但模型预测为 1。这类错误说明伪关键词并不一定离题，它们经常和摘要主题非常接近，因此模型容易把“主题相关”误当成“真实关键词”。Type II，也就是 False Negative，有 231 条，含义是真实标签为 1，但模型预测为 0。这类错误常出现在关键词专业、抽象，或者摘要中没有明显词面对应的情况下。通过这两类错误可以看出，CSL 的难点不是识别无关词，而是识别细粒度的一致性。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最后总结一下。本作业围绕 CLUE-CSL 任务完成了完整实验流程：首先做数据统计和样本分析，然后进行分词、去停用词和 TF-IDF 特征提取，接着训练传统基线和 BERT 微调模型，最后基于混淆矩阵和具体样例分析 Type I 与 Type II 错误。结果表明，BERT 在该任务上明显优于传统词面统计方法，但仍然会在高相关伪关键词和抽象真实关键词上犯错。这里的小组分工是模板，提交前需要把成员 A、B、C、D 替换成真实姓名。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这一页列出主要参考资料。任务定义和官方基线来自 CLUEbenchmark 的 CSL 任务说明；BERT 的方法基础来自 Devlin 等人的 BERT 论文；中文预训练模型相关进展参考 Chinese BERT whole word masking 和 MacBERT 相关论文。PPT 中实验部分的所有数值来自本项目已经生成的指标文件、错误分析文件和图表文件，没有人为编造训练耗时或结果。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5967010B-6AAC-4B63-A7F0-0474439A3AB5}"/>
              </a:ext>
            </a:extLst>
          </p:cNvPr>
          <p:cNvSpPr>
            <a:spLocks noGrp="1"/>
          </p:cNvSpPr>
          <p:nvPr/>
        </p:nvSpPr>
        <p:spPr>
          <a:xfrm>
            <a:off x="0" y="0"/>
            <a:ext cx="12192000" cy="6858000"/>
          </a:xfrm>
          <a:prstGeom prst="rect">
            <a:avLst/>
          </a:prstGeom>
          <a:solidFill>
            <a:srgbClr val="F8FAFC"/>
          </a:solidFill>
          <a:ln w="0">
            <a:noFill/>
            <a:prstDash val="solid"/>
          </a:ln>
        </p:spPr>
        <p:txBody>
          <a:bodyPr/>
          <a:lstStyle/>
          <a:p>
            <a:endParaRPr lang="zh-CN" altLang="en-US"/>
          </a:p>
        </p:txBody>
      </p:sp>
      <p:sp>
        <p:nvSpPr>
          <p:cNvPr id="2" name="矩形 1">
            <a:extLst>
              <a:ext uri="{FF2B5EF4-FFF2-40B4-BE49-F238E27FC236}">
                <a16:creationId xmlns:a16="http://schemas.microsoft.com/office/drawing/2014/main" id="{0CFDD9CD-B416-4CA6-95BB-EA03E760EF5F}"/>
              </a:ext>
            </a:extLst>
          </p:cNvPr>
          <p:cNvSpPr>
            <a:spLocks noGrp="1"/>
          </p:cNvSpPr>
          <p:nvPr/>
        </p:nvSpPr>
        <p:spPr>
          <a:xfrm>
            <a:off x="0" y="0"/>
            <a:ext cx="12192000" cy="114300"/>
          </a:xfrm>
          <a:prstGeom prst="rect">
            <a:avLst/>
          </a:prstGeom>
          <a:solidFill>
            <a:srgbClr val="1E3A8A"/>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0DC159E5-62E8-40E9-8E73-1FB6044A9785}"/>
              </a:ext>
            </a:extLst>
          </p:cNvPr>
          <p:cNvSpPr>
            <a:spLocks noGrp="1"/>
          </p:cNvSpPr>
          <p:nvPr/>
        </p:nvSpPr>
        <p:spPr>
          <a:xfrm>
            <a:off x="0" y="114300"/>
            <a:ext cx="12192000" cy="66675"/>
          </a:xfrm>
          <a:prstGeom prst="rect">
            <a:avLst/>
          </a:prstGeom>
          <a:solidFill>
            <a:srgbClr val="0891B2"/>
          </a:solidFill>
          <a:ln w="0">
            <a:noFill/>
            <a:prstDash val="solid"/>
          </a:ln>
        </p:spPr>
        <p:txBody>
          <a:bodyPr/>
          <a:lstStyle/>
          <a:p>
            <a:endParaRPr lang="zh-CN" altLang="en-US"/>
          </a:p>
        </p:txBody>
      </p:sp>
      <p:sp>
        <p:nvSpPr>
          <p:cNvPr id="4" name="矩形 3">
            <a:extLst>
              <a:ext uri="{FF2B5EF4-FFF2-40B4-BE49-F238E27FC236}">
                <a16:creationId xmlns:a16="http://schemas.microsoft.com/office/drawing/2014/main" id="{F0B03E0A-BE5E-472D-A37E-15388C5DBC8C}"/>
              </a:ext>
            </a:extLst>
          </p:cNvPr>
          <p:cNvSpPr>
            <a:spLocks noGrp="1"/>
          </p:cNvSpPr>
          <p:nvPr/>
        </p:nvSpPr>
        <p:spPr>
          <a:xfrm>
            <a:off x="685800" y="1257300"/>
            <a:ext cx="8572500" cy="1524000"/>
          </a:xfrm>
          <a:prstGeom prst="rect">
            <a:avLst/>
          </a:prstGeom>
          <a:noFill/>
          <a:ln w="0">
            <a:noFill/>
            <a:prstDash val="solid"/>
          </a:ln>
        </p:spPr>
        <p:txBody>
          <a:bodyPr/>
          <a:lstStyle/>
          <a:p>
            <a:pPr algn="l">
              <a:defRPr sz="3900" b="1" i="0">
                <a:solidFill>
                  <a:srgbClr val="0F172A"/>
                </a:solidFill>
              </a:defRPr>
            </a:pPr>
            <a:r>
              <a:rPr sz="3900" b="1" i="0">
                <a:solidFill>
                  <a:srgbClr val="0F172A"/>
                </a:solidFill>
              </a:rPr>
              <a:t>基于预训练语言模型的</a:t>
            </a:r>
          </a:p>
          <a:p>
            <a:pPr algn="l">
              <a:defRPr sz="3900" b="1" i="0">
                <a:solidFill>
                  <a:srgbClr val="0F172A"/>
                </a:solidFill>
              </a:defRPr>
            </a:pPr>
            <a:r>
              <a:rPr sz="3900" b="1" i="0">
                <a:solidFill>
                  <a:srgbClr val="0F172A"/>
                </a:solidFill>
              </a:rPr>
              <a:t>中文论文关键词识别研究</a:t>
            </a:r>
          </a:p>
        </p:txBody>
      </p:sp>
      <p:sp>
        <p:nvSpPr>
          <p:cNvPr id="5" name="矩形 4">
            <a:extLst>
              <a:ext uri="{FF2B5EF4-FFF2-40B4-BE49-F238E27FC236}">
                <a16:creationId xmlns:a16="http://schemas.microsoft.com/office/drawing/2014/main" id="{122472B0-C1B6-4308-AA24-B9315F4225F0}"/>
              </a:ext>
            </a:extLst>
          </p:cNvPr>
          <p:cNvSpPr>
            <a:spLocks noGrp="1"/>
          </p:cNvSpPr>
          <p:nvPr/>
        </p:nvSpPr>
        <p:spPr>
          <a:xfrm>
            <a:off x="723900" y="3028950"/>
            <a:ext cx="8953500" cy="323850"/>
          </a:xfrm>
          <a:prstGeom prst="rect">
            <a:avLst/>
          </a:prstGeom>
          <a:noFill/>
          <a:ln w="0">
            <a:noFill/>
            <a:prstDash val="solid"/>
          </a:ln>
        </p:spPr>
        <p:txBody>
          <a:bodyPr/>
          <a:lstStyle/>
          <a:p>
            <a:pPr algn="l">
              <a:defRPr sz="1725" b="0" i="0">
                <a:solidFill>
                  <a:srgbClr val="475569"/>
                </a:solidFill>
              </a:defRPr>
            </a:pPr>
            <a:r>
              <a:rPr sz="1725" b="0" i="0">
                <a:solidFill>
                  <a:srgbClr val="475569"/>
                </a:solidFill>
              </a:rPr>
              <a:t>CLUE-CSL 任务 | 数据预处理、N-Gram 特征、BERT 微调与错误分析</a:t>
            </a:r>
          </a:p>
        </p:txBody>
      </p:sp>
      <p:sp>
        <p:nvSpPr>
          <p:cNvPr id="6" name="矩形: 圆角 5">
            <a:extLst>
              <a:ext uri="{FF2B5EF4-FFF2-40B4-BE49-F238E27FC236}">
                <a16:creationId xmlns:a16="http://schemas.microsoft.com/office/drawing/2014/main" id="{77716AB9-C71F-432A-B360-60DF1D94292C}"/>
              </a:ext>
            </a:extLst>
          </p:cNvPr>
          <p:cNvSpPr>
            <a:spLocks noGrp="1"/>
          </p:cNvSpPr>
          <p:nvPr/>
        </p:nvSpPr>
        <p:spPr>
          <a:xfrm>
            <a:off x="723900" y="4057650"/>
            <a:ext cx="2428875"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7" name="矩形 6">
            <a:extLst>
              <a:ext uri="{FF2B5EF4-FFF2-40B4-BE49-F238E27FC236}">
                <a16:creationId xmlns:a16="http://schemas.microsoft.com/office/drawing/2014/main" id="{1C16EEC5-F831-4DEE-A6F8-3E097704A3FE}"/>
              </a:ext>
            </a:extLst>
          </p:cNvPr>
          <p:cNvSpPr>
            <a:spLocks noGrp="1"/>
          </p:cNvSpPr>
          <p:nvPr/>
        </p:nvSpPr>
        <p:spPr>
          <a:xfrm>
            <a:off x="723900" y="4057650"/>
            <a:ext cx="57150" cy="1123950"/>
          </a:xfrm>
          <a:prstGeom prst="rect">
            <a:avLst/>
          </a:prstGeom>
          <a:solidFill>
            <a:srgbClr val="2563EB"/>
          </a:solidFill>
          <a:ln w="0">
            <a:noFill/>
            <a:prstDash val="solid"/>
          </a:ln>
        </p:spPr>
        <p:txBody>
          <a:bodyPr/>
          <a:lstStyle/>
          <a:p>
            <a:endParaRPr lang="zh-CN" altLang="en-US"/>
          </a:p>
        </p:txBody>
      </p:sp>
      <p:sp>
        <p:nvSpPr>
          <p:cNvPr id="8" name="矩形 7">
            <a:extLst>
              <a:ext uri="{FF2B5EF4-FFF2-40B4-BE49-F238E27FC236}">
                <a16:creationId xmlns:a16="http://schemas.microsoft.com/office/drawing/2014/main" id="{265FC5E7-4968-4D83-B320-10C59222C977}"/>
              </a:ext>
            </a:extLst>
          </p:cNvPr>
          <p:cNvSpPr>
            <a:spLocks noGrp="1"/>
          </p:cNvSpPr>
          <p:nvPr/>
        </p:nvSpPr>
        <p:spPr>
          <a:xfrm>
            <a:off x="952500" y="4229100"/>
            <a:ext cx="1971675" cy="428625"/>
          </a:xfrm>
          <a:prstGeom prst="rect">
            <a:avLst/>
          </a:prstGeom>
          <a:noFill/>
          <a:ln w="0">
            <a:noFill/>
            <a:prstDash val="solid"/>
          </a:ln>
        </p:spPr>
        <p:txBody>
          <a:bodyPr/>
          <a:lstStyle/>
          <a:p>
            <a:pPr algn="l">
              <a:defRPr sz="2550" b="1" i="0">
                <a:solidFill>
                  <a:srgbClr val="2563EB"/>
                </a:solidFill>
              </a:defRPr>
            </a:pPr>
            <a:r>
              <a:rPr sz="2550" b="1" i="0">
                <a:solidFill>
                  <a:srgbClr val="2563EB"/>
                </a:solidFill>
              </a:rPr>
              <a:t>0.8077</a:t>
            </a:r>
          </a:p>
        </p:txBody>
      </p:sp>
      <p:sp>
        <p:nvSpPr>
          <p:cNvPr id="9" name="矩形 8">
            <a:extLst>
              <a:ext uri="{FF2B5EF4-FFF2-40B4-BE49-F238E27FC236}">
                <a16:creationId xmlns:a16="http://schemas.microsoft.com/office/drawing/2014/main" id="{6C6AD854-A028-463B-91C2-0524203C8B20}"/>
              </a:ext>
            </a:extLst>
          </p:cNvPr>
          <p:cNvSpPr>
            <a:spLocks noGrp="1"/>
          </p:cNvSpPr>
          <p:nvPr/>
        </p:nvSpPr>
        <p:spPr>
          <a:xfrm>
            <a:off x="952500" y="4686300"/>
            <a:ext cx="1971675"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验证集 Macro-F1</a:t>
            </a:r>
          </a:p>
        </p:txBody>
      </p:sp>
      <p:sp>
        <p:nvSpPr>
          <p:cNvPr id="10" name="矩形: 圆角 9">
            <a:extLst>
              <a:ext uri="{FF2B5EF4-FFF2-40B4-BE49-F238E27FC236}">
                <a16:creationId xmlns:a16="http://schemas.microsoft.com/office/drawing/2014/main" id="{E8F08E89-ADC3-4F34-A0AC-5C73298599F4}"/>
              </a:ext>
            </a:extLst>
          </p:cNvPr>
          <p:cNvSpPr>
            <a:spLocks noGrp="1"/>
          </p:cNvSpPr>
          <p:nvPr/>
        </p:nvSpPr>
        <p:spPr>
          <a:xfrm>
            <a:off x="3429000" y="4057650"/>
            <a:ext cx="2428875"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11" name="矩形 10">
            <a:extLst>
              <a:ext uri="{FF2B5EF4-FFF2-40B4-BE49-F238E27FC236}">
                <a16:creationId xmlns:a16="http://schemas.microsoft.com/office/drawing/2014/main" id="{521A6430-57E2-4A23-A17B-E7A3D7D3D1EF}"/>
              </a:ext>
            </a:extLst>
          </p:cNvPr>
          <p:cNvSpPr>
            <a:spLocks noGrp="1"/>
          </p:cNvSpPr>
          <p:nvPr/>
        </p:nvSpPr>
        <p:spPr>
          <a:xfrm>
            <a:off x="3429000" y="4057650"/>
            <a:ext cx="57150" cy="1123950"/>
          </a:xfrm>
          <a:prstGeom prst="rect">
            <a:avLst/>
          </a:prstGeom>
          <a:solidFill>
            <a:srgbClr val="0F766E"/>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8625B110-4E94-43F6-90C9-433B7DBBF5D4}"/>
              </a:ext>
            </a:extLst>
          </p:cNvPr>
          <p:cNvSpPr>
            <a:spLocks noGrp="1"/>
          </p:cNvSpPr>
          <p:nvPr/>
        </p:nvSpPr>
        <p:spPr>
          <a:xfrm>
            <a:off x="3657600" y="4229100"/>
            <a:ext cx="1971675" cy="428625"/>
          </a:xfrm>
          <a:prstGeom prst="rect">
            <a:avLst/>
          </a:prstGeom>
          <a:noFill/>
          <a:ln w="0">
            <a:noFill/>
            <a:prstDash val="solid"/>
          </a:ln>
        </p:spPr>
        <p:txBody>
          <a:bodyPr/>
          <a:lstStyle/>
          <a:p>
            <a:pPr algn="l">
              <a:defRPr sz="2550" b="1" i="0">
                <a:solidFill>
                  <a:srgbClr val="0F766E"/>
                </a:solidFill>
              </a:defRPr>
            </a:pPr>
            <a:r>
              <a:rPr sz="2550" b="1" i="0">
                <a:solidFill>
                  <a:srgbClr val="0F766E"/>
                </a:solidFill>
              </a:rPr>
              <a:t>20,000</a:t>
            </a:r>
          </a:p>
        </p:txBody>
      </p:sp>
      <p:sp>
        <p:nvSpPr>
          <p:cNvPr id="13" name="矩形 12">
            <a:extLst>
              <a:ext uri="{FF2B5EF4-FFF2-40B4-BE49-F238E27FC236}">
                <a16:creationId xmlns:a16="http://schemas.microsoft.com/office/drawing/2014/main" id="{63DA8E78-A519-4D3D-9652-B57C505BE81D}"/>
              </a:ext>
            </a:extLst>
          </p:cNvPr>
          <p:cNvSpPr>
            <a:spLocks noGrp="1"/>
          </p:cNvSpPr>
          <p:nvPr/>
        </p:nvSpPr>
        <p:spPr>
          <a:xfrm>
            <a:off x="3657600" y="4686300"/>
            <a:ext cx="1971675"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训练样本</a:t>
            </a:r>
          </a:p>
        </p:txBody>
      </p:sp>
      <p:sp>
        <p:nvSpPr>
          <p:cNvPr id="14" name="矩形: 圆角 13">
            <a:extLst>
              <a:ext uri="{FF2B5EF4-FFF2-40B4-BE49-F238E27FC236}">
                <a16:creationId xmlns:a16="http://schemas.microsoft.com/office/drawing/2014/main" id="{1C74039A-8038-465E-AF7F-F747E8CF307F}"/>
              </a:ext>
            </a:extLst>
          </p:cNvPr>
          <p:cNvSpPr>
            <a:spLocks noGrp="1"/>
          </p:cNvSpPr>
          <p:nvPr/>
        </p:nvSpPr>
        <p:spPr>
          <a:xfrm>
            <a:off x="6134100" y="4057650"/>
            <a:ext cx="2428875"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15" name="矩形 14">
            <a:extLst>
              <a:ext uri="{FF2B5EF4-FFF2-40B4-BE49-F238E27FC236}">
                <a16:creationId xmlns:a16="http://schemas.microsoft.com/office/drawing/2014/main" id="{F73402D1-78CD-4A4E-9103-53FC35980008}"/>
              </a:ext>
            </a:extLst>
          </p:cNvPr>
          <p:cNvSpPr>
            <a:spLocks noGrp="1"/>
          </p:cNvSpPr>
          <p:nvPr/>
        </p:nvSpPr>
        <p:spPr>
          <a:xfrm>
            <a:off x="6134100" y="4057650"/>
            <a:ext cx="57150" cy="1123950"/>
          </a:xfrm>
          <a:prstGeom prst="rect">
            <a:avLst/>
          </a:prstGeom>
          <a:solidFill>
            <a:srgbClr val="EA580C"/>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EEEAB9ED-5B74-46E2-83A2-B8607175CEB1}"/>
              </a:ext>
            </a:extLst>
          </p:cNvPr>
          <p:cNvSpPr>
            <a:spLocks noGrp="1"/>
          </p:cNvSpPr>
          <p:nvPr/>
        </p:nvSpPr>
        <p:spPr>
          <a:xfrm>
            <a:off x="6362700" y="4229100"/>
            <a:ext cx="1971675" cy="428625"/>
          </a:xfrm>
          <a:prstGeom prst="rect">
            <a:avLst/>
          </a:prstGeom>
          <a:noFill/>
          <a:ln w="0">
            <a:noFill/>
            <a:prstDash val="solid"/>
          </a:ln>
        </p:spPr>
        <p:txBody>
          <a:bodyPr/>
          <a:lstStyle/>
          <a:p>
            <a:pPr algn="l">
              <a:defRPr sz="2550" b="1" i="0">
                <a:solidFill>
                  <a:srgbClr val="EA580C"/>
                </a:solidFill>
              </a:defRPr>
            </a:pPr>
            <a:r>
              <a:rPr sz="2550" b="1" i="0">
                <a:solidFill>
                  <a:srgbClr val="EA580C"/>
                </a:solidFill>
              </a:rPr>
              <a:t>二分类</a:t>
            </a:r>
          </a:p>
        </p:txBody>
      </p:sp>
      <p:sp>
        <p:nvSpPr>
          <p:cNvPr id="17" name="矩形 16">
            <a:extLst>
              <a:ext uri="{FF2B5EF4-FFF2-40B4-BE49-F238E27FC236}">
                <a16:creationId xmlns:a16="http://schemas.microsoft.com/office/drawing/2014/main" id="{1189474B-179A-4894-8568-F241E5EBFE55}"/>
              </a:ext>
            </a:extLst>
          </p:cNvPr>
          <p:cNvSpPr>
            <a:spLocks noGrp="1"/>
          </p:cNvSpPr>
          <p:nvPr/>
        </p:nvSpPr>
        <p:spPr>
          <a:xfrm>
            <a:off x="6362700" y="4686300"/>
            <a:ext cx="1971675"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任务类型</a:t>
            </a:r>
          </a:p>
        </p:txBody>
      </p:sp>
      <p:sp>
        <p:nvSpPr>
          <p:cNvPr id="18" name="矩形 17">
            <a:extLst>
              <a:ext uri="{FF2B5EF4-FFF2-40B4-BE49-F238E27FC236}">
                <a16:creationId xmlns:a16="http://schemas.microsoft.com/office/drawing/2014/main" id="{786DEDEA-E715-4BE8-9C74-A9D134C3657A}"/>
              </a:ext>
            </a:extLst>
          </p:cNvPr>
          <p:cNvSpPr>
            <a:spLocks noGrp="1"/>
          </p:cNvSpPr>
          <p:nvPr/>
        </p:nvSpPr>
        <p:spPr>
          <a:xfrm>
            <a:off x="723900" y="5905500"/>
            <a:ext cx="7810500" cy="285750"/>
          </a:xfrm>
          <a:prstGeom prst="rect">
            <a:avLst/>
          </a:prstGeom>
          <a:noFill/>
          <a:ln w="0">
            <a:noFill/>
            <a:prstDash val="solid"/>
          </a:ln>
        </p:spPr>
        <p:txBody>
          <a:bodyPr/>
          <a:lstStyle/>
          <a:p>
            <a:pPr algn="l">
              <a:defRPr sz="1350" b="0" i="0">
                <a:solidFill>
                  <a:srgbClr val="334155"/>
                </a:solidFill>
              </a:defRPr>
            </a:pPr>
            <a:r>
              <a:rPr sz="1350" b="0" i="0" dirty="0" err="1">
                <a:solidFill>
                  <a:srgbClr val="334155"/>
                </a:solidFill>
              </a:rPr>
              <a:t>小组成员</a:t>
            </a:r>
            <a:r>
              <a:rPr sz="1350" b="0" i="0" dirty="0">
                <a:solidFill>
                  <a:srgbClr val="334155"/>
                </a:solidFill>
              </a:rPr>
              <a:t>：</a:t>
            </a:r>
            <a:r>
              <a:rPr lang="zh-CN" altLang="en-US" sz="1350" b="0" i="0" dirty="0">
                <a:solidFill>
                  <a:srgbClr val="334155"/>
                </a:solidFill>
              </a:rPr>
              <a:t>吕继明 陈明军</a:t>
            </a:r>
            <a:endParaRPr sz="1350" b="0" i="0" dirty="0">
              <a:solidFill>
                <a:srgbClr val="334155"/>
              </a:solidFill>
            </a:endParaRPr>
          </a:p>
        </p:txBody>
      </p:sp>
      <p:sp>
        <p:nvSpPr>
          <p:cNvPr id="19" name="矩形 18">
            <a:extLst>
              <a:ext uri="{FF2B5EF4-FFF2-40B4-BE49-F238E27FC236}">
                <a16:creationId xmlns:a16="http://schemas.microsoft.com/office/drawing/2014/main" id="{618C0C04-765D-4293-9583-A586D9A5BDBC}"/>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20" name="矩形 19">
            <a:extLst>
              <a:ext uri="{FF2B5EF4-FFF2-40B4-BE49-F238E27FC236}">
                <a16:creationId xmlns:a16="http://schemas.microsoft.com/office/drawing/2014/main" id="{B1EABE2E-CBB3-4699-BC3C-28976036E7A8}"/>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01</a:t>
            </a:r>
          </a:p>
        </p:txBody>
      </p:sp>
    </p:spTree>
    <p:extLst>
      <p:ext uri="{BB962C8B-B14F-4D97-AF65-F5344CB8AC3E}">
        <p14:creationId xmlns:p14="http://schemas.microsoft.com/office/powerpoint/2010/main" val="1010600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BB118F62-8629-48B9-92F2-15A9AEE3E029}"/>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汇报结构</a:t>
            </a:r>
          </a:p>
        </p:txBody>
      </p:sp>
      <p:sp>
        <p:nvSpPr>
          <p:cNvPr id="2" name="矩形 1">
            <a:extLst>
              <a:ext uri="{FF2B5EF4-FFF2-40B4-BE49-F238E27FC236}">
                <a16:creationId xmlns:a16="http://schemas.microsoft.com/office/drawing/2014/main" id="{65B5CA05-5C90-4CD5-A072-FC937C0ED326}"/>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7FE38BDB-6D7C-46C6-BBED-9C304F880BB0}"/>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从任务背景到实验结果，再回到模型错误和任务挑战</a:t>
            </a:r>
          </a:p>
        </p:txBody>
      </p:sp>
      <p:sp>
        <p:nvSpPr>
          <p:cNvPr id="4" name="矩形: 圆角 3">
            <a:extLst>
              <a:ext uri="{FF2B5EF4-FFF2-40B4-BE49-F238E27FC236}">
                <a16:creationId xmlns:a16="http://schemas.microsoft.com/office/drawing/2014/main" id="{0F7AC215-D2EF-416B-B37B-B41809E19DC8}"/>
              </a:ext>
            </a:extLst>
          </p:cNvPr>
          <p:cNvSpPr>
            <a:spLocks noGrp="1"/>
          </p:cNvSpPr>
          <p:nvPr/>
        </p:nvSpPr>
        <p:spPr>
          <a:xfrm>
            <a:off x="781050" y="1619250"/>
            <a:ext cx="3143250" cy="1066800"/>
          </a:xfrm>
          <a:prstGeom prst="roundRect">
            <a:avLst>
              <a:gd name="adj" fmla="val 10714"/>
            </a:avLst>
          </a:prstGeom>
          <a:solidFill>
            <a:srgbClr val="FFFFFF"/>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B1611CD7-B234-4275-BE55-C1795BDEE0A0}"/>
              </a:ext>
            </a:extLst>
          </p:cNvPr>
          <p:cNvSpPr>
            <a:spLocks noGrp="1"/>
          </p:cNvSpPr>
          <p:nvPr/>
        </p:nvSpPr>
        <p:spPr>
          <a:xfrm>
            <a:off x="781050" y="1619250"/>
            <a:ext cx="3143250" cy="76200"/>
          </a:xfrm>
          <a:prstGeom prst="rect">
            <a:avLst/>
          </a:prstGeom>
          <a:solidFill>
            <a:srgbClr val="2563EB"/>
          </a:solidFill>
          <a:ln w="0">
            <a:noFill/>
            <a:prstDash val="solid"/>
          </a:ln>
        </p:spPr>
        <p:txBody>
          <a:bodyPr/>
          <a:lstStyle/>
          <a:p>
            <a:endParaRPr lang="zh-CN" altLang="en-US"/>
          </a:p>
        </p:txBody>
      </p:sp>
      <p:sp>
        <p:nvSpPr>
          <p:cNvPr id="6" name="矩形 5">
            <a:extLst>
              <a:ext uri="{FF2B5EF4-FFF2-40B4-BE49-F238E27FC236}">
                <a16:creationId xmlns:a16="http://schemas.microsoft.com/office/drawing/2014/main" id="{83A8BFD5-BC65-4E68-B52B-B8327120FCD3}"/>
              </a:ext>
            </a:extLst>
          </p:cNvPr>
          <p:cNvSpPr>
            <a:spLocks noGrp="1"/>
          </p:cNvSpPr>
          <p:nvPr/>
        </p:nvSpPr>
        <p:spPr>
          <a:xfrm>
            <a:off x="952500" y="1828800"/>
            <a:ext cx="361950" cy="381000"/>
          </a:xfrm>
          <a:prstGeom prst="rect">
            <a:avLst/>
          </a:prstGeom>
          <a:noFill/>
          <a:ln w="0">
            <a:noFill/>
            <a:prstDash val="solid"/>
          </a:ln>
        </p:spPr>
        <p:txBody>
          <a:bodyPr/>
          <a:lstStyle/>
          <a:p>
            <a:pPr algn="l">
              <a:defRPr sz="2100" b="1" i="0">
                <a:solidFill>
                  <a:srgbClr val="2563EB"/>
                </a:solidFill>
              </a:defRPr>
            </a:pPr>
            <a:r>
              <a:rPr sz="2100" b="1" i="0">
                <a:solidFill>
                  <a:srgbClr val="2563EB"/>
                </a:solidFill>
              </a:rPr>
              <a:t>1</a:t>
            </a:r>
          </a:p>
        </p:txBody>
      </p:sp>
      <p:sp>
        <p:nvSpPr>
          <p:cNvPr id="7" name="矩形 6">
            <a:extLst>
              <a:ext uri="{FF2B5EF4-FFF2-40B4-BE49-F238E27FC236}">
                <a16:creationId xmlns:a16="http://schemas.microsoft.com/office/drawing/2014/main" id="{80D6C4F7-8B00-47C9-A12B-E44CEA6B52C8}"/>
              </a:ext>
            </a:extLst>
          </p:cNvPr>
          <p:cNvSpPr>
            <a:spLocks noGrp="1"/>
          </p:cNvSpPr>
          <p:nvPr/>
        </p:nvSpPr>
        <p:spPr>
          <a:xfrm>
            <a:off x="1409700" y="1809750"/>
            <a:ext cx="2362200" cy="285750"/>
          </a:xfrm>
          <a:prstGeom prst="rect">
            <a:avLst/>
          </a:prstGeom>
          <a:noFill/>
          <a:ln w="0">
            <a:noFill/>
            <a:prstDash val="solid"/>
          </a:ln>
        </p:spPr>
        <p:txBody>
          <a:bodyPr/>
          <a:lstStyle/>
          <a:p>
            <a:pPr algn="l">
              <a:defRPr sz="1650" b="1" i="0">
                <a:solidFill>
                  <a:srgbClr val="0F172A"/>
                </a:solidFill>
              </a:defRPr>
            </a:pPr>
            <a:r>
              <a:rPr sz="1650" b="1" i="0">
                <a:solidFill>
                  <a:srgbClr val="0F172A"/>
                </a:solidFill>
              </a:rPr>
              <a:t>选题背景</a:t>
            </a:r>
          </a:p>
        </p:txBody>
      </p:sp>
      <p:sp>
        <p:nvSpPr>
          <p:cNvPr id="8" name="矩形 7">
            <a:extLst>
              <a:ext uri="{FF2B5EF4-FFF2-40B4-BE49-F238E27FC236}">
                <a16:creationId xmlns:a16="http://schemas.microsoft.com/office/drawing/2014/main" id="{14816409-DE81-487C-964A-B8457DB36383}"/>
              </a:ext>
            </a:extLst>
          </p:cNvPr>
          <p:cNvSpPr>
            <a:spLocks noGrp="1"/>
          </p:cNvSpPr>
          <p:nvPr/>
        </p:nvSpPr>
        <p:spPr>
          <a:xfrm>
            <a:off x="1409700" y="2152650"/>
            <a:ext cx="2343150" cy="381000"/>
          </a:xfrm>
          <a:prstGeom prst="rect">
            <a:avLst/>
          </a:prstGeom>
          <a:noFill/>
          <a:ln w="0">
            <a:noFill/>
            <a:prstDash val="solid"/>
          </a:ln>
        </p:spPr>
        <p:txBody>
          <a:bodyPr/>
          <a:lstStyle/>
          <a:p>
            <a:pPr algn="l">
              <a:defRPr sz="1275" b="0" i="0">
                <a:solidFill>
                  <a:srgbClr val="475569"/>
                </a:solidFill>
              </a:defRPr>
            </a:pPr>
            <a:r>
              <a:rPr sz="1275" b="0" i="0">
                <a:solidFill>
                  <a:srgbClr val="475569"/>
                </a:solidFill>
              </a:rPr>
              <a:t>为什么用论文摘要判断关键词真伪</a:t>
            </a:r>
          </a:p>
        </p:txBody>
      </p:sp>
      <p:sp>
        <p:nvSpPr>
          <p:cNvPr id="9" name="矩形: 圆角 8">
            <a:extLst>
              <a:ext uri="{FF2B5EF4-FFF2-40B4-BE49-F238E27FC236}">
                <a16:creationId xmlns:a16="http://schemas.microsoft.com/office/drawing/2014/main" id="{450542D0-A173-40BA-9C88-DF5890084785}"/>
              </a:ext>
            </a:extLst>
          </p:cNvPr>
          <p:cNvSpPr>
            <a:spLocks noGrp="1"/>
          </p:cNvSpPr>
          <p:nvPr/>
        </p:nvSpPr>
        <p:spPr>
          <a:xfrm>
            <a:off x="4362450" y="1619250"/>
            <a:ext cx="3143250" cy="1066800"/>
          </a:xfrm>
          <a:prstGeom prst="roundRect">
            <a:avLst>
              <a:gd name="adj" fmla="val 10714"/>
            </a:avLst>
          </a:prstGeom>
          <a:solidFill>
            <a:srgbClr val="FFFFFF"/>
          </a:solidFill>
          <a:ln w="9525">
            <a:solidFill>
              <a:srgbClr val="E2E8F0"/>
            </a:solidFill>
            <a:prstDash val="solid"/>
          </a:ln>
        </p:spPr>
        <p:txBody>
          <a:bodyPr/>
          <a:lstStyle/>
          <a:p>
            <a:endParaRPr lang="zh-CN" altLang="en-US"/>
          </a:p>
        </p:txBody>
      </p:sp>
      <p:sp>
        <p:nvSpPr>
          <p:cNvPr id="10" name="矩形 9">
            <a:extLst>
              <a:ext uri="{FF2B5EF4-FFF2-40B4-BE49-F238E27FC236}">
                <a16:creationId xmlns:a16="http://schemas.microsoft.com/office/drawing/2014/main" id="{CCC54B87-9184-44AA-B7E6-AAB97FA1E98C}"/>
              </a:ext>
            </a:extLst>
          </p:cNvPr>
          <p:cNvSpPr>
            <a:spLocks noGrp="1"/>
          </p:cNvSpPr>
          <p:nvPr/>
        </p:nvSpPr>
        <p:spPr>
          <a:xfrm>
            <a:off x="4362450" y="1619250"/>
            <a:ext cx="3143250" cy="76200"/>
          </a:xfrm>
          <a:prstGeom prst="rect">
            <a:avLst/>
          </a:prstGeom>
          <a:solidFill>
            <a:srgbClr val="0891B2"/>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A112B6EF-142C-4100-A94E-7331C40E1DE0}"/>
              </a:ext>
            </a:extLst>
          </p:cNvPr>
          <p:cNvSpPr>
            <a:spLocks noGrp="1"/>
          </p:cNvSpPr>
          <p:nvPr/>
        </p:nvSpPr>
        <p:spPr>
          <a:xfrm>
            <a:off x="4533900" y="1828800"/>
            <a:ext cx="361950" cy="381000"/>
          </a:xfrm>
          <a:prstGeom prst="rect">
            <a:avLst/>
          </a:prstGeom>
          <a:noFill/>
          <a:ln w="0">
            <a:noFill/>
            <a:prstDash val="solid"/>
          </a:ln>
        </p:spPr>
        <p:txBody>
          <a:bodyPr/>
          <a:lstStyle/>
          <a:p>
            <a:pPr algn="l">
              <a:defRPr sz="2100" b="1" i="0">
                <a:solidFill>
                  <a:srgbClr val="0891B2"/>
                </a:solidFill>
              </a:defRPr>
            </a:pPr>
            <a:r>
              <a:rPr sz="2100" b="1" i="0">
                <a:solidFill>
                  <a:srgbClr val="0891B2"/>
                </a:solidFill>
              </a:rPr>
              <a:t>2</a:t>
            </a:r>
          </a:p>
        </p:txBody>
      </p:sp>
      <p:sp>
        <p:nvSpPr>
          <p:cNvPr id="12" name="矩形 11">
            <a:extLst>
              <a:ext uri="{FF2B5EF4-FFF2-40B4-BE49-F238E27FC236}">
                <a16:creationId xmlns:a16="http://schemas.microsoft.com/office/drawing/2014/main" id="{AFCB318B-56FD-42A7-93CB-FEE743DDA8E5}"/>
              </a:ext>
            </a:extLst>
          </p:cNvPr>
          <p:cNvSpPr>
            <a:spLocks noGrp="1"/>
          </p:cNvSpPr>
          <p:nvPr/>
        </p:nvSpPr>
        <p:spPr>
          <a:xfrm>
            <a:off x="4991100" y="1809750"/>
            <a:ext cx="2362200" cy="285750"/>
          </a:xfrm>
          <a:prstGeom prst="rect">
            <a:avLst/>
          </a:prstGeom>
          <a:noFill/>
          <a:ln w="0">
            <a:noFill/>
            <a:prstDash val="solid"/>
          </a:ln>
        </p:spPr>
        <p:txBody>
          <a:bodyPr/>
          <a:lstStyle/>
          <a:p>
            <a:pPr algn="l">
              <a:defRPr sz="1650" b="1" i="0">
                <a:solidFill>
                  <a:srgbClr val="0F172A"/>
                </a:solidFill>
              </a:defRPr>
            </a:pPr>
            <a:r>
              <a:rPr sz="1650" b="1" i="0">
                <a:solidFill>
                  <a:srgbClr val="0F172A"/>
                </a:solidFill>
              </a:rPr>
              <a:t>任务定义</a:t>
            </a:r>
          </a:p>
        </p:txBody>
      </p:sp>
      <p:sp>
        <p:nvSpPr>
          <p:cNvPr id="13" name="矩形 12">
            <a:extLst>
              <a:ext uri="{FF2B5EF4-FFF2-40B4-BE49-F238E27FC236}">
                <a16:creationId xmlns:a16="http://schemas.microsoft.com/office/drawing/2014/main" id="{222AA78D-FF9C-4F0B-8FDA-27F7BE067E12}"/>
              </a:ext>
            </a:extLst>
          </p:cNvPr>
          <p:cNvSpPr>
            <a:spLocks noGrp="1"/>
          </p:cNvSpPr>
          <p:nvPr/>
        </p:nvSpPr>
        <p:spPr>
          <a:xfrm>
            <a:off x="4991100" y="2152650"/>
            <a:ext cx="2343150" cy="381000"/>
          </a:xfrm>
          <a:prstGeom prst="rect">
            <a:avLst/>
          </a:prstGeom>
          <a:noFill/>
          <a:ln w="0">
            <a:noFill/>
            <a:prstDash val="solid"/>
          </a:ln>
        </p:spPr>
        <p:txBody>
          <a:bodyPr/>
          <a:lstStyle/>
          <a:p>
            <a:pPr algn="l">
              <a:defRPr sz="1275" b="0" i="0">
                <a:solidFill>
                  <a:srgbClr val="475569"/>
                </a:solidFill>
              </a:defRPr>
            </a:pPr>
            <a:r>
              <a:rPr sz="1275" b="0" i="0">
                <a:solidFill>
                  <a:srgbClr val="475569"/>
                </a:solidFill>
              </a:rPr>
              <a:t>CSL 输入、输出、标签含义</a:t>
            </a:r>
          </a:p>
        </p:txBody>
      </p:sp>
      <p:sp>
        <p:nvSpPr>
          <p:cNvPr id="14" name="矩形: 圆角 13">
            <a:extLst>
              <a:ext uri="{FF2B5EF4-FFF2-40B4-BE49-F238E27FC236}">
                <a16:creationId xmlns:a16="http://schemas.microsoft.com/office/drawing/2014/main" id="{D1CECA28-A750-4B8B-89DE-4C5AF8E17EF4}"/>
              </a:ext>
            </a:extLst>
          </p:cNvPr>
          <p:cNvSpPr>
            <a:spLocks noGrp="1"/>
          </p:cNvSpPr>
          <p:nvPr/>
        </p:nvSpPr>
        <p:spPr>
          <a:xfrm>
            <a:off x="7943850" y="1619250"/>
            <a:ext cx="3143250" cy="1066800"/>
          </a:xfrm>
          <a:prstGeom prst="roundRect">
            <a:avLst>
              <a:gd name="adj" fmla="val 10714"/>
            </a:avLst>
          </a:prstGeom>
          <a:solidFill>
            <a:srgbClr val="FFFFFF"/>
          </a:solidFill>
          <a:ln w="9525">
            <a:solidFill>
              <a:srgbClr val="E2E8F0"/>
            </a:solidFill>
            <a:prstDash val="solid"/>
          </a:ln>
        </p:spPr>
        <p:txBody>
          <a:bodyPr/>
          <a:lstStyle/>
          <a:p>
            <a:endParaRPr lang="zh-CN" altLang="en-US"/>
          </a:p>
        </p:txBody>
      </p:sp>
      <p:sp>
        <p:nvSpPr>
          <p:cNvPr id="15" name="矩形 14">
            <a:extLst>
              <a:ext uri="{FF2B5EF4-FFF2-40B4-BE49-F238E27FC236}">
                <a16:creationId xmlns:a16="http://schemas.microsoft.com/office/drawing/2014/main" id="{E49F9A6C-AB1D-46FC-9E8E-1893FC028129}"/>
              </a:ext>
            </a:extLst>
          </p:cNvPr>
          <p:cNvSpPr>
            <a:spLocks noGrp="1"/>
          </p:cNvSpPr>
          <p:nvPr/>
        </p:nvSpPr>
        <p:spPr>
          <a:xfrm>
            <a:off x="7943850" y="1619250"/>
            <a:ext cx="3143250" cy="76200"/>
          </a:xfrm>
          <a:prstGeom prst="rect">
            <a:avLst/>
          </a:prstGeom>
          <a:solidFill>
            <a:srgbClr val="0F766E"/>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619044DA-9864-4D9C-AEB5-60C44194BB0A}"/>
              </a:ext>
            </a:extLst>
          </p:cNvPr>
          <p:cNvSpPr>
            <a:spLocks noGrp="1"/>
          </p:cNvSpPr>
          <p:nvPr/>
        </p:nvSpPr>
        <p:spPr>
          <a:xfrm>
            <a:off x="8115300" y="1828800"/>
            <a:ext cx="361950" cy="381000"/>
          </a:xfrm>
          <a:prstGeom prst="rect">
            <a:avLst/>
          </a:prstGeom>
          <a:noFill/>
          <a:ln w="0">
            <a:noFill/>
            <a:prstDash val="solid"/>
          </a:ln>
        </p:spPr>
        <p:txBody>
          <a:bodyPr/>
          <a:lstStyle/>
          <a:p>
            <a:pPr algn="l">
              <a:defRPr sz="2100" b="1" i="0">
                <a:solidFill>
                  <a:srgbClr val="0F766E"/>
                </a:solidFill>
              </a:defRPr>
            </a:pPr>
            <a:r>
              <a:rPr sz="2100" b="1" i="0">
                <a:solidFill>
                  <a:srgbClr val="0F766E"/>
                </a:solidFill>
              </a:rPr>
              <a:t>3</a:t>
            </a:r>
          </a:p>
        </p:txBody>
      </p:sp>
      <p:sp>
        <p:nvSpPr>
          <p:cNvPr id="17" name="矩形 16">
            <a:extLst>
              <a:ext uri="{FF2B5EF4-FFF2-40B4-BE49-F238E27FC236}">
                <a16:creationId xmlns:a16="http://schemas.microsoft.com/office/drawing/2014/main" id="{41109108-1ADC-430E-B567-5E7CBE122945}"/>
              </a:ext>
            </a:extLst>
          </p:cNvPr>
          <p:cNvSpPr>
            <a:spLocks noGrp="1"/>
          </p:cNvSpPr>
          <p:nvPr/>
        </p:nvSpPr>
        <p:spPr>
          <a:xfrm>
            <a:off x="8572500" y="1809750"/>
            <a:ext cx="2362200" cy="285750"/>
          </a:xfrm>
          <a:prstGeom prst="rect">
            <a:avLst/>
          </a:prstGeom>
          <a:noFill/>
          <a:ln w="0">
            <a:noFill/>
            <a:prstDash val="solid"/>
          </a:ln>
        </p:spPr>
        <p:txBody>
          <a:bodyPr/>
          <a:lstStyle/>
          <a:p>
            <a:pPr algn="l">
              <a:defRPr sz="1650" b="1" i="0">
                <a:solidFill>
                  <a:srgbClr val="0F172A"/>
                </a:solidFill>
              </a:defRPr>
            </a:pPr>
            <a:r>
              <a:rPr sz="1650" b="1" i="0">
                <a:solidFill>
                  <a:srgbClr val="0F172A"/>
                </a:solidFill>
              </a:rPr>
              <a:t>数据与预处理</a:t>
            </a:r>
          </a:p>
        </p:txBody>
      </p:sp>
      <p:sp>
        <p:nvSpPr>
          <p:cNvPr id="18" name="矩形 17">
            <a:extLst>
              <a:ext uri="{FF2B5EF4-FFF2-40B4-BE49-F238E27FC236}">
                <a16:creationId xmlns:a16="http://schemas.microsoft.com/office/drawing/2014/main" id="{8BE0595B-B383-41B3-965B-FE7FC9427EA0}"/>
              </a:ext>
            </a:extLst>
          </p:cNvPr>
          <p:cNvSpPr>
            <a:spLocks noGrp="1"/>
          </p:cNvSpPr>
          <p:nvPr/>
        </p:nvSpPr>
        <p:spPr>
          <a:xfrm>
            <a:off x="8572500" y="2152650"/>
            <a:ext cx="2343150" cy="381000"/>
          </a:xfrm>
          <a:prstGeom prst="rect">
            <a:avLst/>
          </a:prstGeom>
          <a:noFill/>
          <a:ln w="0">
            <a:noFill/>
            <a:prstDash val="solid"/>
          </a:ln>
        </p:spPr>
        <p:txBody>
          <a:bodyPr/>
          <a:lstStyle/>
          <a:p>
            <a:pPr algn="l">
              <a:defRPr sz="1275" b="0" i="0">
                <a:solidFill>
                  <a:srgbClr val="475569"/>
                </a:solidFill>
              </a:defRPr>
            </a:pPr>
            <a:r>
              <a:rPr sz="1275" b="0" i="0">
                <a:solidFill>
                  <a:srgbClr val="475569"/>
                </a:solidFill>
              </a:rPr>
              <a:t>规模统计、分词、去停用词</a:t>
            </a:r>
          </a:p>
        </p:txBody>
      </p:sp>
      <p:sp>
        <p:nvSpPr>
          <p:cNvPr id="19" name="矩形: 圆角 18">
            <a:extLst>
              <a:ext uri="{FF2B5EF4-FFF2-40B4-BE49-F238E27FC236}">
                <a16:creationId xmlns:a16="http://schemas.microsoft.com/office/drawing/2014/main" id="{B94FC421-E533-425C-863A-E19A41AFB8D9}"/>
              </a:ext>
            </a:extLst>
          </p:cNvPr>
          <p:cNvSpPr>
            <a:spLocks noGrp="1"/>
          </p:cNvSpPr>
          <p:nvPr/>
        </p:nvSpPr>
        <p:spPr>
          <a:xfrm>
            <a:off x="781050" y="3409950"/>
            <a:ext cx="3143250" cy="1066800"/>
          </a:xfrm>
          <a:prstGeom prst="roundRect">
            <a:avLst>
              <a:gd name="adj" fmla="val 10714"/>
            </a:avLst>
          </a:prstGeom>
          <a:solidFill>
            <a:srgbClr val="FFFFFF"/>
          </a:solidFill>
          <a:ln w="9525">
            <a:solidFill>
              <a:srgbClr val="E2E8F0"/>
            </a:solidFill>
            <a:prstDash val="solid"/>
          </a:ln>
        </p:spPr>
        <p:txBody>
          <a:bodyPr/>
          <a:lstStyle/>
          <a:p>
            <a:endParaRPr lang="zh-CN" altLang="en-US"/>
          </a:p>
        </p:txBody>
      </p:sp>
      <p:sp>
        <p:nvSpPr>
          <p:cNvPr id="20" name="矩形 19">
            <a:extLst>
              <a:ext uri="{FF2B5EF4-FFF2-40B4-BE49-F238E27FC236}">
                <a16:creationId xmlns:a16="http://schemas.microsoft.com/office/drawing/2014/main" id="{F6AA37E4-E1E3-47F8-9486-C54B3E9C7375}"/>
              </a:ext>
            </a:extLst>
          </p:cNvPr>
          <p:cNvSpPr>
            <a:spLocks noGrp="1"/>
          </p:cNvSpPr>
          <p:nvPr/>
        </p:nvSpPr>
        <p:spPr>
          <a:xfrm>
            <a:off x="781050" y="3409950"/>
            <a:ext cx="3143250" cy="76200"/>
          </a:xfrm>
          <a:prstGeom prst="rect">
            <a:avLst/>
          </a:prstGeom>
          <a:solidFill>
            <a:srgbClr val="EA580C"/>
          </a:solidFill>
          <a:ln w="0">
            <a:noFill/>
            <a:prstDash val="solid"/>
          </a:ln>
        </p:spPr>
        <p:txBody>
          <a:bodyPr/>
          <a:lstStyle/>
          <a:p>
            <a:endParaRPr lang="zh-CN" altLang="en-US"/>
          </a:p>
        </p:txBody>
      </p:sp>
      <p:sp>
        <p:nvSpPr>
          <p:cNvPr id="21" name="矩形 20">
            <a:extLst>
              <a:ext uri="{FF2B5EF4-FFF2-40B4-BE49-F238E27FC236}">
                <a16:creationId xmlns:a16="http://schemas.microsoft.com/office/drawing/2014/main" id="{F878E4B7-42F2-4558-9F99-CC0BC13E9463}"/>
              </a:ext>
            </a:extLst>
          </p:cNvPr>
          <p:cNvSpPr>
            <a:spLocks noGrp="1"/>
          </p:cNvSpPr>
          <p:nvPr/>
        </p:nvSpPr>
        <p:spPr>
          <a:xfrm>
            <a:off x="952500" y="3619500"/>
            <a:ext cx="361950" cy="381000"/>
          </a:xfrm>
          <a:prstGeom prst="rect">
            <a:avLst/>
          </a:prstGeom>
          <a:noFill/>
          <a:ln w="0">
            <a:noFill/>
            <a:prstDash val="solid"/>
          </a:ln>
        </p:spPr>
        <p:txBody>
          <a:bodyPr/>
          <a:lstStyle/>
          <a:p>
            <a:pPr algn="l">
              <a:defRPr sz="2100" b="1" i="0">
                <a:solidFill>
                  <a:srgbClr val="EA580C"/>
                </a:solidFill>
              </a:defRPr>
            </a:pPr>
            <a:r>
              <a:rPr sz="2100" b="1" i="0">
                <a:solidFill>
                  <a:srgbClr val="EA580C"/>
                </a:solidFill>
              </a:rPr>
              <a:t>4</a:t>
            </a:r>
          </a:p>
        </p:txBody>
      </p:sp>
      <p:sp>
        <p:nvSpPr>
          <p:cNvPr id="22" name="矩形 21">
            <a:extLst>
              <a:ext uri="{FF2B5EF4-FFF2-40B4-BE49-F238E27FC236}">
                <a16:creationId xmlns:a16="http://schemas.microsoft.com/office/drawing/2014/main" id="{7C2B107A-9007-454F-84ED-BFB853668E58}"/>
              </a:ext>
            </a:extLst>
          </p:cNvPr>
          <p:cNvSpPr>
            <a:spLocks noGrp="1"/>
          </p:cNvSpPr>
          <p:nvPr/>
        </p:nvSpPr>
        <p:spPr>
          <a:xfrm>
            <a:off x="1409700" y="3600450"/>
            <a:ext cx="2362200" cy="285750"/>
          </a:xfrm>
          <a:prstGeom prst="rect">
            <a:avLst/>
          </a:prstGeom>
          <a:noFill/>
          <a:ln w="0">
            <a:noFill/>
            <a:prstDash val="solid"/>
          </a:ln>
        </p:spPr>
        <p:txBody>
          <a:bodyPr/>
          <a:lstStyle/>
          <a:p>
            <a:pPr algn="l">
              <a:defRPr sz="1650" b="1" i="0">
                <a:solidFill>
                  <a:srgbClr val="0F172A"/>
                </a:solidFill>
              </a:defRPr>
            </a:pPr>
            <a:r>
              <a:rPr sz="1650" b="1" i="0">
                <a:solidFill>
                  <a:srgbClr val="0F172A"/>
                </a:solidFill>
              </a:rPr>
              <a:t>特征与模型</a:t>
            </a:r>
          </a:p>
        </p:txBody>
      </p:sp>
      <p:sp>
        <p:nvSpPr>
          <p:cNvPr id="23" name="矩形 22">
            <a:extLst>
              <a:ext uri="{FF2B5EF4-FFF2-40B4-BE49-F238E27FC236}">
                <a16:creationId xmlns:a16="http://schemas.microsoft.com/office/drawing/2014/main" id="{6D1F8D94-0504-4D39-A34E-2FFD56524703}"/>
              </a:ext>
            </a:extLst>
          </p:cNvPr>
          <p:cNvSpPr>
            <a:spLocks noGrp="1"/>
          </p:cNvSpPr>
          <p:nvPr/>
        </p:nvSpPr>
        <p:spPr>
          <a:xfrm>
            <a:off x="1409700" y="3943350"/>
            <a:ext cx="2343150" cy="381000"/>
          </a:xfrm>
          <a:prstGeom prst="rect">
            <a:avLst/>
          </a:prstGeom>
          <a:noFill/>
          <a:ln w="0">
            <a:noFill/>
            <a:prstDash val="solid"/>
          </a:ln>
        </p:spPr>
        <p:txBody>
          <a:bodyPr/>
          <a:lstStyle/>
          <a:p>
            <a:pPr algn="l">
              <a:defRPr sz="1275" b="0" i="0">
                <a:solidFill>
                  <a:srgbClr val="475569"/>
                </a:solidFill>
              </a:defRPr>
            </a:pPr>
            <a:r>
              <a:rPr sz="1275" b="0" i="0">
                <a:solidFill>
                  <a:srgbClr val="475569"/>
                </a:solidFill>
              </a:rPr>
              <a:t>TF-IDF 基线与 BERT 微调</a:t>
            </a:r>
          </a:p>
        </p:txBody>
      </p:sp>
      <p:sp>
        <p:nvSpPr>
          <p:cNvPr id="24" name="矩形: 圆角 23">
            <a:extLst>
              <a:ext uri="{FF2B5EF4-FFF2-40B4-BE49-F238E27FC236}">
                <a16:creationId xmlns:a16="http://schemas.microsoft.com/office/drawing/2014/main" id="{570CDE51-3C8E-4CFA-861F-7507D4B5C19F}"/>
              </a:ext>
            </a:extLst>
          </p:cNvPr>
          <p:cNvSpPr>
            <a:spLocks noGrp="1"/>
          </p:cNvSpPr>
          <p:nvPr/>
        </p:nvSpPr>
        <p:spPr>
          <a:xfrm>
            <a:off x="4362450" y="3409950"/>
            <a:ext cx="3143250" cy="1066800"/>
          </a:xfrm>
          <a:prstGeom prst="roundRect">
            <a:avLst>
              <a:gd name="adj" fmla="val 10714"/>
            </a:avLst>
          </a:prstGeom>
          <a:solidFill>
            <a:srgbClr val="FFFFFF"/>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6266424F-107E-40C5-A200-1003F8586C7F}"/>
              </a:ext>
            </a:extLst>
          </p:cNvPr>
          <p:cNvSpPr>
            <a:spLocks noGrp="1"/>
          </p:cNvSpPr>
          <p:nvPr/>
        </p:nvSpPr>
        <p:spPr>
          <a:xfrm>
            <a:off x="4362450" y="3409950"/>
            <a:ext cx="3143250" cy="76200"/>
          </a:xfrm>
          <a:prstGeom prst="rect">
            <a:avLst/>
          </a:prstGeom>
          <a:solidFill>
            <a:srgbClr val="16A34A"/>
          </a:solidFill>
          <a:ln w="0">
            <a:noFill/>
            <a:prstDash val="solid"/>
          </a:ln>
        </p:spPr>
        <p:txBody>
          <a:bodyPr/>
          <a:lstStyle/>
          <a:p>
            <a:endParaRPr lang="zh-CN" altLang="en-US"/>
          </a:p>
        </p:txBody>
      </p:sp>
      <p:sp>
        <p:nvSpPr>
          <p:cNvPr id="26" name="矩形 25">
            <a:extLst>
              <a:ext uri="{FF2B5EF4-FFF2-40B4-BE49-F238E27FC236}">
                <a16:creationId xmlns:a16="http://schemas.microsoft.com/office/drawing/2014/main" id="{92FE9C3B-D93B-442C-990D-0E9630DD1A2E}"/>
              </a:ext>
            </a:extLst>
          </p:cNvPr>
          <p:cNvSpPr>
            <a:spLocks noGrp="1"/>
          </p:cNvSpPr>
          <p:nvPr/>
        </p:nvSpPr>
        <p:spPr>
          <a:xfrm>
            <a:off x="4533900" y="3619500"/>
            <a:ext cx="361950" cy="381000"/>
          </a:xfrm>
          <a:prstGeom prst="rect">
            <a:avLst/>
          </a:prstGeom>
          <a:noFill/>
          <a:ln w="0">
            <a:noFill/>
            <a:prstDash val="solid"/>
          </a:ln>
        </p:spPr>
        <p:txBody>
          <a:bodyPr/>
          <a:lstStyle/>
          <a:p>
            <a:pPr algn="l">
              <a:defRPr sz="2100" b="1" i="0">
                <a:solidFill>
                  <a:srgbClr val="16A34A"/>
                </a:solidFill>
              </a:defRPr>
            </a:pPr>
            <a:r>
              <a:rPr sz="2100" b="1" i="0">
                <a:solidFill>
                  <a:srgbClr val="16A34A"/>
                </a:solidFill>
              </a:rPr>
              <a:t>5</a:t>
            </a:r>
          </a:p>
        </p:txBody>
      </p:sp>
      <p:sp>
        <p:nvSpPr>
          <p:cNvPr id="27" name="矩形 26">
            <a:extLst>
              <a:ext uri="{FF2B5EF4-FFF2-40B4-BE49-F238E27FC236}">
                <a16:creationId xmlns:a16="http://schemas.microsoft.com/office/drawing/2014/main" id="{835D644C-AB9F-466B-8890-B75036B513DB}"/>
              </a:ext>
            </a:extLst>
          </p:cNvPr>
          <p:cNvSpPr>
            <a:spLocks noGrp="1"/>
          </p:cNvSpPr>
          <p:nvPr/>
        </p:nvSpPr>
        <p:spPr>
          <a:xfrm>
            <a:off x="4991100" y="3600450"/>
            <a:ext cx="2362200" cy="285750"/>
          </a:xfrm>
          <a:prstGeom prst="rect">
            <a:avLst/>
          </a:prstGeom>
          <a:noFill/>
          <a:ln w="0">
            <a:noFill/>
            <a:prstDash val="solid"/>
          </a:ln>
        </p:spPr>
        <p:txBody>
          <a:bodyPr/>
          <a:lstStyle/>
          <a:p>
            <a:pPr algn="l">
              <a:defRPr sz="1650" b="1" i="0">
                <a:solidFill>
                  <a:srgbClr val="0F172A"/>
                </a:solidFill>
              </a:defRPr>
            </a:pPr>
            <a:r>
              <a:rPr sz="1650" b="1" i="0">
                <a:solidFill>
                  <a:srgbClr val="0F172A"/>
                </a:solidFill>
              </a:rPr>
              <a:t>结果分析</a:t>
            </a:r>
          </a:p>
        </p:txBody>
      </p:sp>
      <p:sp>
        <p:nvSpPr>
          <p:cNvPr id="28" name="矩形 27">
            <a:extLst>
              <a:ext uri="{FF2B5EF4-FFF2-40B4-BE49-F238E27FC236}">
                <a16:creationId xmlns:a16="http://schemas.microsoft.com/office/drawing/2014/main" id="{DD014BA5-D157-4051-A86F-706018BC2D53}"/>
              </a:ext>
            </a:extLst>
          </p:cNvPr>
          <p:cNvSpPr>
            <a:spLocks noGrp="1"/>
          </p:cNvSpPr>
          <p:nvPr/>
        </p:nvSpPr>
        <p:spPr>
          <a:xfrm>
            <a:off x="4991100" y="3943350"/>
            <a:ext cx="2343150" cy="381000"/>
          </a:xfrm>
          <a:prstGeom prst="rect">
            <a:avLst/>
          </a:prstGeom>
          <a:noFill/>
          <a:ln w="0">
            <a:noFill/>
            <a:prstDash val="solid"/>
          </a:ln>
        </p:spPr>
        <p:txBody>
          <a:bodyPr/>
          <a:lstStyle/>
          <a:p>
            <a:pPr algn="l">
              <a:defRPr sz="1275" b="0" i="0">
                <a:solidFill>
                  <a:srgbClr val="475569"/>
                </a:solidFill>
              </a:defRPr>
            </a:pPr>
            <a:r>
              <a:rPr sz="1275" b="0" i="0">
                <a:solidFill>
                  <a:srgbClr val="475569"/>
                </a:solidFill>
              </a:rPr>
              <a:t>指标、混淆矩阵、对比解释</a:t>
            </a:r>
          </a:p>
        </p:txBody>
      </p:sp>
      <p:sp>
        <p:nvSpPr>
          <p:cNvPr id="29" name="矩形: 圆角 28">
            <a:extLst>
              <a:ext uri="{FF2B5EF4-FFF2-40B4-BE49-F238E27FC236}">
                <a16:creationId xmlns:a16="http://schemas.microsoft.com/office/drawing/2014/main" id="{C76B1322-A57C-4F06-9590-3548445BD175}"/>
              </a:ext>
            </a:extLst>
          </p:cNvPr>
          <p:cNvSpPr>
            <a:spLocks noGrp="1"/>
          </p:cNvSpPr>
          <p:nvPr/>
        </p:nvSpPr>
        <p:spPr>
          <a:xfrm>
            <a:off x="7943850" y="3409950"/>
            <a:ext cx="3143250" cy="1066800"/>
          </a:xfrm>
          <a:prstGeom prst="roundRect">
            <a:avLst>
              <a:gd name="adj" fmla="val 10714"/>
            </a:avLst>
          </a:prstGeom>
          <a:solidFill>
            <a:srgbClr val="FFFFFF"/>
          </a:solidFill>
          <a:ln w="9525">
            <a:solidFill>
              <a:srgbClr val="E2E8F0"/>
            </a:solidFill>
            <a:prstDash val="solid"/>
          </a:ln>
        </p:spPr>
        <p:txBody>
          <a:bodyPr/>
          <a:lstStyle/>
          <a:p>
            <a:endParaRPr lang="zh-CN" altLang="en-US"/>
          </a:p>
        </p:txBody>
      </p:sp>
      <p:sp>
        <p:nvSpPr>
          <p:cNvPr id="30" name="矩形 29">
            <a:extLst>
              <a:ext uri="{FF2B5EF4-FFF2-40B4-BE49-F238E27FC236}">
                <a16:creationId xmlns:a16="http://schemas.microsoft.com/office/drawing/2014/main" id="{573CD951-65AC-4D14-8BEF-BBBE9E8148F9}"/>
              </a:ext>
            </a:extLst>
          </p:cNvPr>
          <p:cNvSpPr>
            <a:spLocks noGrp="1"/>
          </p:cNvSpPr>
          <p:nvPr/>
        </p:nvSpPr>
        <p:spPr>
          <a:xfrm>
            <a:off x="7943850" y="3409950"/>
            <a:ext cx="3143250" cy="76200"/>
          </a:xfrm>
          <a:prstGeom prst="rect">
            <a:avLst/>
          </a:prstGeom>
          <a:solidFill>
            <a:srgbClr val="DC2626"/>
          </a:solidFill>
          <a:ln w="0">
            <a:noFill/>
            <a:prstDash val="solid"/>
          </a:ln>
        </p:spPr>
        <p:txBody>
          <a:bodyPr/>
          <a:lstStyle/>
          <a:p>
            <a:endParaRPr lang="zh-CN" altLang="en-US"/>
          </a:p>
        </p:txBody>
      </p:sp>
      <p:sp>
        <p:nvSpPr>
          <p:cNvPr id="31" name="矩形 30">
            <a:extLst>
              <a:ext uri="{FF2B5EF4-FFF2-40B4-BE49-F238E27FC236}">
                <a16:creationId xmlns:a16="http://schemas.microsoft.com/office/drawing/2014/main" id="{774114D9-A0A7-4ABE-80B5-F95E75BD9F7A}"/>
              </a:ext>
            </a:extLst>
          </p:cNvPr>
          <p:cNvSpPr>
            <a:spLocks noGrp="1"/>
          </p:cNvSpPr>
          <p:nvPr/>
        </p:nvSpPr>
        <p:spPr>
          <a:xfrm>
            <a:off x="8115300" y="3619500"/>
            <a:ext cx="361950" cy="381000"/>
          </a:xfrm>
          <a:prstGeom prst="rect">
            <a:avLst/>
          </a:prstGeom>
          <a:noFill/>
          <a:ln w="0">
            <a:noFill/>
            <a:prstDash val="solid"/>
          </a:ln>
        </p:spPr>
        <p:txBody>
          <a:bodyPr/>
          <a:lstStyle/>
          <a:p>
            <a:pPr algn="l">
              <a:defRPr sz="2100" b="1" i="0">
                <a:solidFill>
                  <a:srgbClr val="DC2626"/>
                </a:solidFill>
              </a:defRPr>
            </a:pPr>
            <a:r>
              <a:rPr sz="2100" b="1" i="0">
                <a:solidFill>
                  <a:srgbClr val="DC2626"/>
                </a:solidFill>
              </a:rPr>
              <a:t>6</a:t>
            </a:r>
          </a:p>
        </p:txBody>
      </p:sp>
      <p:sp>
        <p:nvSpPr>
          <p:cNvPr id="32" name="矩形 31">
            <a:extLst>
              <a:ext uri="{FF2B5EF4-FFF2-40B4-BE49-F238E27FC236}">
                <a16:creationId xmlns:a16="http://schemas.microsoft.com/office/drawing/2014/main" id="{0CF6064D-2E59-4C24-BAA0-779540B0CA04}"/>
              </a:ext>
            </a:extLst>
          </p:cNvPr>
          <p:cNvSpPr>
            <a:spLocks noGrp="1"/>
          </p:cNvSpPr>
          <p:nvPr/>
        </p:nvSpPr>
        <p:spPr>
          <a:xfrm>
            <a:off x="8572500" y="3600450"/>
            <a:ext cx="2362200" cy="285750"/>
          </a:xfrm>
          <a:prstGeom prst="rect">
            <a:avLst/>
          </a:prstGeom>
          <a:noFill/>
          <a:ln w="0">
            <a:noFill/>
            <a:prstDash val="solid"/>
          </a:ln>
        </p:spPr>
        <p:txBody>
          <a:bodyPr/>
          <a:lstStyle/>
          <a:p>
            <a:pPr algn="l">
              <a:defRPr sz="1650" b="1" i="0">
                <a:solidFill>
                  <a:srgbClr val="0F172A"/>
                </a:solidFill>
              </a:defRPr>
            </a:pPr>
            <a:r>
              <a:rPr sz="1650" b="1" i="0">
                <a:solidFill>
                  <a:srgbClr val="0F172A"/>
                </a:solidFill>
              </a:rPr>
              <a:t>错误与总结</a:t>
            </a:r>
          </a:p>
        </p:txBody>
      </p:sp>
      <p:sp>
        <p:nvSpPr>
          <p:cNvPr id="33" name="矩形 32">
            <a:extLst>
              <a:ext uri="{FF2B5EF4-FFF2-40B4-BE49-F238E27FC236}">
                <a16:creationId xmlns:a16="http://schemas.microsoft.com/office/drawing/2014/main" id="{C57E26EF-2FB9-4C82-80DA-8FF835222596}"/>
              </a:ext>
            </a:extLst>
          </p:cNvPr>
          <p:cNvSpPr>
            <a:spLocks noGrp="1"/>
          </p:cNvSpPr>
          <p:nvPr/>
        </p:nvSpPr>
        <p:spPr>
          <a:xfrm>
            <a:off x="8572500" y="3943350"/>
            <a:ext cx="2343150" cy="381000"/>
          </a:xfrm>
          <a:prstGeom prst="rect">
            <a:avLst/>
          </a:prstGeom>
          <a:noFill/>
          <a:ln w="0">
            <a:noFill/>
            <a:prstDash val="solid"/>
          </a:ln>
        </p:spPr>
        <p:txBody>
          <a:bodyPr/>
          <a:lstStyle/>
          <a:p>
            <a:pPr algn="l">
              <a:defRPr sz="1275" b="0" i="0">
                <a:solidFill>
                  <a:srgbClr val="475569"/>
                </a:solidFill>
              </a:defRPr>
            </a:pPr>
            <a:r>
              <a:rPr sz="1275" b="0" i="0">
                <a:solidFill>
                  <a:srgbClr val="475569"/>
                </a:solidFill>
              </a:rPr>
              <a:t>FP/FN、挑战、改进方向、分工</a:t>
            </a:r>
          </a:p>
        </p:txBody>
      </p:sp>
      <p:sp>
        <p:nvSpPr>
          <p:cNvPr id="34" name="矩形 33">
            <a:extLst>
              <a:ext uri="{FF2B5EF4-FFF2-40B4-BE49-F238E27FC236}">
                <a16:creationId xmlns:a16="http://schemas.microsoft.com/office/drawing/2014/main" id="{E5A56A30-94D7-49DA-AFB8-9F1F68784D4B}"/>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35" name="矩形 34">
            <a:extLst>
              <a:ext uri="{FF2B5EF4-FFF2-40B4-BE49-F238E27FC236}">
                <a16:creationId xmlns:a16="http://schemas.microsoft.com/office/drawing/2014/main" id="{6E06C5A7-CD87-40AC-93FB-3B884BC0774A}"/>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02</a:t>
            </a:r>
          </a:p>
        </p:txBody>
      </p:sp>
    </p:spTree>
    <p:extLst>
      <p:ext uri="{BB962C8B-B14F-4D97-AF65-F5344CB8AC3E}">
        <p14:creationId xmlns:p14="http://schemas.microsoft.com/office/powerpoint/2010/main" val="1651977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1A18900F-9D14-4432-8F5A-B1828E71A581}"/>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选题背景与意义</a:t>
            </a:r>
          </a:p>
        </p:txBody>
      </p:sp>
      <p:sp>
        <p:nvSpPr>
          <p:cNvPr id="2" name="矩形 1">
            <a:extLst>
              <a:ext uri="{FF2B5EF4-FFF2-40B4-BE49-F238E27FC236}">
                <a16:creationId xmlns:a16="http://schemas.microsoft.com/office/drawing/2014/main" id="{CEE683F6-65D3-4B6B-98B6-817387129884}"/>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90F4863B-4373-4077-90D0-CE2DB2B1B003}"/>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关键词是学术检索、推荐和主题组织的重要元数据</a:t>
            </a:r>
          </a:p>
        </p:txBody>
      </p:sp>
      <p:sp>
        <p:nvSpPr>
          <p:cNvPr id="4" name="矩形 3">
            <a:extLst>
              <a:ext uri="{FF2B5EF4-FFF2-40B4-BE49-F238E27FC236}">
                <a16:creationId xmlns:a16="http://schemas.microsoft.com/office/drawing/2014/main" id="{51DABB99-4F9A-4641-BBBE-43FF23F9C74F}"/>
              </a:ext>
            </a:extLst>
          </p:cNvPr>
          <p:cNvSpPr>
            <a:spLocks noGrp="1"/>
          </p:cNvSpPr>
          <p:nvPr/>
        </p:nvSpPr>
        <p:spPr>
          <a:xfrm>
            <a:off x="800100" y="1619250"/>
            <a:ext cx="85725" cy="85725"/>
          </a:xfrm>
          <a:prstGeom prst="rect">
            <a:avLst/>
          </a:prstGeom>
          <a:solidFill>
            <a:srgbClr val="2563EB"/>
          </a:solidFill>
          <a:ln w="0">
            <a:noFill/>
            <a:prstDash val="solid"/>
          </a:ln>
        </p:spPr>
        <p:txBody>
          <a:bodyPr/>
          <a:lstStyle/>
          <a:p>
            <a:endParaRPr lang="zh-CN" altLang="en-US"/>
          </a:p>
        </p:txBody>
      </p:sp>
      <p:sp>
        <p:nvSpPr>
          <p:cNvPr id="5" name="矩形 4">
            <a:extLst>
              <a:ext uri="{FF2B5EF4-FFF2-40B4-BE49-F238E27FC236}">
                <a16:creationId xmlns:a16="http://schemas.microsoft.com/office/drawing/2014/main" id="{AB7220BF-5465-47BC-9E9D-C2CC016A5F1C}"/>
              </a:ext>
            </a:extLst>
          </p:cNvPr>
          <p:cNvSpPr>
            <a:spLocks noGrp="1"/>
          </p:cNvSpPr>
          <p:nvPr/>
        </p:nvSpPr>
        <p:spPr>
          <a:xfrm>
            <a:off x="1028700" y="1524000"/>
            <a:ext cx="6438900" cy="628650"/>
          </a:xfrm>
          <a:prstGeom prst="rect">
            <a:avLst/>
          </a:prstGeom>
          <a:noFill/>
          <a:ln w="0">
            <a:noFill/>
            <a:prstDash val="solid"/>
          </a:ln>
        </p:spPr>
        <p:txBody>
          <a:bodyPr/>
          <a:lstStyle/>
          <a:p>
            <a:pPr algn="l">
              <a:defRPr sz="1575" b="0" i="0">
                <a:solidFill>
                  <a:srgbClr val="0F172A"/>
                </a:solidFill>
              </a:defRPr>
            </a:pPr>
            <a:r>
              <a:rPr sz="1575" b="0" i="0" dirty="0" err="1">
                <a:solidFill>
                  <a:srgbClr val="0F172A"/>
                </a:solidFill>
              </a:rPr>
              <a:t>论文关键词用于概括研究对象、方法、领域和主题，是检索与推荐系统的重要入口</a:t>
            </a:r>
            <a:r>
              <a:rPr sz="1575" b="0" i="0" dirty="0">
                <a:solidFill>
                  <a:srgbClr val="0F172A"/>
                </a:solidFill>
              </a:rPr>
              <a:t>。</a:t>
            </a:r>
          </a:p>
        </p:txBody>
      </p:sp>
      <p:sp>
        <p:nvSpPr>
          <p:cNvPr id="6" name="矩形 5">
            <a:extLst>
              <a:ext uri="{FF2B5EF4-FFF2-40B4-BE49-F238E27FC236}">
                <a16:creationId xmlns:a16="http://schemas.microsoft.com/office/drawing/2014/main" id="{4529A0F3-A541-4ADA-A1C4-3245D4EC5724}"/>
              </a:ext>
            </a:extLst>
          </p:cNvPr>
          <p:cNvSpPr>
            <a:spLocks noGrp="1"/>
          </p:cNvSpPr>
          <p:nvPr/>
        </p:nvSpPr>
        <p:spPr>
          <a:xfrm>
            <a:off x="800100" y="2171700"/>
            <a:ext cx="85725" cy="85725"/>
          </a:xfrm>
          <a:prstGeom prst="rect">
            <a:avLst/>
          </a:prstGeom>
          <a:solidFill>
            <a:srgbClr val="2563EB"/>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3A55548E-377B-4C99-A667-13E54BB43610}"/>
              </a:ext>
            </a:extLst>
          </p:cNvPr>
          <p:cNvSpPr>
            <a:spLocks noGrp="1"/>
          </p:cNvSpPr>
          <p:nvPr/>
        </p:nvSpPr>
        <p:spPr>
          <a:xfrm>
            <a:off x="1028700" y="2076450"/>
            <a:ext cx="6438900" cy="628650"/>
          </a:xfrm>
          <a:prstGeom prst="rect">
            <a:avLst/>
          </a:prstGeom>
          <a:noFill/>
          <a:ln w="0">
            <a:noFill/>
            <a:prstDash val="solid"/>
          </a:ln>
        </p:spPr>
        <p:txBody>
          <a:bodyPr/>
          <a:lstStyle/>
          <a:p>
            <a:pPr algn="l">
              <a:defRPr sz="1575" b="0" i="0">
                <a:solidFill>
                  <a:srgbClr val="0F172A"/>
                </a:solidFill>
              </a:defRPr>
            </a:pPr>
            <a:r>
              <a:rPr sz="1575" b="0" i="0" dirty="0" err="1">
                <a:solidFill>
                  <a:srgbClr val="0F172A"/>
                </a:solidFill>
              </a:rPr>
              <a:t>真实场景中关键词可能缺失、标注不准或与摘要不一致，需要自动化质量检查</a:t>
            </a:r>
            <a:r>
              <a:rPr sz="1575" b="0" i="0" dirty="0">
                <a:solidFill>
                  <a:srgbClr val="0F172A"/>
                </a:solidFill>
              </a:rPr>
              <a:t>。</a:t>
            </a:r>
          </a:p>
        </p:txBody>
      </p:sp>
      <p:sp>
        <p:nvSpPr>
          <p:cNvPr id="8" name="矩形 7">
            <a:extLst>
              <a:ext uri="{FF2B5EF4-FFF2-40B4-BE49-F238E27FC236}">
                <a16:creationId xmlns:a16="http://schemas.microsoft.com/office/drawing/2014/main" id="{C665D2EC-5174-4F82-92C0-911B2ACF05F5}"/>
              </a:ext>
            </a:extLst>
          </p:cNvPr>
          <p:cNvSpPr>
            <a:spLocks noGrp="1"/>
          </p:cNvSpPr>
          <p:nvPr/>
        </p:nvSpPr>
        <p:spPr>
          <a:xfrm>
            <a:off x="800100" y="2724150"/>
            <a:ext cx="85725" cy="85725"/>
          </a:xfrm>
          <a:prstGeom prst="rect">
            <a:avLst/>
          </a:prstGeom>
          <a:solidFill>
            <a:srgbClr val="2563EB"/>
          </a:soli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1C124893-6F1E-4E85-8EB0-8EB88EB71E4F}"/>
              </a:ext>
            </a:extLst>
          </p:cNvPr>
          <p:cNvSpPr>
            <a:spLocks noGrp="1"/>
          </p:cNvSpPr>
          <p:nvPr/>
        </p:nvSpPr>
        <p:spPr>
          <a:xfrm>
            <a:off x="1028700" y="2628900"/>
            <a:ext cx="6438900" cy="628650"/>
          </a:xfrm>
          <a:prstGeom prst="rect">
            <a:avLst/>
          </a:prstGeom>
          <a:noFill/>
          <a:ln w="0">
            <a:noFill/>
            <a:prstDash val="solid"/>
          </a:ln>
        </p:spPr>
        <p:txBody>
          <a:bodyPr/>
          <a:lstStyle/>
          <a:p>
            <a:pPr algn="l">
              <a:defRPr sz="1575" b="0" i="0">
                <a:solidFill>
                  <a:srgbClr val="0F172A"/>
                </a:solidFill>
              </a:defRPr>
            </a:pPr>
            <a:r>
              <a:rPr sz="1575" b="0" i="0" dirty="0">
                <a:solidFill>
                  <a:srgbClr val="0F172A"/>
                </a:solidFill>
              </a:rPr>
              <a:t>CSL 任务不是简单判断“</a:t>
            </a:r>
            <a:r>
              <a:rPr sz="1575" b="0" i="0" dirty="0" err="1">
                <a:solidFill>
                  <a:srgbClr val="0F172A"/>
                </a:solidFill>
              </a:rPr>
              <a:t>相关</a:t>
            </a:r>
            <a:r>
              <a:rPr sz="1575" b="0" i="0" dirty="0">
                <a:solidFill>
                  <a:srgbClr val="0F172A"/>
                </a:solidFill>
              </a:rPr>
              <a:t>”，</a:t>
            </a:r>
            <a:r>
              <a:rPr sz="1575" b="0" i="0" dirty="0" err="1">
                <a:solidFill>
                  <a:srgbClr val="0F172A"/>
                </a:solidFill>
              </a:rPr>
              <a:t>而是判断整组关键词是否为该论文真实关键词</a:t>
            </a:r>
            <a:r>
              <a:rPr sz="1575" b="0" i="0" dirty="0">
                <a:solidFill>
                  <a:srgbClr val="0F172A"/>
                </a:solidFill>
              </a:rPr>
              <a:t>。</a:t>
            </a:r>
          </a:p>
        </p:txBody>
      </p:sp>
      <p:sp>
        <p:nvSpPr>
          <p:cNvPr id="10" name="矩形 9">
            <a:extLst>
              <a:ext uri="{FF2B5EF4-FFF2-40B4-BE49-F238E27FC236}">
                <a16:creationId xmlns:a16="http://schemas.microsoft.com/office/drawing/2014/main" id="{CCB62CCF-7B26-45A5-9F51-BD56F9EE6A81}"/>
              </a:ext>
            </a:extLst>
          </p:cNvPr>
          <p:cNvSpPr>
            <a:spLocks noGrp="1"/>
          </p:cNvSpPr>
          <p:nvPr/>
        </p:nvSpPr>
        <p:spPr>
          <a:xfrm>
            <a:off x="800100" y="3276600"/>
            <a:ext cx="85725" cy="85725"/>
          </a:xfrm>
          <a:prstGeom prst="rect">
            <a:avLst/>
          </a:prstGeom>
          <a:solidFill>
            <a:srgbClr val="2563EB"/>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15FC0E95-3098-4984-A397-1945E6D3E367}"/>
              </a:ext>
            </a:extLst>
          </p:cNvPr>
          <p:cNvSpPr>
            <a:spLocks noGrp="1"/>
          </p:cNvSpPr>
          <p:nvPr/>
        </p:nvSpPr>
        <p:spPr>
          <a:xfrm>
            <a:off x="1028700" y="3181350"/>
            <a:ext cx="6438900" cy="628650"/>
          </a:xfrm>
          <a:prstGeom prst="rect">
            <a:avLst/>
          </a:prstGeom>
          <a:noFill/>
          <a:ln w="0">
            <a:noFill/>
            <a:prstDash val="solid"/>
          </a:ln>
        </p:spPr>
        <p:txBody>
          <a:bodyPr/>
          <a:lstStyle/>
          <a:p>
            <a:pPr algn="l">
              <a:defRPr sz="1575" b="0" i="0">
                <a:solidFill>
                  <a:srgbClr val="0F172A"/>
                </a:solidFill>
              </a:defRPr>
            </a:pPr>
            <a:r>
              <a:rPr sz="1575" b="0" i="0" dirty="0" err="1">
                <a:solidFill>
                  <a:srgbClr val="0F172A"/>
                </a:solidFill>
              </a:rPr>
              <a:t>该任务能覆盖课程要求中的数据统计、文本预处理、特征提取、模型训练和错误分析</a:t>
            </a:r>
            <a:r>
              <a:rPr sz="1575" b="0" i="0" dirty="0">
                <a:solidFill>
                  <a:srgbClr val="0F172A"/>
                </a:solidFill>
              </a:rPr>
              <a:t>。</a:t>
            </a:r>
          </a:p>
        </p:txBody>
      </p:sp>
      <p:sp>
        <p:nvSpPr>
          <p:cNvPr id="12" name="矩形: 圆角 11">
            <a:extLst>
              <a:ext uri="{FF2B5EF4-FFF2-40B4-BE49-F238E27FC236}">
                <a16:creationId xmlns:a16="http://schemas.microsoft.com/office/drawing/2014/main" id="{87F93D78-7BA1-4069-9D55-77254219B38D}"/>
              </a:ext>
            </a:extLst>
          </p:cNvPr>
          <p:cNvSpPr>
            <a:spLocks noGrp="1"/>
          </p:cNvSpPr>
          <p:nvPr/>
        </p:nvSpPr>
        <p:spPr>
          <a:xfrm>
            <a:off x="8020050" y="1600200"/>
            <a:ext cx="2667000"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13" name="矩形 12">
            <a:extLst>
              <a:ext uri="{FF2B5EF4-FFF2-40B4-BE49-F238E27FC236}">
                <a16:creationId xmlns:a16="http://schemas.microsoft.com/office/drawing/2014/main" id="{5DDE59FF-DBDF-434C-9569-A76A6B982D59}"/>
              </a:ext>
            </a:extLst>
          </p:cNvPr>
          <p:cNvSpPr>
            <a:spLocks noGrp="1"/>
          </p:cNvSpPr>
          <p:nvPr/>
        </p:nvSpPr>
        <p:spPr>
          <a:xfrm>
            <a:off x="8020050" y="1600200"/>
            <a:ext cx="57150" cy="1123950"/>
          </a:xfrm>
          <a:prstGeom prst="rect">
            <a:avLst/>
          </a:prstGeom>
          <a:solidFill>
            <a:srgbClr val="2563EB"/>
          </a:solidFill>
          <a:ln w="0">
            <a:noFill/>
            <a:prstDash val="solid"/>
          </a:ln>
        </p:spPr>
        <p:txBody>
          <a:bodyPr/>
          <a:lstStyle/>
          <a:p>
            <a:endParaRPr lang="zh-CN" altLang="en-US"/>
          </a:p>
        </p:txBody>
      </p:sp>
      <p:sp>
        <p:nvSpPr>
          <p:cNvPr id="14" name="矩形 13">
            <a:extLst>
              <a:ext uri="{FF2B5EF4-FFF2-40B4-BE49-F238E27FC236}">
                <a16:creationId xmlns:a16="http://schemas.microsoft.com/office/drawing/2014/main" id="{E2E652B5-A677-4F6B-A5F3-AC73407B575B}"/>
              </a:ext>
            </a:extLst>
          </p:cNvPr>
          <p:cNvSpPr>
            <a:spLocks noGrp="1"/>
          </p:cNvSpPr>
          <p:nvPr/>
        </p:nvSpPr>
        <p:spPr>
          <a:xfrm>
            <a:off x="8248650" y="1771650"/>
            <a:ext cx="2209800" cy="428625"/>
          </a:xfrm>
          <a:prstGeom prst="rect">
            <a:avLst/>
          </a:prstGeom>
          <a:noFill/>
          <a:ln w="0">
            <a:noFill/>
            <a:prstDash val="solid"/>
          </a:ln>
        </p:spPr>
        <p:txBody>
          <a:bodyPr/>
          <a:lstStyle/>
          <a:p>
            <a:pPr algn="l">
              <a:defRPr sz="2550" b="1" i="0">
                <a:solidFill>
                  <a:srgbClr val="2563EB"/>
                </a:solidFill>
              </a:defRPr>
            </a:pPr>
            <a:r>
              <a:rPr sz="2550" b="1" i="0">
                <a:solidFill>
                  <a:srgbClr val="2563EB"/>
                </a:solidFill>
              </a:rPr>
              <a:t>26,000</a:t>
            </a:r>
          </a:p>
        </p:txBody>
      </p:sp>
      <p:sp>
        <p:nvSpPr>
          <p:cNvPr id="15" name="矩形 14">
            <a:extLst>
              <a:ext uri="{FF2B5EF4-FFF2-40B4-BE49-F238E27FC236}">
                <a16:creationId xmlns:a16="http://schemas.microsoft.com/office/drawing/2014/main" id="{34A2FABF-688B-475E-A4F5-6E0B03638EC2}"/>
              </a:ext>
            </a:extLst>
          </p:cNvPr>
          <p:cNvSpPr>
            <a:spLocks noGrp="1"/>
          </p:cNvSpPr>
          <p:nvPr/>
        </p:nvSpPr>
        <p:spPr>
          <a:xfrm>
            <a:off x="8248650" y="2228850"/>
            <a:ext cx="2209800"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全量样本</a:t>
            </a:r>
          </a:p>
        </p:txBody>
      </p:sp>
      <p:sp>
        <p:nvSpPr>
          <p:cNvPr id="16" name="矩形 15">
            <a:extLst>
              <a:ext uri="{FF2B5EF4-FFF2-40B4-BE49-F238E27FC236}">
                <a16:creationId xmlns:a16="http://schemas.microsoft.com/office/drawing/2014/main" id="{B247B4F9-33B0-4284-AC72-852C7D225D10}"/>
              </a:ext>
            </a:extLst>
          </p:cNvPr>
          <p:cNvSpPr>
            <a:spLocks noGrp="1"/>
          </p:cNvSpPr>
          <p:nvPr/>
        </p:nvSpPr>
        <p:spPr>
          <a:xfrm>
            <a:off x="8248650" y="2476500"/>
            <a:ext cx="2209800" cy="19050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train/dev/test 合计</a:t>
            </a:r>
          </a:p>
        </p:txBody>
      </p:sp>
      <p:sp>
        <p:nvSpPr>
          <p:cNvPr id="17" name="矩形: 圆角 16">
            <a:extLst>
              <a:ext uri="{FF2B5EF4-FFF2-40B4-BE49-F238E27FC236}">
                <a16:creationId xmlns:a16="http://schemas.microsoft.com/office/drawing/2014/main" id="{374A5D65-3BB2-485D-BC9D-4CD60FA24751}"/>
              </a:ext>
            </a:extLst>
          </p:cNvPr>
          <p:cNvSpPr>
            <a:spLocks noGrp="1"/>
          </p:cNvSpPr>
          <p:nvPr/>
        </p:nvSpPr>
        <p:spPr>
          <a:xfrm>
            <a:off x="8020050" y="2952750"/>
            <a:ext cx="2667000"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18" name="矩形 17">
            <a:extLst>
              <a:ext uri="{FF2B5EF4-FFF2-40B4-BE49-F238E27FC236}">
                <a16:creationId xmlns:a16="http://schemas.microsoft.com/office/drawing/2014/main" id="{AD20C4FE-02B4-49C7-8F9B-7BD151554883}"/>
              </a:ext>
            </a:extLst>
          </p:cNvPr>
          <p:cNvSpPr>
            <a:spLocks noGrp="1"/>
          </p:cNvSpPr>
          <p:nvPr/>
        </p:nvSpPr>
        <p:spPr>
          <a:xfrm>
            <a:off x="8020050" y="2952750"/>
            <a:ext cx="57150" cy="1123950"/>
          </a:xfrm>
          <a:prstGeom prst="rect">
            <a:avLst/>
          </a:prstGeom>
          <a:solidFill>
            <a:srgbClr val="0F766E"/>
          </a:solidFill>
          <a:ln w="0">
            <a:noFill/>
            <a:prstDash val="solid"/>
          </a:ln>
        </p:spPr>
        <p:txBody>
          <a:bodyPr/>
          <a:lstStyle/>
          <a:p>
            <a:endParaRPr lang="zh-CN" altLang="en-US"/>
          </a:p>
        </p:txBody>
      </p:sp>
      <p:sp>
        <p:nvSpPr>
          <p:cNvPr id="19" name="矩形 18">
            <a:extLst>
              <a:ext uri="{FF2B5EF4-FFF2-40B4-BE49-F238E27FC236}">
                <a16:creationId xmlns:a16="http://schemas.microsoft.com/office/drawing/2014/main" id="{41A317BB-F35C-41EC-963A-7E751E0BA160}"/>
              </a:ext>
            </a:extLst>
          </p:cNvPr>
          <p:cNvSpPr>
            <a:spLocks noGrp="1"/>
          </p:cNvSpPr>
          <p:nvPr/>
        </p:nvSpPr>
        <p:spPr>
          <a:xfrm>
            <a:off x="8248650" y="3124200"/>
            <a:ext cx="2209800" cy="428625"/>
          </a:xfrm>
          <a:prstGeom prst="rect">
            <a:avLst/>
          </a:prstGeom>
          <a:noFill/>
          <a:ln w="0">
            <a:noFill/>
            <a:prstDash val="solid"/>
          </a:ln>
        </p:spPr>
        <p:txBody>
          <a:bodyPr/>
          <a:lstStyle/>
          <a:p>
            <a:pPr algn="l">
              <a:defRPr sz="2550" b="1" i="0">
                <a:solidFill>
                  <a:srgbClr val="0F766E"/>
                </a:solidFill>
              </a:defRPr>
            </a:pPr>
            <a:r>
              <a:rPr sz="2550" b="1" i="0">
                <a:solidFill>
                  <a:srgbClr val="0F766E"/>
                </a:solidFill>
              </a:rPr>
              <a:t>约 278</a:t>
            </a:r>
          </a:p>
        </p:txBody>
      </p:sp>
      <p:sp>
        <p:nvSpPr>
          <p:cNvPr id="20" name="矩形 19">
            <a:extLst>
              <a:ext uri="{FF2B5EF4-FFF2-40B4-BE49-F238E27FC236}">
                <a16:creationId xmlns:a16="http://schemas.microsoft.com/office/drawing/2014/main" id="{EBCDDD0F-701A-49D2-881D-7526F71AC90D}"/>
              </a:ext>
            </a:extLst>
          </p:cNvPr>
          <p:cNvSpPr>
            <a:spLocks noGrp="1"/>
          </p:cNvSpPr>
          <p:nvPr/>
        </p:nvSpPr>
        <p:spPr>
          <a:xfrm>
            <a:off x="8248650" y="3581400"/>
            <a:ext cx="2209800"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摘要均长</a:t>
            </a:r>
          </a:p>
        </p:txBody>
      </p:sp>
      <p:sp>
        <p:nvSpPr>
          <p:cNvPr id="21" name="矩形 20">
            <a:extLst>
              <a:ext uri="{FF2B5EF4-FFF2-40B4-BE49-F238E27FC236}">
                <a16:creationId xmlns:a16="http://schemas.microsoft.com/office/drawing/2014/main" id="{12C94875-25BD-49F6-9C74-0F48F1760580}"/>
              </a:ext>
            </a:extLst>
          </p:cNvPr>
          <p:cNvSpPr>
            <a:spLocks noGrp="1"/>
          </p:cNvSpPr>
          <p:nvPr/>
        </p:nvSpPr>
        <p:spPr>
          <a:xfrm>
            <a:off x="8248650" y="3829050"/>
            <a:ext cx="2209800" cy="19050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中文字符</a:t>
            </a:r>
          </a:p>
        </p:txBody>
      </p:sp>
      <p:sp>
        <p:nvSpPr>
          <p:cNvPr id="22" name="矩形: 圆角 21">
            <a:extLst>
              <a:ext uri="{FF2B5EF4-FFF2-40B4-BE49-F238E27FC236}">
                <a16:creationId xmlns:a16="http://schemas.microsoft.com/office/drawing/2014/main" id="{0E960265-C052-46B9-A385-B0BAB80DEEA5}"/>
              </a:ext>
            </a:extLst>
          </p:cNvPr>
          <p:cNvSpPr>
            <a:spLocks noGrp="1"/>
          </p:cNvSpPr>
          <p:nvPr/>
        </p:nvSpPr>
        <p:spPr>
          <a:xfrm>
            <a:off x="8020050" y="4305300"/>
            <a:ext cx="2667000"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23" name="矩形 22">
            <a:extLst>
              <a:ext uri="{FF2B5EF4-FFF2-40B4-BE49-F238E27FC236}">
                <a16:creationId xmlns:a16="http://schemas.microsoft.com/office/drawing/2014/main" id="{589BD0FB-A3EF-4F09-8AB7-7ECA7F774DF2}"/>
              </a:ext>
            </a:extLst>
          </p:cNvPr>
          <p:cNvSpPr>
            <a:spLocks noGrp="1"/>
          </p:cNvSpPr>
          <p:nvPr/>
        </p:nvSpPr>
        <p:spPr>
          <a:xfrm>
            <a:off x="8020050" y="4305300"/>
            <a:ext cx="57150" cy="1123950"/>
          </a:xfrm>
          <a:prstGeom prst="rect">
            <a:avLst/>
          </a:prstGeom>
          <a:solidFill>
            <a:srgbClr val="EA580C"/>
          </a:solidFill>
          <a:ln w="0">
            <a:noFill/>
            <a:prstDash val="solid"/>
          </a:ln>
        </p:spPr>
        <p:txBody>
          <a:bodyPr/>
          <a:lstStyle/>
          <a:p>
            <a:endParaRPr lang="zh-CN" altLang="en-US"/>
          </a:p>
        </p:txBody>
      </p:sp>
      <p:sp>
        <p:nvSpPr>
          <p:cNvPr id="24" name="矩形 23">
            <a:extLst>
              <a:ext uri="{FF2B5EF4-FFF2-40B4-BE49-F238E27FC236}">
                <a16:creationId xmlns:a16="http://schemas.microsoft.com/office/drawing/2014/main" id="{B984DBF5-8CD8-4F50-9B1A-6711CEDA8EF1}"/>
              </a:ext>
            </a:extLst>
          </p:cNvPr>
          <p:cNvSpPr>
            <a:spLocks noGrp="1"/>
          </p:cNvSpPr>
          <p:nvPr/>
        </p:nvSpPr>
        <p:spPr>
          <a:xfrm>
            <a:off x="8248650" y="4476750"/>
            <a:ext cx="2209800" cy="428625"/>
          </a:xfrm>
          <a:prstGeom prst="rect">
            <a:avLst/>
          </a:prstGeom>
          <a:noFill/>
          <a:ln w="0">
            <a:noFill/>
            <a:prstDash val="solid"/>
          </a:ln>
        </p:spPr>
        <p:txBody>
          <a:bodyPr/>
          <a:lstStyle/>
          <a:p>
            <a:pPr algn="l">
              <a:defRPr sz="2550" b="1" i="0">
                <a:solidFill>
                  <a:srgbClr val="EA580C"/>
                </a:solidFill>
              </a:defRPr>
            </a:pPr>
            <a:r>
              <a:rPr sz="2550" b="1" i="0">
                <a:solidFill>
                  <a:srgbClr val="EA580C"/>
                </a:solidFill>
              </a:rPr>
              <a:t>约 3.6</a:t>
            </a:r>
          </a:p>
        </p:txBody>
      </p:sp>
      <p:sp>
        <p:nvSpPr>
          <p:cNvPr id="25" name="矩形 24">
            <a:extLst>
              <a:ext uri="{FF2B5EF4-FFF2-40B4-BE49-F238E27FC236}">
                <a16:creationId xmlns:a16="http://schemas.microsoft.com/office/drawing/2014/main" id="{565F696D-2612-4958-8A9E-6190FDD2299B}"/>
              </a:ext>
            </a:extLst>
          </p:cNvPr>
          <p:cNvSpPr>
            <a:spLocks noGrp="1"/>
          </p:cNvSpPr>
          <p:nvPr/>
        </p:nvSpPr>
        <p:spPr>
          <a:xfrm>
            <a:off x="8248650" y="4933950"/>
            <a:ext cx="2209800"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关键词数</a:t>
            </a:r>
          </a:p>
        </p:txBody>
      </p:sp>
      <p:sp>
        <p:nvSpPr>
          <p:cNvPr id="26" name="矩形 25">
            <a:extLst>
              <a:ext uri="{FF2B5EF4-FFF2-40B4-BE49-F238E27FC236}">
                <a16:creationId xmlns:a16="http://schemas.microsoft.com/office/drawing/2014/main" id="{00EE0B5C-FD2E-4E15-B700-B33C6DE89F18}"/>
              </a:ext>
            </a:extLst>
          </p:cNvPr>
          <p:cNvSpPr>
            <a:spLocks noGrp="1"/>
          </p:cNvSpPr>
          <p:nvPr/>
        </p:nvSpPr>
        <p:spPr>
          <a:xfrm>
            <a:off x="8248650" y="5181600"/>
            <a:ext cx="2209800" cy="19050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每篇论文</a:t>
            </a:r>
          </a:p>
        </p:txBody>
      </p:sp>
      <p:sp>
        <p:nvSpPr>
          <p:cNvPr id="27" name="矩形 26">
            <a:extLst>
              <a:ext uri="{FF2B5EF4-FFF2-40B4-BE49-F238E27FC236}">
                <a16:creationId xmlns:a16="http://schemas.microsoft.com/office/drawing/2014/main" id="{6DBD6A1E-CC66-4280-B111-70A64FD85DC3}"/>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28" name="矩形 27">
            <a:extLst>
              <a:ext uri="{FF2B5EF4-FFF2-40B4-BE49-F238E27FC236}">
                <a16:creationId xmlns:a16="http://schemas.microsoft.com/office/drawing/2014/main" id="{FCAFA14A-417D-4593-8251-49C2D1AE8AD6}"/>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03</a:t>
            </a:r>
          </a:p>
        </p:txBody>
      </p:sp>
    </p:spTree>
    <p:extLst>
      <p:ext uri="{BB962C8B-B14F-4D97-AF65-F5344CB8AC3E}">
        <p14:creationId xmlns:p14="http://schemas.microsoft.com/office/powerpoint/2010/main" val="2108508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7169212B-0FB7-4019-95DE-D9943F7DD844}"/>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CSL 任务定义</a:t>
            </a:r>
          </a:p>
        </p:txBody>
      </p:sp>
      <p:sp>
        <p:nvSpPr>
          <p:cNvPr id="2" name="矩形 1">
            <a:extLst>
              <a:ext uri="{FF2B5EF4-FFF2-40B4-BE49-F238E27FC236}">
                <a16:creationId xmlns:a16="http://schemas.microsoft.com/office/drawing/2014/main" id="{B2B5382F-4BBB-4792-A8C3-E35AD8BBCD9F}"/>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C63D0D6C-F346-4118-B27A-10C5BF459B25}"/>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输入为论文摘要和关键词集合，输出为真假二分类标签</a:t>
            </a:r>
          </a:p>
        </p:txBody>
      </p:sp>
      <p:sp>
        <p:nvSpPr>
          <p:cNvPr id="4" name="矩形: 圆角 3">
            <a:extLst>
              <a:ext uri="{FF2B5EF4-FFF2-40B4-BE49-F238E27FC236}">
                <a16:creationId xmlns:a16="http://schemas.microsoft.com/office/drawing/2014/main" id="{F3E9B5D8-86B3-4AA1-A1EC-4A15603D9AF2}"/>
              </a:ext>
            </a:extLst>
          </p:cNvPr>
          <p:cNvSpPr>
            <a:spLocks noGrp="1"/>
          </p:cNvSpPr>
          <p:nvPr/>
        </p:nvSpPr>
        <p:spPr>
          <a:xfrm>
            <a:off x="781050" y="1485900"/>
            <a:ext cx="4810125" cy="2857500"/>
          </a:xfrm>
          <a:prstGeom prst="roundRect">
            <a:avLst>
              <a:gd name="adj" fmla="val 4000"/>
            </a:avLst>
          </a:prstGeom>
          <a:solidFill>
            <a:srgbClr val="FFFFFF"/>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41D07CD8-6C79-4149-AC05-CA0B3B3E6DF9}"/>
              </a:ext>
            </a:extLst>
          </p:cNvPr>
          <p:cNvSpPr>
            <a:spLocks noGrp="1"/>
          </p:cNvSpPr>
          <p:nvPr/>
        </p:nvSpPr>
        <p:spPr>
          <a:xfrm>
            <a:off x="1066800" y="1752600"/>
            <a:ext cx="1714500" cy="285750"/>
          </a:xfrm>
          <a:prstGeom prst="rect">
            <a:avLst/>
          </a:prstGeom>
          <a:noFill/>
          <a:ln w="0">
            <a:noFill/>
            <a:prstDash val="solid"/>
          </a:ln>
        </p:spPr>
        <p:txBody>
          <a:bodyPr/>
          <a:lstStyle/>
          <a:p>
            <a:pPr algn="l">
              <a:defRPr sz="1800" b="1" i="0">
                <a:solidFill>
                  <a:srgbClr val="1E3A8A"/>
                </a:solidFill>
              </a:defRPr>
            </a:pPr>
            <a:r>
              <a:rPr sz="1800" b="1" i="0">
                <a:solidFill>
                  <a:srgbClr val="1E3A8A"/>
                </a:solidFill>
              </a:rPr>
              <a:t>输入样本</a:t>
            </a:r>
          </a:p>
        </p:txBody>
      </p:sp>
      <p:sp>
        <p:nvSpPr>
          <p:cNvPr id="6" name="矩形 5">
            <a:extLst>
              <a:ext uri="{FF2B5EF4-FFF2-40B4-BE49-F238E27FC236}">
                <a16:creationId xmlns:a16="http://schemas.microsoft.com/office/drawing/2014/main" id="{2723B747-8B59-4C08-9C5C-3688E9BCDD9B}"/>
              </a:ext>
            </a:extLst>
          </p:cNvPr>
          <p:cNvSpPr>
            <a:spLocks noGrp="1"/>
          </p:cNvSpPr>
          <p:nvPr/>
        </p:nvSpPr>
        <p:spPr>
          <a:xfrm>
            <a:off x="1066800" y="2209800"/>
            <a:ext cx="4095750" cy="1428750"/>
          </a:xfrm>
          <a:prstGeom prst="rect">
            <a:avLst/>
          </a:prstGeom>
          <a:noFill/>
          <a:ln w="0">
            <a:noFill/>
            <a:prstDash val="solid"/>
          </a:ln>
        </p:spPr>
        <p:txBody>
          <a:bodyPr/>
          <a:lstStyle/>
          <a:p>
            <a:pPr algn="l">
              <a:defRPr sz="1650" b="0" i="0">
                <a:solidFill>
                  <a:srgbClr val="0F172A"/>
                </a:solidFill>
              </a:defRPr>
            </a:pPr>
            <a:r>
              <a:rPr sz="1650" b="0" i="0">
                <a:solidFill>
                  <a:srgbClr val="0F172A"/>
                </a:solidFill>
              </a:rPr>
              <a:t>摘要 A：一段中文科技论文摘要</a:t>
            </a:r>
          </a:p>
          <a:p>
            <a:pPr algn="l">
              <a:defRPr sz="1650" b="0" i="0">
                <a:solidFill>
                  <a:srgbClr val="0F172A"/>
                </a:solidFill>
              </a:defRPr>
            </a:pPr>
            <a:r>
              <a:rPr sz="1650" b="0" i="0">
                <a:solidFill>
                  <a:srgbClr val="0F172A"/>
                </a:solidFill>
              </a:rPr>
              <a:t>关键词 K：若干个候选关键词</a:t>
            </a:r>
          </a:p>
          <a:p>
            <a:endParaRPr sz="1650" b="0" i="0">
              <a:solidFill>
                <a:srgbClr val="0F172A"/>
              </a:solidFill>
            </a:endParaRPr>
          </a:p>
          <a:p>
            <a:pPr algn="l">
              <a:defRPr sz="1650" b="0" i="0">
                <a:solidFill>
                  <a:srgbClr val="0F172A"/>
                </a:solidFill>
              </a:defRPr>
            </a:pPr>
            <a:r>
              <a:rPr sz="1650" b="0" i="0">
                <a:solidFill>
                  <a:srgbClr val="0F172A"/>
                </a:solidFill>
              </a:rPr>
              <a:t>模型目标：判断 K 是否全部为该论文真实关键词</a:t>
            </a:r>
          </a:p>
        </p:txBody>
      </p:sp>
      <p:sp>
        <p:nvSpPr>
          <p:cNvPr id="7" name="矩形: 圆角 6">
            <a:extLst>
              <a:ext uri="{FF2B5EF4-FFF2-40B4-BE49-F238E27FC236}">
                <a16:creationId xmlns:a16="http://schemas.microsoft.com/office/drawing/2014/main" id="{939DCD0C-AA9E-4C36-94BB-B4082968A2DC}"/>
              </a:ext>
            </a:extLst>
          </p:cNvPr>
          <p:cNvSpPr>
            <a:spLocks noGrp="1"/>
          </p:cNvSpPr>
          <p:nvPr/>
        </p:nvSpPr>
        <p:spPr>
          <a:xfrm>
            <a:off x="6496050" y="1485900"/>
            <a:ext cx="4810125" cy="2857500"/>
          </a:xfrm>
          <a:prstGeom prst="roundRect">
            <a:avLst>
              <a:gd name="adj" fmla="val 4000"/>
            </a:avLst>
          </a:prstGeom>
          <a:solidFill>
            <a:srgbClr val="FFFFFF"/>
          </a:solidFill>
          <a:ln w="9525">
            <a:solidFill>
              <a:srgbClr val="E2E8F0"/>
            </a:solidFill>
            <a:prstDash val="solid"/>
          </a:ln>
        </p:spPr>
        <p:txBody>
          <a:bodyPr/>
          <a:lstStyle/>
          <a:p>
            <a:endParaRPr lang="zh-CN" altLang="en-US"/>
          </a:p>
        </p:txBody>
      </p:sp>
      <p:sp>
        <p:nvSpPr>
          <p:cNvPr id="8" name="矩形 7">
            <a:extLst>
              <a:ext uri="{FF2B5EF4-FFF2-40B4-BE49-F238E27FC236}">
                <a16:creationId xmlns:a16="http://schemas.microsoft.com/office/drawing/2014/main" id="{8BDB0301-EF81-4B26-A7EF-0C041219D77A}"/>
              </a:ext>
            </a:extLst>
          </p:cNvPr>
          <p:cNvSpPr>
            <a:spLocks noGrp="1"/>
          </p:cNvSpPr>
          <p:nvPr/>
        </p:nvSpPr>
        <p:spPr>
          <a:xfrm>
            <a:off x="6781800" y="1752600"/>
            <a:ext cx="1714500" cy="285750"/>
          </a:xfrm>
          <a:prstGeom prst="rect">
            <a:avLst/>
          </a:prstGeom>
          <a:noFill/>
          <a:ln w="0">
            <a:noFill/>
            <a:prstDash val="solid"/>
          </a:ln>
        </p:spPr>
        <p:txBody>
          <a:bodyPr/>
          <a:lstStyle/>
          <a:p>
            <a:pPr algn="l">
              <a:defRPr sz="1800" b="1" i="0">
                <a:solidFill>
                  <a:srgbClr val="1E3A8A"/>
                </a:solidFill>
              </a:defRPr>
            </a:pPr>
            <a:r>
              <a:rPr sz="1800" b="1" i="0">
                <a:solidFill>
                  <a:srgbClr val="1E3A8A"/>
                </a:solidFill>
              </a:rPr>
              <a:t>输出标签</a:t>
            </a:r>
          </a:p>
        </p:txBody>
      </p:sp>
      <p:sp>
        <p:nvSpPr>
          <p:cNvPr id="9" name="矩形 8">
            <a:extLst>
              <a:ext uri="{FF2B5EF4-FFF2-40B4-BE49-F238E27FC236}">
                <a16:creationId xmlns:a16="http://schemas.microsoft.com/office/drawing/2014/main" id="{3FC3482B-F7E9-4387-9B34-6B4DBE05E068}"/>
              </a:ext>
            </a:extLst>
          </p:cNvPr>
          <p:cNvSpPr>
            <a:spLocks noGrp="1"/>
          </p:cNvSpPr>
          <p:nvPr/>
        </p:nvSpPr>
        <p:spPr>
          <a:xfrm>
            <a:off x="6781800" y="2209800"/>
            <a:ext cx="4095750" cy="1428750"/>
          </a:xfrm>
          <a:prstGeom prst="rect">
            <a:avLst/>
          </a:prstGeom>
          <a:noFill/>
          <a:ln w="0">
            <a:noFill/>
            <a:prstDash val="solid"/>
          </a:ln>
        </p:spPr>
        <p:txBody>
          <a:bodyPr/>
          <a:lstStyle/>
          <a:p>
            <a:pPr algn="l">
              <a:defRPr sz="1650" b="0" i="0">
                <a:solidFill>
                  <a:srgbClr val="0F172A"/>
                </a:solidFill>
              </a:defRPr>
            </a:pPr>
            <a:r>
              <a:rPr sz="1650" b="0" i="0">
                <a:solidFill>
                  <a:srgbClr val="0F172A"/>
                </a:solidFill>
              </a:rPr>
              <a:t>label = 1：关键词集合为真实关键词</a:t>
            </a:r>
          </a:p>
          <a:p>
            <a:pPr algn="l">
              <a:defRPr sz="1650" b="0" i="0">
                <a:solidFill>
                  <a:srgbClr val="0F172A"/>
                </a:solidFill>
              </a:defRPr>
            </a:pPr>
            <a:r>
              <a:rPr sz="1650" b="0" i="0">
                <a:solidFill>
                  <a:srgbClr val="0F172A"/>
                </a:solidFill>
              </a:rPr>
              <a:t>label = 0：关键词集合由伪关键词构成，或与摘要不完全匹配</a:t>
            </a:r>
          </a:p>
          <a:p>
            <a:endParaRPr sz="1650" b="0" i="0">
              <a:solidFill>
                <a:srgbClr val="0F172A"/>
              </a:solidFill>
            </a:endParaRPr>
          </a:p>
          <a:p>
            <a:pPr algn="l">
              <a:defRPr sz="1650" b="0" i="0">
                <a:solidFill>
                  <a:srgbClr val="0F172A"/>
                </a:solidFill>
              </a:defRPr>
            </a:pPr>
            <a:r>
              <a:rPr sz="1650" b="0" i="0">
                <a:solidFill>
                  <a:srgbClr val="0F172A"/>
                </a:solidFill>
              </a:rPr>
              <a:t>评价方式：Accuracy / Macro-F1 等分类指标</a:t>
            </a:r>
          </a:p>
        </p:txBody>
      </p:sp>
      <p:sp>
        <p:nvSpPr>
          <p:cNvPr id="10" name="矩形: 圆角 9">
            <a:extLst>
              <a:ext uri="{FF2B5EF4-FFF2-40B4-BE49-F238E27FC236}">
                <a16:creationId xmlns:a16="http://schemas.microsoft.com/office/drawing/2014/main" id="{8CD99FD1-09A9-4BCD-8237-46B4B16A76F4}"/>
              </a:ext>
            </a:extLst>
          </p:cNvPr>
          <p:cNvSpPr>
            <a:spLocks noGrp="1"/>
          </p:cNvSpPr>
          <p:nvPr/>
        </p:nvSpPr>
        <p:spPr>
          <a:xfrm>
            <a:off x="1733550" y="4762500"/>
            <a:ext cx="8724900" cy="781050"/>
          </a:xfrm>
          <a:prstGeom prst="roundRect">
            <a:avLst>
              <a:gd name="adj" fmla="val 14634"/>
            </a:avLst>
          </a:prstGeom>
          <a:solidFill>
            <a:srgbClr val="DBEAFE"/>
          </a:solidFill>
          <a:ln w="9525">
            <a:solidFill>
              <a:srgbClr val="2563EB"/>
            </a:solidFill>
            <a:prstDash val="solid"/>
          </a:ln>
        </p:spPr>
        <p:txBody>
          <a:bodyPr/>
          <a:lstStyle/>
          <a:p>
            <a:endParaRPr lang="zh-CN" altLang="en-US"/>
          </a:p>
        </p:txBody>
      </p:sp>
      <p:sp>
        <p:nvSpPr>
          <p:cNvPr id="11" name="矩形 10">
            <a:extLst>
              <a:ext uri="{FF2B5EF4-FFF2-40B4-BE49-F238E27FC236}">
                <a16:creationId xmlns:a16="http://schemas.microsoft.com/office/drawing/2014/main" id="{6395E3BC-FE76-4D76-B338-8FB0B63166C7}"/>
              </a:ext>
            </a:extLst>
          </p:cNvPr>
          <p:cNvSpPr>
            <a:spLocks noGrp="1"/>
          </p:cNvSpPr>
          <p:nvPr/>
        </p:nvSpPr>
        <p:spPr>
          <a:xfrm>
            <a:off x="2114550" y="4972050"/>
            <a:ext cx="7810500" cy="323850"/>
          </a:xfrm>
          <a:prstGeom prst="rect">
            <a:avLst/>
          </a:prstGeom>
          <a:noFill/>
          <a:ln w="0">
            <a:noFill/>
            <a:prstDash val="solid"/>
          </a:ln>
        </p:spPr>
        <p:txBody>
          <a:bodyPr/>
          <a:lstStyle/>
          <a:p>
            <a:pPr algn="ctr">
              <a:defRPr sz="2250" b="1" i="0">
                <a:solidFill>
                  <a:srgbClr val="1E3A8A"/>
                </a:solidFill>
              </a:defRPr>
            </a:pPr>
            <a:r>
              <a:rPr sz="2250" b="1" i="0">
                <a:solidFill>
                  <a:srgbClr val="1E3A8A"/>
                </a:solidFill>
              </a:rPr>
              <a:t>形式化：f(A, K) → y,  y ∈ {0, 1}</a:t>
            </a:r>
          </a:p>
        </p:txBody>
      </p:sp>
      <p:sp>
        <p:nvSpPr>
          <p:cNvPr id="12" name="矩形 11">
            <a:extLst>
              <a:ext uri="{FF2B5EF4-FFF2-40B4-BE49-F238E27FC236}">
                <a16:creationId xmlns:a16="http://schemas.microsoft.com/office/drawing/2014/main" id="{2EE3C367-BE4E-4166-BEC1-652A428D5C3E}"/>
              </a:ext>
            </a:extLst>
          </p:cNvPr>
          <p:cNvSpPr>
            <a:spLocks noGrp="1"/>
          </p:cNvSpPr>
          <p:nvPr/>
        </p:nvSpPr>
        <p:spPr>
          <a:xfrm>
            <a:off x="781050" y="5857875"/>
            <a:ext cx="8382000" cy="24765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资料来源：CLUEbenchmark/CLUE 官方任务说明</a:t>
            </a:r>
          </a:p>
        </p:txBody>
      </p:sp>
      <p:sp>
        <p:nvSpPr>
          <p:cNvPr id="13" name="矩形 12">
            <a:extLst>
              <a:ext uri="{FF2B5EF4-FFF2-40B4-BE49-F238E27FC236}">
                <a16:creationId xmlns:a16="http://schemas.microsoft.com/office/drawing/2014/main" id="{7C98ABB1-347D-4506-84A7-5ECCF032EDDB}"/>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14" name="矩形 13">
            <a:extLst>
              <a:ext uri="{FF2B5EF4-FFF2-40B4-BE49-F238E27FC236}">
                <a16:creationId xmlns:a16="http://schemas.microsoft.com/office/drawing/2014/main" id="{9768C58B-9B1B-4CD1-8502-0A98DB9140D1}"/>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04</a:t>
            </a:r>
          </a:p>
        </p:txBody>
      </p:sp>
    </p:spTree>
    <p:extLst>
      <p:ext uri="{BB962C8B-B14F-4D97-AF65-F5344CB8AC3E}">
        <p14:creationId xmlns:p14="http://schemas.microsoft.com/office/powerpoint/2010/main" val="658029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0A12AB39-E8B2-42A9-8226-B330BB2FAB29}"/>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相关工作与技术路线</a:t>
            </a:r>
          </a:p>
        </p:txBody>
      </p:sp>
      <p:sp>
        <p:nvSpPr>
          <p:cNvPr id="2" name="矩形 1">
            <a:extLst>
              <a:ext uri="{FF2B5EF4-FFF2-40B4-BE49-F238E27FC236}">
                <a16:creationId xmlns:a16="http://schemas.microsoft.com/office/drawing/2014/main" id="{768F332D-13C3-4FFB-9768-F92F262148F2}"/>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FC383373-35A0-4DE5-AB5A-96B59AB8ABC1}"/>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从词面统计到上下文语义建模</a:t>
            </a:r>
          </a:p>
        </p:txBody>
      </p:sp>
      <p:sp>
        <p:nvSpPr>
          <p:cNvPr id="4" name="矩形: 圆角 3">
            <a:extLst>
              <a:ext uri="{FF2B5EF4-FFF2-40B4-BE49-F238E27FC236}">
                <a16:creationId xmlns:a16="http://schemas.microsoft.com/office/drawing/2014/main" id="{C0AB9370-1E42-4B59-99A5-7CE8F2A79FF3}"/>
              </a:ext>
            </a:extLst>
          </p:cNvPr>
          <p:cNvSpPr>
            <a:spLocks noGrp="1"/>
          </p:cNvSpPr>
          <p:nvPr/>
        </p:nvSpPr>
        <p:spPr>
          <a:xfrm>
            <a:off x="781050" y="1562100"/>
            <a:ext cx="3219450" cy="2724150"/>
          </a:xfrm>
          <a:prstGeom prst="roundRect">
            <a:avLst>
              <a:gd name="adj" fmla="val 4196"/>
            </a:avLst>
          </a:prstGeom>
          <a:solidFill>
            <a:srgbClr val="FFFFFF"/>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11D503B6-5FE2-44C1-82FA-6FAA3096ECBB}"/>
              </a:ext>
            </a:extLst>
          </p:cNvPr>
          <p:cNvSpPr>
            <a:spLocks noGrp="1"/>
          </p:cNvSpPr>
          <p:nvPr/>
        </p:nvSpPr>
        <p:spPr>
          <a:xfrm>
            <a:off x="781050" y="1562100"/>
            <a:ext cx="3219450" cy="85725"/>
          </a:xfrm>
          <a:prstGeom prst="rect">
            <a:avLst/>
          </a:prstGeom>
          <a:solidFill>
            <a:srgbClr val="2563EB"/>
          </a:solidFill>
          <a:ln w="0">
            <a:noFill/>
            <a:prstDash val="solid"/>
          </a:ln>
        </p:spPr>
        <p:txBody>
          <a:bodyPr/>
          <a:lstStyle/>
          <a:p>
            <a:endParaRPr lang="zh-CN" altLang="en-US"/>
          </a:p>
        </p:txBody>
      </p:sp>
      <p:sp>
        <p:nvSpPr>
          <p:cNvPr id="6" name="矩形 5">
            <a:extLst>
              <a:ext uri="{FF2B5EF4-FFF2-40B4-BE49-F238E27FC236}">
                <a16:creationId xmlns:a16="http://schemas.microsoft.com/office/drawing/2014/main" id="{C3C554F3-96F2-4F8C-B41E-81141A6807B1}"/>
              </a:ext>
            </a:extLst>
          </p:cNvPr>
          <p:cNvSpPr>
            <a:spLocks noGrp="1"/>
          </p:cNvSpPr>
          <p:nvPr/>
        </p:nvSpPr>
        <p:spPr>
          <a:xfrm>
            <a:off x="1047750" y="1924050"/>
            <a:ext cx="2714625" cy="323850"/>
          </a:xfrm>
          <a:prstGeom prst="rect">
            <a:avLst/>
          </a:prstGeom>
          <a:noFill/>
          <a:ln w="0">
            <a:noFill/>
            <a:prstDash val="solid"/>
          </a:ln>
        </p:spPr>
        <p:txBody>
          <a:bodyPr/>
          <a:lstStyle/>
          <a:p>
            <a:pPr algn="l">
              <a:defRPr sz="1875" b="1" i="0">
                <a:solidFill>
                  <a:srgbClr val="2563EB"/>
                </a:solidFill>
              </a:defRPr>
            </a:pPr>
            <a:r>
              <a:rPr sz="1875" b="1" i="0">
                <a:solidFill>
                  <a:srgbClr val="2563EB"/>
                </a:solidFill>
              </a:rPr>
              <a:t>传统文本表示</a:t>
            </a:r>
          </a:p>
        </p:txBody>
      </p:sp>
      <p:sp>
        <p:nvSpPr>
          <p:cNvPr id="7" name="矩形 6">
            <a:extLst>
              <a:ext uri="{FF2B5EF4-FFF2-40B4-BE49-F238E27FC236}">
                <a16:creationId xmlns:a16="http://schemas.microsoft.com/office/drawing/2014/main" id="{5B9A4E0B-DED6-4B67-94F1-357DA25A9445}"/>
              </a:ext>
            </a:extLst>
          </p:cNvPr>
          <p:cNvSpPr>
            <a:spLocks noGrp="1"/>
          </p:cNvSpPr>
          <p:nvPr/>
        </p:nvSpPr>
        <p:spPr>
          <a:xfrm>
            <a:off x="1047750" y="2476500"/>
            <a:ext cx="2686050" cy="1295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Bag-of-Words、N-Gram、TF-IDF</a:t>
            </a:r>
          </a:p>
          <a:p>
            <a:pPr algn="l">
              <a:defRPr sz="1500" b="0" i="0">
                <a:solidFill>
                  <a:srgbClr val="0F172A"/>
                </a:solidFill>
              </a:defRPr>
            </a:pPr>
            <a:r>
              <a:rPr sz="1500" b="0" i="0">
                <a:solidFill>
                  <a:srgbClr val="0F172A"/>
                </a:solidFill>
              </a:rPr>
              <a:t>优点：速度快、可解释</a:t>
            </a:r>
          </a:p>
          <a:p>
            <a:pPr algn="l">
              <a:defRPr sz="1500" b="0" i="0">
                <a:solidFill>
                  <a:srgbClr val="0F172A"/>
                </a:solidFill>
              </a:defRPr>
            </a:pPr>
            <a:r>
              <a:rPr sz="1500" b="0" i="0">
                <a:solidFill>
                  <a:srgbClr val="0F172A"/>
                </a:solidFill>
              </a:rPr>
              <a:t>缺点：依赖词面共现，语义弱</a:t>
            </a:r>
          </a:p>
        </p:txBody>
      </p:sp>
      <p:sp>
        <p:nvSpPr>
          <p:cNvPr id="8" name="矩形: 圆角 7">
            <a:extLst>
              <a:ext uri="{FF2B5EF4-FFF2-40B4-BE49-F238E27FC236}">
                <a16:creationId xmlns:a16="http://schemas.microsoft.com/office/drawing/2014/main" id="{FEDE32C6-A0F6-4C55-9EFD-10191481AF9B}"/>
              </a:ext>
            </a:extLst>
          </p:cNvPr>
          <p:cNvSpPr>
            <a:spLocks noGrp="1"/>
          </p:cNvSpPr>
          <p:nvPr/>
        </p:nvSpPr>
        <p:spPr>
          <a:xfrm>
            <a:off x="4457700" y="1562100"/>
            <a:ext cx="3219450" cy="2724150"/>
          </a:xfrm>
          <a:prstGeom prst="roundRect">
            <a:avLst>
              <a:gd name="adj" fmla="val 4196"/>
            </a:avLst>
          </a:prstGeom>
          <a:solidFill>
            <a:srgbClr val="FFFFFF"/>
          </a:solidFill>
          <a:ln w="9525">
            <a:solidFill>
              <a:srgbClr val="E2E8F0"/>
            </a:solidFill>
            <a:prstDash val="solid"/>
          </a:ln>
        </p:spPr>
        <p:txBody>
          <a:bodyPr/>
          <a:lstStyle/>
          <a:p>
            <a:endParaRPr lang="zh-CN" altLang="en-US"/>
          </a:p>
        </p:txBody>
      </p:sp>
      <p:sp>
        <p:nvSpPr>
          <p:cNvPr id="9" name="矩形 8">
            <a:extLst>
              <a:ext uri="{FF2B5EF4-FFF2-40B4-BE49-F238E27FC236}">
                <a16:creationId xmlns:a16="http://schemas.microsoft.com/office/drawing/2014/main" id="{3D656530-B548-4CC5-A7AD-4946BE16C471}"/>
              </a:ext>
            </a:extLst>
          </p:cNvPr>
          <p:cNvSpPr>
            <a:spLocks noGrp="1"/>
          </p:cNvSpPr>
          <p:nvPr/>
        </p:nvSpPr>
        <p:spPr>
          <a:xfrm>
            <a:off x="4457700" y="1562100"/>
            <a:ext cx="3219450" cy="85725"/>
          </a:xfrm>
          <a:prstGeom prst="rect">
            <a:avLst/>
          </a:prstGeom>
          <a:solidFill>
            <a:srgbClr val="0F766E"/>
          </a:solidFill>
          <a:ln w="0">
            <a:noFill/>
            <a:prstDash val="solid"/>
          </a:ln>
        </p:spPr>
        <p:txBody>
          <a:bodyPr/>
          <a:lstStyle/>
          <a:p>
            <a:endParaRPr lang="zh-CN" altLang="en-US"/>
          </a:p>
        </p:txBody>
      </p:sp>
      <p:sp>
        <p:nvSpPr>
          <p:cNvPr id="10" name="矩形 9">
            <a:extLst>
              <a:ext uri="{FF2B5EF4-FFF2-40B4-BE49-F238E27FC236}">
                <a16:creationId xmlns:a16="http://schemas.microsoft.com/office/drawing/2014/main" id="{48088A5C-B859-49C0-90E4-B58C88636485}"/>
              </a:ext>
            </a:extLst>
          </p:cNvPr>
          <p:cNvSpPr>
            <a:spLocks noGrp="1"/>
          </p:cNvSpPr>
          <p:nvPr/>
        </p:nvSpPr>
        <p:spPr>
          <a:xfrm>
            <a:off x="4724400" y="1924050"/>
            <a:ext cx="2714625" cy="323850"/>
          </a:xfrm>
          <a:prstGeom prst="rect">
            <a:avLst/>
          </a:prstGeom>
          <a:noFill/>
          <a:ln w="0">
            <a:noFill/>
            <a:prstDash val="solid"/>
          </a:ln>
        </p:spPr>
        <p:txBody>
          <a:bodyPr/>
          <a:lstStyle/>
          <a:p>
            <a:pPr algn="l">
              <a:defRPr sz="1875" b="1" i="0">
                <a:solidFill>
                  <a:srgbClr val="0F766E"/>
                </a:solidFill>
              </a:defRPr>
            </a:pPr>
            <a:r>
              <a:rPr sz="1875" b="1" i="0">
                <a:solidFill>
                  <a:srgbClr val="0F766E"/>
                </a:solidFill>
              </a:rPr>
              <a:t>预训练编码器</a:t>
            </a:r>
          </a:p>
        </p:txBody>
      </p:sp>
      <p:sp>
        <p:nvSpPr>
          <p:cNvPr id="11" name="矩形 10">
            <a:extLst>
              <a:ext uri="{FF2B5EF4-FFF2-40B4-BE49-F238E27FC236}">
                <a16:creationId xmlns:a16="http://schemas.microsoft.com/office/drawing/2014/main" id="{7D2376E5-DF4D-4820-A26C-B07329D2E5D6}"/>
              </a:ext>
            </a:extLst>
          </p:cNvPr>
          <p:cNvSpPr>
            <a:spLocks noGrp="1"/>
          </p:cNvSpPr>
          <p:nvPr/>
        </p:nvSpPr>
        <p:spPr>
          <a:xfrm>
            <a:off x="4724400" y="2476500"/>
            <a:ext cx="2686050" cy="1295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BERT、RoBERTa、Chinese BERT-wwm、MacBERT</a:t>
            </a:r>
          </a:p>
          <a:p>
            <a:pPr algn="l">
              <a:defRPr sz="1500" b="0" i="0">
                <a:solidFill>
                  <a:srgbClr val="0F172A"/>
                </a:solidFill>
              </a:defRPr>
            </a:pPr>
            <a:r>
              <a:rPr sz="1500" b="0" i="0">
                <a:solidFill>
                  <a:srgbClr val="0F172A"/>
                </a:solidFill>
              </a:rPr>
              <a:t>优点：上下文语义强</a:t>
            </a:r>
          </a:p>
          <a:p>
            <a:pPr algn="l">
              <a:defRPr sz="1500" b="0" i="0">
                <a:solidFill>
                  <a:srgbClr val="0F172A"/>
                </a:solidFill>
              </a:defRPr>
            </a:pPr>
            <a:r>
              <a:rPr sz="1500" b="0" i="0">
                <a:solidFill>
                  <a:srgbClr val="0F172A"/>
                </a:solidFill>
              </a:rPr>
              <a:t>缺点：训练成本更高</a:t>
            </a:r>
          </a:p>
        </p:txBody>
      </p:sp>
      <p:sp>
        <p:nvSpPr>
          <p:cNvPr id="12" name="矩形: 圆角 11">
            <a:extLst>
              <a:ext uri="{FF2B5EF4-FFF2-40B4-BE49-F238E27FC236}">
                <a16:creationId xmlns:a16="http://schemas.microsoft.com/office/drawing/2014/main" id="{096F519C-7F2E-4FC3-8DE0-CB36B49A2CE0}"/>
              </a:ext>
            </a:extLst>
          </p:cNvPr>
          <p:cNvSpPr>
            <a:spLocks noGrp="1"/>
          </p:cNvSpPr>
          <p:nvPr/>
        </p:nvSpPr>
        <p:spPr>
          <a:xfrm>
            <a:off x="8134350" y="1562100"/>
            <a:ext cx="3219450" cy="2724150"/>
          </a:xfrm>
          <a:prstGeom prst="roundRect">
            <a:avLst>
              <a:gd name="adj" fmla="val 4196"/>
            </a:avLst>
          </a:prstGeom>
          <a:solidFill>
            <a:srgbClr val="FFFFFF"/>
          </a:solidFill>
          <a:ln w="9525">
            <a:solidFill>
              <a:srgbClr val="E2E8F0"/>
            </a:solidFill>
            <a:prstDash val="solid"/>
          </a:ln>
        </p:spPr>
        <p:txBody>
          <a:bodyPr/>
          <a:lstStyle/>
          <a:p>
            <a:endParaRPr lang="zh-CN" altLang="en-US"/>
          </a:p>
        </p:txBody>
      </p:sp>
      <p:sp>
        <p:nvSpPr>
          <p:cNvPr id="13" name="矩形 12">
            <a:extLst>
              <a:ext uri="{FF2B5EF4-FFF2-40B4-BE49-F238E27FC236}">
                <a16:creationId xmlns:a16="http://schemas.microsoft.com/office/drawing/2014/main" id="{EDE233F0-C99F-4ACC-8A07-58AA2B426F18}"/>
              </a:ext>
            </a:extLst>
          </p:cNvPr>
          <p:cNvSpPr>
            <a:spLocks noGrp="1"/>
          </p:cNvSpPr>
          <p:nvPr/>
        </p:nvSpPr>
        <p:spPr>
          <a:xfrm>
            <a:off x="8134350" y="1562100"/>
            <a:ext cx="3219450" cy="85725"/>
          </a:xfrm>
          <a:prstGeom prst="rect">
            <a:avLst/>
          </a:prstGeom>
          <a:solidFill>
            <a:srgbClr val="EA580C"/>
          </a:solidFill>
          <a:ln w="0">
            <a:noFill/>
            <a:prstDash val="solid"/>
          </a:ln>
        </p:spPr>
        <p:txBody>
          <a:bodyPr/>
          <a:lstStyle/>
          <a:p>
            <a:endParaRPr lang="zh-CN" altLang="en-US"/>
          </a:p>
        </p:txBody>
      </p:sp>
      <p:sp>
        <p:nvSpPr>
          <p:cNvPr id="14" name="矩形 13">
            <a:extLst>
              <a:ext uri="{FF2B5EF4-FFF2-40B4-BE49-F238E27FC236}">
                <a16:creationId xmlns:a16="http://schemas.microsoft.com/office/drawing/2014/main" id="{8EDFE0C2-E7E0-4293-B7F1-7978D33A2131}"/>
              </a:ext>
            </a:extLst>
          </p:cNvPr>
          <p:cNvSpPr>
            <a:spLocks noGrp="1"/>
          </p:cNvSpPr>
          <p:nvPr/>
        </p:nvSpPr>
        <p:spPr>
          <a:xfrm>
            <a:off x="8401050" y="1924050"/>
            <a:ext cx="2714625" cy="323850"/>
          </a:xfrm>
          <a:prstGeom prst="rect">
            <a:avLst/>
          </a:prstGeom>
          <a:noFill/>
          <a:ln w="0">
            <a:noFill/>
            <a:prstDash val="solid"/>
          </a:ln>
        </p:spPr>
        <p:txBody>
          <a:bodyPr/>
          <a:lstStyle/>
          <a:p>
            <a:pPr algn="l">
              <a:defRPr sz="1875" b="1" i="0">
                <a:solidFill>
                  <a:srgbClr val="EA580C"/>
                </a:solidFill>
              </a:defRPr>
            </a:pPr>
            <a:r>
              <a:rPr sz="1875" b="1" i="0">
                <a:solidFill>
                  <a:srgbClr val="EA580C"/>
                </a:solidFill>
              </a:rPr>
              <a:t>大模型方向</a:t>
            </a:r>
          </a:p>
        </p:txBody>
      </p:sp>
      <p:sp>
        <p:nvSpPr>
          <p:cNvPr id="15" name="矩形 14">
            <a:extLst>
              <a:ext uri="{FF2B5EF4-FFF2-40B4-BE49-F238E27FC236}">
                <a16:creationId xmlns:a16="http://schemas.microsoft.com/office/drawing/2014/main" id="{56CDB49C-6226-4E90-93F0-7BFF67FE8C4E}"/>
              </a:ext>
            </a:extLst>
          </p:cNvPr>
          <p:cNvSpPr>
            <a:spLocks noGrp="1"/>
          </p:cNvSpPr>
          <p:nvPr/>
        </p:nvSpPr>
        <p:spPr>
          <a:xfrm>
            <a:off x="8401050" y="2476500"/>
            <a:ext cx="2686050" cy="1295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提示式判断、解释生成、辅助错误分析</a:t>
            </a:r>
          </a:p>
          <a:p>
            <a:pPr algn="l">
              <a:defRPr sz="1500" b="0" i="0">
                <a:solidFill>
                  <a:srgbClr val="0F172A"/>
                </a:solidFill>
              </a:defRPr>
            </a:pPr>
            <a:r>
              <a:rPr sz="1500" b="0" i="0">
                <a:solidFill>
                  <a:srgbClr val="0F172A"/>
                </a:solidFill>
              </a:rPr>
              <a:t>优点：可解释性较好</a:t>
            </a:r>
          </a:p>
          <a:p>
            <a:pPr algn="l">
              <a:defRPr sz="1500" b="0" i="0">
                <a:solidFill>
                  <a:srgbClr val="0F172A"/>
                </a:solidFill>
              </a:defRPr>
            </a:pPr>
            <a:r>
              <a:rPr sz="1500" b="0" i="0">
                <a:solidFill>
                  <a:srgbClr val="0F172A"/>
                </a:solidFill>
              </a:rPr>
              <a:t>缺点：成本、稳定性、复现性需控制</a:t>
            </a:r>
          </a:p>
        </p:txBody>
      </p:sp>
      <p:sp>
        <p:nvSpPr>
          <p:cNvPr id="16" name="矩形: 圆角 15">
            <a:extLst>
              <a:ext uri="{FF2B5EF4-FFF2-40B4-BE49-F238E27FC236}">
                <a16:creationId xmlns:a16="http://schemas.microsoft.com/office/drawing/2014/main" id="{C3905C97-164F-47A6-8FFC-E77ACCF910F6}"/>
              </a:ext>
            </a:extLst>
          </p:cNvPr>
          <p:cNvSpPr>
            <a:spLocks noGrp="1"/>
          </p:cNvSpPr>
          <p:nvPr/>
        </p:nvSpPr>
        <p:spPr>
          <a:xfrm>
            <a:off x="1181100" y="4762500"/>
            <a:ext cx="9829800" cy="800100"/>
          </a:xfrm>
          <a:prstGeom prst="roundRect">
            <a:avLst>
              <a:gd name="adj" fmla="val 14286"/>
            </a:avLst>
          </a:prstGeom>
          <a:solidFill>
            <a:srgbClr val="ECFEFF"/>
          </a:solidFill>
          <a:ln w="9525">
            <a:solidFill>
              <a:srgbClr val="0891B2"/>
            </a:solidFill>
            <a:prstDash val="solid"/>
          </a:ln>
        </p:spPr>
        <p:txBody>
          <a:bodyPr/>
          <a:lstStyle/>
          <a:p>
            <a:endParaRPr lang="zh-CN" altLang="en-US"/>
          </a:p>
        </p:txBody>
      </p:sp>
      <p:sp>
        <p:nvSpPr>
          <p:cNvPr id="17" name="矩形 16">
            <a:extLst>
              <a:ext uri="{FF2B5EF4-FFF2-40B4-BE49-F238E27FC236}">
                <a16:creationId xmlns:a16="http://schemas.microsoft.com/office/drawing/2014/main" id="{FF4E3676-5E6D-4DE8-B548-088E3F0A3841}"/>
              </a:ext>
            </a:extLst>
          </p:cNvPr>
          <p:cNvSpPr>
            <a:spLocks noGrp="1"/>
          </p:cNvSpPr>
          <p:nvPr/>
        </p:nvSpPr>
        <p:spPr>
          <a:xfrm>
            <a:off x="1543050" y="4991100"/>
            <a:ext cx="9105900" cy="323850"/>
          </a:xfrm>
          <a:prstGeom prst="rect">
            <a:avLst/>
          </a:prstGeom>
          <a:noFill/>
          <a:ln w="0">
            <a:noFill/>
            <a:prstDash val="solid"/>
          </a:ln>
        </p:spPr>
        <p:txBody>
          <a:bodyPr/>
          <a:lstStyle/>
          <a:p>
            <a:pPr algn="ctr">
              <a:defRPr sz="1800" b="1" i="0">
                <a:solidFill>
                  <a:srgbClr val="1E3A8A"/>
                </a:solidFill>
              </a:defRPr>
            </a:pPr>
            <a:r>
              <a:rPr sz="1800" b="1" i="0" dirty="0" err="1">
                <a:solidFill>
                  <a:srgbClr val="1E3A8A"/>
                </a:solidFill>
              </a:rPr>
              <a:t>本作业选择：char</a:t>
            </a:r>
            <a:r>
              <a:rPr sz="1800" b="1" i="0" dirty="0">
                <a:solidFill>
                  <a:srgbClr val="1E3A8A"/>
                </a:solidFill>
              </a:rPr>
              <a:t> N-Gram TF-IDF + Logistic Regression </a:t>
            </a:r>
            <a:r>
              <a:rPr sz="1800" b="1" i="0" dirty="0" err="1">
                <a:solidFill>
                  <a:srgbClr val="1E3A8A"/>
                </a:solidFill>
              </a:rPr>
              <a:t>作为基线，BERT-base-Chinese</a:t>
            </a:r>
            <a:r>
              <a:rPr sz="1800" b="1" i="0" dirty="0">
                <a:solidFill>
                  <a:srgbClr val="1E3A8A"/>
                </a:solidFill>
              </a:rPr>
              <a:t> </a:t>
            </a:r>
            <a:r>
              <a:rPr sz="1800" b="1" i="0" dirty="0" err="1">
                <a:solidFill>
                  <a:srgbClr val="1E3A8A"/>
                </a:solidFill>
              </a:rPr>
              <a:t>微调作为主模型</a:t>
            </a:r>
            <a:r>
              <a:rPr sz="1800" b="1" i="0" dirty="0">
                <a:solidFill>
                  <a:srgbClr val="1E3A8A"/>
                </a:solidFill>
              </a:rPr>
              <a:t>。</a:t>
            </a:r>
          </a:p>
        </p:txBody>
      </p:sp>
      <p:sp>
        <p:nvSpPr>
          <p:cNvPr id="18" name="矩形 17">
            <a:extLst>
              <a:ext uri="{FF2B5EF4-FFF2-40B4-BE49-F238E27FC236}">
                <a16:creationId xmlns:a16="http://schemas.microsoft.com/office/drawing/2014/main" id="{2B8A5246-4CFE-454C-BE76-880E9E1D57C4}"/>
              </a:ext>
            </a:extLst>
          </p:cNvPr>
          <p:cNvSpPr>
            <a:spLocks noGrp="1"/>
          </p:cNvSpPr>
          <p:nvPr/>
        </p:nvSpPr>
        <p:spPr>
          <a:xfrm>
            <a:off x="781050" y="5867400"/>
            <a:ext cx="8572500" cy="24765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参考：BERT、Chinese BERT-wwm、MacBERT 与 CLUE 官方基线</a:t>
            </a:r>
          </a:p>
        </p:txBody>
      </p:sp>
      <p:sp>
        <p:nvSpPr>
          <p:cNvPr id="19" name="矩形 18">
            <a:extLst>
              <a:ext uri="{FF2B5EF4-FFF2-40B4-BE49-F238E27FC236}">
                <a16:creationId xmlns:a16="http://schemas.microsoft.com/office/drawing/2014/main" id="{A5A24A87-CFAD-410E-A567-CFA5A741E38D}"/>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20" name="矩形 19">
            <a:extLst>
              <a:ext uri="{FF2B5EF4-FFF2-40B4-BE49-F238E27FC236}">
                <a16:creationId xmlns:a16="http://schemas.microsoft.com/office/drawing/2014/main" id="{8EDCF2E1-1C57-4FC4-8047-E278667A3484}"/>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05</a:t>
            </a:r>
          </a:p>
        </p:txBody>
      </p:sp>
    </p:spTree>
    <p:extLst>
      <p:ext uri="{BB962C8B-B14F-4D97-AF65-F5344CB8AC3E}">
        <p14:creationId xmlns:p14="http://schemas.microsoft.com/office/powerpoint/2010/main" val="2026374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3" name="矩形 52">
            <a:extLst>
              <a:ext uri="{FF2B5EF4-FFF2-40B4-BE49-F238E27FC236}">
                <a16:creationId xmlns:a16="http://schemas.microsoft.com/office/drawing/2014/main" id="{38A4CF15-DE10-4A03-86E5-6213DAF02621}"/>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数据集概况</a:t>
            </a:r>
          </a:p>
        </p:txBody>
      </p:sp>
      <p:sp>
        <p:nvSpPr>
          <p:cNvPr id="2" name="矩形 1">
            <a:extLst>
              <a:ext uri="{FF2B5EF4-FFF2-40B4-BE49-F238E27FC236}">
                <a16:creationId xmlns:a16="http://schemas.microsoft.com/office/drawing/2014/main" id="{11356887-AB35-4482-9C76-8DEFF97354BD}"/>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DC59BECC-C93C-46F0-A9FB-ED9B87E041B3}"/>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训练集和验证集正负样本完全均衡</a:t>
            </a:r>
          </a:p>
        </p:txBody>
      </p:sp>
      <p:sp>
        <p:nvSpPr>
          <p:cNvPr id="4" name="矩形 3">
            <a:extLst>
              <a:ext uri="{FF2B5EF4-FFF2-40B4-BE49-F238E27FC236}">
                <a16:creationId xmlns:a16="http://schemas.microsoft.com/office/drawing/2014/main" id="{849229E0-2775-4624-A902-EF7528D68E7A}"/>
              </a:ext>
            </a:extLst>
          </p:cNvPr>
          <p:cNvSpPr>
            <a:spLocks noGrp="1"/>
          </p:cNvSpPr>
          <p:nvPr/>
        </p:nvSpPr>
        <p:spPr>
          <a:xfrm>
            <a:off x="723900" y="1524000"/>
            <a:ext cx="1428750" cy="533400"/>
          </a:xfrm>
          <a:prstGeom prst="rect">
            <a:avLst/>
          </a:prstGeom>
          <a:solidFill>
            <a:srgbClr val="1E3A8A"/>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1563764C-3604-4FF0-A1D4-6854361A6A9A}"/>
              </a:ext>
            </a:extLst>
          </p:cNvPr>
          <p:cNvSpPr>
            <a:spLocks noGrp="1"/>
          </p:cNvSpPr>
          <p:nvPr/>
        </p:nvSpPr>
        <p:spPr>
          <a:xfrm>
            <a:off x="819150" y="1600200"/>
            <a:ext cx="1238250" cy="419100"/>
          </a:xfrm>
          <a:prstGeom prst="rect">
            <a:avLst/>
          </a:prstGeom>
          <a:noFill/>
          <a:ln w="0">
            <a:noFill/>
            <a:prstDash val="solid"/>
          </a:ln>
        </p:spPr>
        <p:txBody>
          <a:bodyPr/>
          <a:lstStyle/>
          <a:p>
            <a:pPr algn="l">
              <a:defRPr sz="1350" b="1" i="0">
                <a:solidFill>
                  <a:srgbClr val="FFFFFF"/>
                </a:solidFill>
              </a:defRPr>
            </a:pPr>
            <a:r>
              <a:rPr sz="1350" b="1" i="0">
                <a:solidFill>
                  <a:srgbClr val="FFFFFF"/>
                </a:solidFill>
              </a:rPr>
              <a:t>划分</a:t>
            </a:r>
          </a:p>
        </p:txBody>
      </p:sp>
      <p:sp>
        <p:nvSpPr>
          <p:cNvPr id="6" name="矩形 5">
            <a:extLst>
              <a:ext uri="{FF2B5EF4-FFF2-40B4-BE49-F238E27FC236}">
                <a16:creationId xmlns:a16="http://schemas.microsoft.com/office/drawing/2014/main" id="{ABC8ECBA-A3D0-4F13-BC1E-E5291EFEF100}"/>
              </a:ext>
            </a:extLst>
          </p:cNvPr>
          <p:cNvSpPr>
            <a:spLocks noGrp="1"/>
          </p:cNvSpPr>
          <p:nvPr/>
        </p:nvSpPr>
        <p:spPr>
          <a:xfrm>
            <a:off x="2152650" y="1524000"/>
            <a:ext cx="1428750" cy="533400"/>
          </a:xfrm>
          <a:prstGeom prst="rect">
            <a:avLst/>
          </a:prstGeom>
          <a:solidFill>
            <a:srgbClr val="1E3A8A"/>
          </a:solidFill>
          <a:ln w="9525">
            <a:solidFill>
              <a:srgbClr val="E2E8F0"/>
            </a:solidFill>
            <a:prstDash val="solid"/>
          </a:ln>
        </p:spPr>
        <p:txBody>
          <a:bodyPr/>
          <a:lstStyle/>
          <a:p>
            <a:endParaRPr lang="zh-CN" altLang="en-US"/>
          </a:p>
        </p:txBody>
      </p:sp>
      <p:sp>
        <p:nvSpPr>
          <p:cNvPr id="7" name="矩形 6">
            <a:extLst>
              <a:ext uri="{FF2B5EF4-FFF2-40B4-BE49-F238E27FC236}">
                <a16:creationId xmlns:a16="http://schemas.microsoft.com/office/drawing/2014/main" id="{FCC1E455-815E-4D0D-89FF-72078BD86103}"/>
              </a:ext>
            </a:extLst>
          </p:cNvPr>
          <p:cNvSpPr>
            <a:spLocks noGrp="1"/>
          </p:cNvSpPr>
          <p:nvPr/>
        </p:nvSpPr>
        <p:spPr>
          <a:xfrm>
            <a:off x="2247900" y="1600200"/>
            <a:ext cx="1238250" cy="4191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样本数</a:t>
            </a:r>
          </a:p>
        </p:txBody>
      </p:sp>
      <p:sp>
        <p:nvSpPr>
          <p:cNvPr id="8" name="矩形 7">
            <a:extLst>
              <a:ext uri="{FF2B5EF4-FFF2-40B4-BE49-F238E27FC236}">
                <a16:creationId xmlns:a16="http://schemas.microsoft.com/office/drawing/2014/main" id="{46235392-2EB7-4083-AD59-7F94D589F3E8}"/>
              </a:ext>
            </a:extLst>
          </p:cNvPr>
          <p:cNvSpPr>
            <a:spLocks noGrp="1"/>
          </p:cNvSpPr>
          <p:nvPr/>
        </p:nvSpPr>
        <p:spPr>
          <a:xfrm>
            <a:off x="3581400" y="1524000"/>
            <a:ext cx="1428750" cy="533400"/>
          </a:xfrm>
          <a:prstGeom prst="rect">
            <a:avLst/>
          </a:prstGeom>
          <a:solidFill>
            <a:srgbClr val="1E3A8A"/>
          </a:solidFill>
          <a:ln w="9525">
            <a:solidFill>
              <a:srgbClr val="E2E8F0"/>
            </a:solidFill>
            <a:prstDash val="solid"/>
          </a:ln>
        </p:spPr>
        <p:txBody>
          <a:bodyPr/>
          <a:lstStyle/>
          <a:p>
            <a:endParaRPr lang="zh-CN" altLang="en-US"/>
          </a:p>
        </p:txBody>
      </p:sp>
      <p:sp>
        <p:nvSpPr>
          <p:cNvPr id="9" name="矩形 8">
            <a:extLst>
              <a:ext uri="{FF2B5EF4-FFF2-40B4-BE49-F238E27FC236}">
                <a16:creationId xmlns:a16="http://schemas.microsoft.com/office/drawing/2014/main" id="{F39AD6C0-9974-469B-AF9B-BB8FEF03574D}"/>
              </a:ext>
            </a:extLst>
          </p:cNvPr>
          <p:cNvSpPr>
            <a:spLocks noGrp="1"/>
          </p:cNvSpPr>
          <p:nvPr/>
        </p:nvSpPr>
        <p:spPr>
          <a:xfrm>
            <a:off x="3676650" y="1600200"/>
            <a:ext cx="1238250" cy="4191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label 0</a:t>
            </a:r>
          </a:p>
        </p:txBody>
      </p:sp>
      <p:sp>
        <p:nvSpPr>
          <p:cNvPr id="10" name="矩形 9">
            <a:extLst>
              <a:ext uri="{FF2B5EF4-FFF2-40B4-BE49-F238E27FC236}">
                <a16:creationId xmlns:a16="http://schemas.microsoft.com/office/drawing/2014/main" id="{490BA769-C2DB-4A52-B6BD-23BACAEFE175}"/>
              </a:ext>
            </a:extLst>
          </p:cNvPr>
          <p:cNvSpPr>
            <a:spLocks noGrp="1"/>
          </p:cNvSpPr>
          <p:nvPr/>
        </p:nvSpPr>
        <p:spPr>
          <a:xfrm>
            <a:off x="5010150" y="1524000"/>
            <a:ext cx="1428750" cy="533400"/>
          </a:xfrm>
          <a:prstGeom prst="rect">
            <a:avLst/>
          </a:prstGeom>
          <a:solidFill>
            <a:srgbClr val="1E3A8A"/>
          </a:solidFill>
          <a:ln w="9525">
            <a:solidFill>
              <a:srgbClr val="E2E8F0"/>
            </a:solidFill>
            <a:prstDash val="solid"/>
          </a:ln>
        </p:spPr>
        <p:txBody>
          <a:bodyPr/>
          <a:lstStyle/>
          <a:p>
            <a:endParaRPr lang="zh-CN" altLang="en-US"/>
          </a:p>
        </p:txBody>
      </p:sp>
      <p:sp>
        <p:nvSpPr>
          <p:cNvPr id="11" name="矩形 10">
            <a:extLst>
              <a:ext uri="{FF2B5EF4-FFF2-40B4-BE49-F238E27FC236}">
                <a16:creationId xmlns:a16="http://schemas.microsoft.com/office/drawing/2014/main" id="{5A390B89-900C-417C-B3BE-3E4C14D9EF8B}"/>
              </a:ext>
            </a:extLst>
          </p:cNvPr>
          <p:cNvSpPr>
            <a:spLocks noGrp="1"/>
          </p:cNvSpPr>
          <p:nvPr/>
        </p:nvSpPr>
        <p:spPr>
          <a:xfrm>
            <a:off x="5105400" y="1600200"/>
            <a:ext cx="1238250" cy="4191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label 1</a:t>
            </a:r>
          </a:p>
        </p:txBody>
      </p:sp>
      <p:sp>
        <p:nvSpPr>
          <p:cNvPr id="12" name="矩形 11">
            <a:extLst>
              <a:ext uri="{FF2B5EF4-FFF2-40B4-BE49-F238E27FC236}">
                <a16:creationId xmlns:a16="http://schemas.microsoft.com/office/drawing/2014/main" id="{E02DDA74-676A-4FDA-89B5-C925A0180707}"/>
              </a:ext>
            </a:extLst>
          </p:cNvPr>
          <p:cNvSpPr>
            <a:spLocks noGrp="1"/>
          </p:cNvSpPr>
          <p:nvPr/>
        </p:nvSpPr>
        <p:spPr>
          <a:xfrm>
            <a:off x="6438900" y="1524000"/>
            <a:ext cx="1524000" cy="533400"/>
          </a:xfrm>
          <a:prstGeom prst="rect">
            <a:avLst/>
          </a:prstGeom>
          <a:solidFill>
            <a:srgbClr val="1E3A8A"/>
          </a:solidFill>
          <a:ln w="9525">
            <a:solidFill>
              <a:srgbClr val="E2E8F0"/>
            </a:solidFill>
            <a:prstDash val="solid"/>
          </a:ln>
        </p:spPr>
        <p:txBody>
          <a:bodyPr/>
          <a:lstStyle/>
          <a:p>
            <a:endParaRPr lang="zh-CN" altLang="en-US"/>
          </a:p>
        </p:txBody>
      </p:sp>
      <p:sp>
        <p:nvSpPr>
          <p:cNvPr id="13" name="矩形 12">
            <a:extLst>
              <a:ext uri="{FF2B5EF4-FFF2-40B4-BE49-F238E27FC236}">
                <a16:creationId xmlns:a16="http://schemas.microsoft.com/office/drawing/2014/main" id="{03422D0A-BAED-4C8F-BBB4-3C79BC321A1E}"/>
              </a:ext>
            </a:extLst>
          </p:cNvPr>
          <p:cNvSpPr>
            <a:spLocks noGrp="1"/>
          </p:cNvSpPr>
          <p:nvPr/>
        </p:nvSpPr>
        <p:spPr>
          <a:xfrm>
            <a:off x="6534150" y="1600200"/>
            <a:ext cx="1333500" cy="4191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摘要均长</a:t>
            </a:r>
          </a:p>
        </p:txBody>
      </p:sp>
      <p:sp>
        <p:nvSpPr>
          <p:cNvPr id="14" name="矩形 13">
            <a:extLst>
              <a:ext uri="{FF2B5EF4-FFF2-40B4-BE49-F238E27FC236}">
                <a16:creationId xmlns:a16="http://schemas.microsoft.com/office/drawing/2014/main" id="{3CB9B54D-C63E-46D3-AAA1-9244C2EE3F9D}"/>
              </a:ext>
            </a:extLst>
          </p:cNvPr>
          <p:cNvSpPr>
            <a:spLocks noGrp="1"/>
          </p:cNvSpPr>
          <p:nvPr/>
        </p:nvSpPr>
        <p:spPr>
          <a:xfrm>
            <a:off x="7962900" y="1524000"/>
            <a:ext cx="1524000" cy="533400"/>
          </a:xfrm>
          <a:prstGeom prst="rect">
            <a:avLst/>
          </a:prstGeom>
          <a:solidFill>
            <a:srgbClr val="1E3A8A"/>
          </a:solidFill>
          <a:ln w="9525">
            <a:solidFill>
              <a:srgbClr val="E2E8F0"/>
            </a:solidFill>
            <a:prstDash val="solid"/>
          </a:ln>
        </p:spPr>
        <p:txBody>
          <a:bodyPr/>
          <a:lstStyle/>
          <a:p>
            <a:endParaRPr lang="zh-CN" altLang="en-US"/>
          </a:p>
        </p:txBody>
      </p:sp>
      <p:sp>
        <p:nvSpPr>
          <p:cNvPr id="15" name="矩形 14">
            <a:extLst>
              <a:ext uri="{FF2B5EF4-FFF2-40B4-BE49-F238E27FC236}">
                <a16:creationId xmlns:a16="http://schemas.microsoft.com/office/drawing/2014/main" id="{F4F671C2-9F81-41B8-B950-69B236998DA0}"/>
              </a:ext>
            </a:extLst>
          </p:cNvPr>
          <p:cNvSpPr>
            <a:spLocks noGrp="1"/>
          </p:cNvSpPr>
          <p:nvPr/>
        </p:nvSpPr>
        <p:spPr>
          <a:xfrm>
            <a:off x="8058150" y="1600200"/>
            <a:ext cx="1333500" cy="4191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关键词均数</a:t>
            </a:r>
          </a:p>
        </p:txBody>
      </p:sp>
      <p:sp>
        <p:nvSpPr>
          <p:cNvPr id="16" name="矩形 15">
            <a:extLst>
              <a:ext uri="{FF2B5EF4-FFF2-40B4-BE49-F238E27FC236}">
                <a16:creationId xmlns:a16="http://schemas.microsoft.com/office/drawing/2014/main" id="{9D1BE33E-10A1-4670-9B8A-575D4E4666F9}"/>
              </a:ext>
            </a:extLst>
          </p:cNvPr>
          <p:cNvSpPr>
            <a:spLocks noGrp="1"/>
          </p:cNvSpPr>
          <p:nvPr/>
        </p:nvSpPr>
        <p:spPr>
          <a:xfrm>
            <a:off x="723900" y="20574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17" name="矩形 16">
            <a:extLst>
              <a:ext uri="{FF2B5EF4-FFF2-40B4-BE49-F238E27FC236}">
                <a16:creationId xmlns:a16="http://schemas.microsoft.com/office/drawing/2014/main" id="{76CD0730-B898-4542-AD8F-52495A5E8C43}"/>
              </a:ext>
            </a:extLst>
          </p:cNvPr>
          <p:cNvSpPr>
            <a:spLocks noGrp="1"/>
          </p:cNvSpPr>
          <p:nvPr/>
        </p:nvSpPr>
        <p:spPr>
          <a:xfrm>
            <a:off x="819150" y="2133600"/>
            <a:ext cx="1238250" cy="419100"/>
          </a:xfrm>
          <a:prstGeom prst="rect">
            <a:avLst/>
          </a:prstGeom>
          <a:noFill/>
          <a:ln w="0">
            <a:noFill/>
            <a:prstDash val="solid"/>
          </a:ln>
        </p:spPr>
        <p:txBody>
          <a:bodyPr/>
          <a:lstStyle/>
          <a:p>
            <a:pPr algn="l">
              <a:defRPr sz="1350" b="0" i="0">
                <a:solidFill>
                  <a:srgbClr val="0F172A"/>
                </a:solidFill>
              </a:defRPr>
            </a:pPr>
            <a:r>
              <a:rPr sz="1350" b="0" i="0">
                <a:solidFill>
                  <a:srgbClr val="0F172A"/>
                </a:solidFill>
              </a:rPr>
              <a:t>train</a:t>
            </a:r>
          </a:p>
        </p:txBody>
      </p:sp>
      <p:sp>
        <p:nvSpPr>
          <p:cNvPr id="18" name="矩形 17">
            <a:extLst>
              <a:ext uri="{FF2B5EF4-FFF2-40B4-BE49-F238E27FC236}">
                <a16:creationId xmlns:a16="http://schemas.microsoft.com/office/drawing/2014/main" id="{9289EF7A-6191-4C29-A7A3-8EDD89943768}"/>
              </a:ext>
            </a:extLst>
          </p:cNvPr>
          <p:cNvSpPr>
            <a:spLocks noGrp="1"/>
          </p:cNvSpPr>
          <p:nvPr/>
        </p:nvSpPr>
        <p:spPr>
          <a:xfrm>
            <a:off x="2152650" y="20574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19" name="矩形 18">
            <a:extLst>
              <a:ext uri="{FF2B5EF4-FFF2-40B4-BE49-F238E27FC236}">
                <a16:creationId xmlns:a16="http://schemas.microsoft.com/office/drawing/2014/main" id="{7F6795F3-D6A2-4E91-B54D-C7DC0FFFDFFE}"/>
              </a:ext>
            </a:extLst>
          </p:cNvPr>
          <p:cNvSpPr>
            <a:spLocks noGrp="1"/>
          </p:cNvSpPr>
          <p:nvPr/>
        </p:nvSpPr>
        <p:spPr>
          <a:xfrm>
            <a:off x="2247900" y="21336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20,000</a:t>
            </a:r>
          </a:p>
        </p:txBody>
      </p:sp>
      <p:sp>
        <p:nvSpPr>
          <p:cNvPr id="20" name="矩形 19">
            <a:extLst>
              <a:ext uri="{FF2B5EF4-FFF2-40B4-BE49-F238E27FC236}">
                <a16:creationId xmlns:a16="http://schemas.microsoft.com/office/drawing/2014/main" id="{AE677093-B697-4E45-82CB-9F4B6438B4C8}"/>
              </a:ext>
            </a:extLst>
          </p:cNvPr>
          <p:cNvSpPr>
            <a:spLocks noGrp="1"/>
          </p:cNvSpPr>
          <p:nvPr/>
        </p:nvSpPr>
        <p:spPr>
          <a:xfrm>
            <a:off x="3581400" y="20574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21" name="矩形 20">
            <a:extLst>
              <a:ext uri="{FF2B5EF4-FFF2-40B4-BE49-F238E27FC236}">
                <a16:creationId xmlns:a16="http://schemas.microsoft.com/office/drawing/2014/main" id="{05E6A941-0978-4FB1-AE0D-6995AD8BEF44}"/>
              </a:ext>
            </a:extLst>
          </p:cNvPr>
          <p:cNvSpPr>
            <a:spLocks noGrp="1"/>
          </p:cNvSpPr>
          <p:nvPr/>
        </p:nvSpPr>
        <p:spPr>
          <a:xfrm>
            <a:off x="3676650" y="21336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10,000</a:t>
            </a:r>
          </a:p>
        </p:txBody>
      </p:sp>
      <p:sp>
        <p:nvSpPr>
          <p:cNvPr id="22" name="矩形 21">
            <a:extLst>
              <a:ext uri="{FF2B5EF4-FFF2-40B4-BE49-F238E27FC236}">
                <a16:creationId xmlns:a16="http://schemas.microsoft.com/office/drawing/2014/main" id="{9CE876D0-751F-4D82-BB32-5B36CB8A449E}"/>
              </a:ext>
            </a:extLst>
          </p:cNvPr>
          <p:cNvSpPr>
            <a:spLocks noGrp="1"/>
          </p:cNvSpPr>
          <p:nvPr/>
        </p:nvSpPr>
        <p:spPr>
          <a:xfrm>
            <a:off x="5010150" y="20574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23" name="矩形 22">
            <a:extLst>
              <a:ext uri="{FF2B5EF4-FFF2-40B4-BE49-F238E27FC236}">
                <a16:creationId xmlns:a16="http://schemas.microsoft.com/office/drawing/2014/main" id="{FCC3FBFF-8ED2-458A-A8FF-65A152F68413}"/>
              </a:ext>
            </a:extLst>
          </p:cNvPr>
          <p:cNvSpPr>
            <a:spLocks noGrp="1"/>
          </p:cNvSpPr>
          <p:nvPr/>
        </p:nvSpPr>
        <p:spPr>
          <a:xfrm>
            <a:off x="5105400" y="21336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10,000</a:t>
            </a:r>
          </a:p>
        </p:txBody>
      </p:sp>
      <p:sp>
        <p:nvSpPr>
          <p:cNvPr id="24" name="矩形 23">
            <a:extLst>
              <a:ext uri="{FF2B5EF4-FFF2-40B4-BE49-F238E27FC236}">
                <a16:creationId xmlns:a16="http://schemas.microsoft.com/office/drawing/2014/main" id="{6051DD59-F330-4A41-854C-042A2D58FA34}"/>
              </a:ext>
            </a:extLst>
          </p:cNvPr>
          <p:cNvSpPr>
            <a:spLocks noGrp="1"/>
          </p:cNvSpPr>
          <p:nvPr/>
        </p:nvSpPr>
        <p:spPr>
          <a:xfrm>
            <a:off x="6438900" y="2057400"/>
            <a:ext cx="1524000" cy="533400"/>
          </a:xfrm>
          <a:prstGeom prst="rect">
            <a:avLst/>
          </a:prstGeom>
          <a:solidFill>
            <a:srgbClr val="FFFFFF"/>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119113DE-9EC5-4B49-A66E-759EB2FBDD8B}"/>
              </a:ext>
            </a:extLst>
          </p:cNvPr>
          <p:cNvSpPr>
            <a:spLocks noGrp="1"/>
          </p:cNvSpPr>
          <p:nvPr/>
        </p:nvSpPr>
        <p:spPr>
          <a:xfrm>
            <a:off x="6534150" y="2133600"/>
            <a:ext cx="133350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277.82</a:t>
            </a:r>
          </a:p>
        </p:txBody>
      </p:sp>
      <p:sp>
        <p:nvSpPr>
          <p:cNvPr id="26" name="矩形 25">
            <a:extLst>
              <a:ext uri="{FF2B5EF4-FFF2-40B4-BE49-F238E27FC236}">
                <a16:creationId xmlns:a16="http://schemas.microsoft.com/office/drawing/2014/main" id="{5FC3C527-46DB-4A49-8D0F-A0E8FB4777BE}"/>
              </a:ext>
            </a:extLst>
          </p:cNvPr>
          <p:cNvSpPr>
            <a:spLocks noGrp="1"/>
          </p:cNvSpPr>
          <p:nvPr/>
        </p:nvSpPr>
        <p:spPr>
          <a:xfrm>
            <a:off x="7962900" y="2057400"/>
            <a:ext cx="1524000" cy="533400"/>
          </a:xfrm>
          <a:prstGeom prst="rect">
            <a:avLst/>
          </a:prstGeom>
          <a:solidFill>
            <a:srgbClr val="FFFFFF"/>
          </a:solidFill>
          <a:ln w="9525">
            <a:solidFill>
              <a:srgbClr val="E2E8F0"/>
            </a:solidFill>
            <a:prstDash val="solid"/>
          </a:ln>
        </p:spPr>
        <p:txBody>
          <a:bodyPr/>
          <a:lstStyle/>
          <a:p>
            <a:endParaRPr lang="zh-CN" altLang="en-US"/>
          </a:p>
        </p:txBody>
      </p:sp>
      <p:sp>
        <p:nvSpPr>
          <p:cNvPr id="27" name="矩形 26">
            <a:extLst>
              <a:ext uri="{FF2B5EF4-FFF2-40B4-BE49-F238E27FC236}">
                <a16:creationId xmlns:a16="http://schemas.microsoft.com/office/drawing/2014/main" id="{D04BE387-1E0A-494C-BB41-4F239780E796}"/>
              </a:ext>
            </a:extLst>
          </p:cNvPr>
          <p:cNvSpPr>
            <a:spLocks noGrp="1"/>
          </p:cNvSpPr>
          <p:nvPr/>
        </p:nvSpPr>
        <p:spPr>
          <a:xfrm>
            <a:off x="8058150" y="2133600"/>
            <a:ext cx="133350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3.57</a:t>
            </a:r>
          </a:p>
        </p:txBody>
      </p:sp>
      <p:sp>
        <p:nvSpPr>
          <p:cNvPr id="28" name="矩形 27">
            <a:extLst>
              <a:ext uri="{FF2B5EF4-FFF2-40B4-BE49-F238E27FC236}">
                <a16:creationId xmlns:a16="http://schemas.microsoft.com/office/drawing/2014/main" id="{1B491DF1-6461-4907-A8C1-685F1DA39DBA}"/>
              </a:ext>
            </a:extLst>
          </p:cNvPr>
          <p:cNvSpPr>
            <a:spLocks noGrp="1"/>
          </p:cNvSpPr>
          <p:nvPr/>
        </p:nvSpPr>
        <p:spPr>
          <a:xfrm>
            <a:off x="723900" y="2590800"/>
            <a:ext cx="1428750" cy="533400"/>
          </a:xfrm>
          <a:prstGeom prst="rect">
            <a:avLst/>
          </a:prstGeom>
          <a:solidFill>
            <a:srgbClr val="F8FAFC"/>
          </a:solidFill>
          <a:ln w="9525">
            <a:solidFill>
              <a:srgbClr val="E2E8F0"/>
            </a:solidFill>
            <a:prstDash val="solid"/>
          </a:ln>
        </p:spPr>
        <p:txBody>
          <a:bodyPr/>
          <a:lstStyle/>
          <a:p>
            <a:endParaRPr lang="zh-CN" altLang="en-US"/>
          </a:p>
        </p:txBody>
      </p:sp>
      <p:sp>
        <p:nvSpPr>
          <p:cNvPr id="29" name="矩形 28">
            <a:extLst>
              <a:ext uri="{FF2B5EF4-FFF2-40B4-BE49-F238E27FC236}">
                <a16:creationId xmlns:a16="http://schemas.microsoft.com/office/drawing/2014/main" id="{2963477E-1C66-4BEA-9138-A998E7B3FA2A}"/>
              </a:ext>
            </a:extLst>
          </p:cNvPr>
          <p:cNvSpPr>
            <a:spLocks noGrp="1"/>
          </p:cNvSpPr>
          <p:nvPr/>
        </p:nvSpPr>
        <p:spPr>
          <a:xfrm>
            <a:off x="819150" y="2667000"/>
            <a:ext cx="1238250" cy="419100"/>
          </a:xfrm>
          <a:prstGeom prst="rect">
            <a:avLst/>
          </a:prstGeom>
          <a:noFill/>
          <a:ln w="0">
            <a:noFill/>
            <a:prstDash val="solid"/>
          </a:ln>
        </p:spPr>
        <p:txBody>
          <a:bodyPr/>
          <a:lstStyle/>
          <a:p>
            <a:pPr algn="l">
              <a:defRPr sz="1350" b="0" i="0">
                <a:solidFill>
                  <a:srgbClr val="0F172A"/>
                </a:solidFill>
              </a:defRPr>
            </a:pPr>
            <a:r>
              <a:rPr sz="1350" b="0" i="0">
                <a:solidFill>
                  <a:srgbClr val="0F172A"/>
                </a:solidFill>
              </a:rPr>
              <a:t>validation</a:t>
            </a:r>
          </a:p>
        </p:txBody>
      </p:sp>
      <p:sp>
        <p:nvSpPr>
          <p:cNvPr id="30" name="矩形 29">
            <a:extLst>
              <a:ext uri="{FF2B5EF4-FFF2-40B4-BE49-F238E27FC236}">
                <a16:creationId xmlns:a16="http://schemas.microsoft.com/office/drawing/2014/main" id="{E6F14526-F59B-4C30-A822-B1470C48F2C6}"/>
              </a:ext>
            </a:extLst>
          </p:cNvPr>
          <p:cNvSpPr>
            <a:spLocks noGrp="1"/>
          </p:cNvSpPr>
          <p:nvPr/>
        </p:nvSpPr>
        <p:spPr>
          <a:xfrm>
            <a:off x="2152650" y="2590800"/>
            <a:ext cx="1428750" cy="533400"/>
          </a:xfrm>
          <a:prstGeom prst="rect">
            <a:avLst/>
          </a:prstGeom>
          <a:solidFill>
            <a:srgbClr val="F8FAFC"/>
          </a:solidFill>
          <a:ln w="9525">
            <a:solidFill>
              <a:srgbClr val="E2E8F0"/>
            </a:solidFill>
            <a:prstDash val="solid"/>
          </a:ln>
        </p:spPr>
        <p:txBody>
          <a:bodyPr/>
          <a:lstStyle/>
          <a:p>
            <a:endParaRPr lang="zh-CN" altLang="en-US"/>
          </a:p>
        </p:txBody>
      </p:sp>
      <p:sp>
        <p:nvSpPr>
          <p:cNvPr id="31" name="矩形 30">
            <a:extLst>
              <a:ext uri="{FF2B5EF4-FFF2-40B4-BE49-F238E27FC236}">
                <a16:creationId xmlns:a16="http://schemas.microsoft.com/office/drawing/2014/main" id="{5F151ACB-92B2-4EC5-BB97-1378F527B540}"/>
              </a:ext>
            </a:extLst>
          </p:cNvPr>
          <p:cNvSpPr>
            <a:spLocks noGrp="1"/>
          </p:cNvSpPr>
          <p:nvPr/>
        </p:nvSpPr>
        <p:spPr>
          <a:xfrm>
            <a:off x="2247900" y="26670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3,000</a:t>
            </a:r>
          </a:p>
        </p:txBody>
      </p:sp>
      <p:sp>
        <p:nvSpPr>
          <p:cNvPr id="32" name="矩形 31">
            <a:extLst>
              <a:ext uri="{FF2B5EF4-FFF2-40B4-BE49-F238E27FC236}">
                <a16:creationId xmlns:a16="http://schemas.microsoft.com/office/drawing/2014/main" id="{4F22D852-D1ED-4074-8464-2B4D1AAE0065}"/>
              </a:ext>
            </a:extLst>
          </p:cNvPr>
          <p:cNvSpPr>
            <a:spLocks noGrp="1"/>
          </p:cNvSpPr>
          <p:nvPr/>
        </p:nvSpPr>
        <p:spPr>
          <a:xfrm>
            <a:off x="3581400" y="2590800"/>
            <a:ext cx="1428750" cy="533400"/>
          </a:xfrm>
          <a:prstGeom prst="rect">
            <a:avLst/>
          </a:prstGeom>
          <a:solidFill>
            <a:srgbClr val="F8FAFC"/>
          </a:solidFill>
          <a:ln w="9525">
            <a:solidFill>
              <a:srgbClr val="E2E8F0"/>
            </a:solidFill>
            <a:prstDash val="solid"/>
          </a:ln>
        </p:spPr>
        <p:txBody>
          <a:bodyPr/>
          <a:lstStyle/>
          <a:p>
            <a:endParaRPr lang="zh-CN" altLang="en-US"/>
          </a:p>
        </p:txBody>
      </p:sp>
      <p:sp>
        <p:nvSpPr>
          <p:cNvPr id="33" name="矩形 32">
            <a:extLst>
              <a:ext uri="{FF2B5EF4-FFF2-40B4-BE49-F238E27FC236}">
                <a16:creationId xmlns:a16="http://schemas.microsoft.com/office/drawing/2014/main" id="{6259CA1B-C2CB-4B56-8BB5-7E75FE2B7186}"/>
              </a:ext>
            </a:extLst>
          </p:cNvPr>
          <p:cNvSpPr>
            <a:spLocks noGrp="1"/>
          </p:cNvSpPr>
          <p:nvPr/>
        </p:nvSpPr>
        <p:spPr>
          <a:xfrm>
            <a:off x="3676650" y="26670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1,500</a:t>
            </a:r>
          </a:p>
        </p:txBody>
      </p:sp>
      <p:sp>
        <p:nvSpPr>
          <p:cNvPr id="34" name="矩形 33">
            <a:extLst>
              <a:ext uri="{FF2B5EF4-FFF2-40B4-BE49-F238E27FC236}">
                <a16:creationId xmlns:a16="http://schemas.microsoft.com/office/drawing/2014/main" id="{5E6ED5E9-6DFA-4BAD-9D8C-3DC91A89ADDB}"/>
              </a:ext>
            </a:extLst>
          </p:cNvPr>
          <p:cNvSpPr>
            <a:spLocks noGrp="1"/>
          </p:cNvSpPr>
          <p:nvPr/>
        </p:nvSpPr>
        <p:spPr>
          <a:xfrm>
            <a:off x="5010150" y="2590800"/>
            <a:ext cx="1428750" cy="533400"/>
          </a:xfrm>
          <a:prstGeom prst="rect">
            <a:avLst/>
          </a:prstGeom>
          <a:solidFill>
            <a:srgbClr val="F8FAFC"/>
          </a:solidFill>
          <a:ln w="9525">
            <a:solidFill>
              <a:srgbClr val="E2E8F0"/>
            </a:solidFill>
            <a:prstDash val="solid"/>
          </a:ln>
        </p:spPr>
        <p:txBody>
          <a:bodyPr/>
          <a:lstStyle/>
          <a:p>
            <a:endParaRPr lang="zh-CN" altLang="en-US"/>
          </a:p>
        </p:txBody>
      </p:sp>
      <p:sp>
        <p:nvSpPr>
          <p:cNvPr id="35" name="矩形 34">
            <a:extLst>
              <a:ext uri="{FF2B5EF4-FFF2-40B4-BE49-F238E27FC236}">
                <a16:creationId xmlns:a16="http://schemas.microsoft.com/office/drawing/2014/main" id="{A40997A2-E530-4DF9-8C29-DBB862BD86DF}"/>
              </a:ext>
            </a:extLst>
          </p:cNvPr>
          <p:cNvSpPr>
            <a:spLocks noGrp="1"/>
          </p:cNvSpPr>
          <p:nvPr/>
        </p:nvSpPr>
        <p:spPr>
          <a:xfrm>
            <a:off x="5105400" y="26670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1,500</a:t>
            </a:r>
          </a:p>
        </p:txBody>
      </p:sp>
      <p:sp>
        <p:nvSpPr>
          <p:cNvPr id="36" name="矩形 35">
            <a:extLst>
              <a:ext uri="{FF2B5EF4-FFF2-40B4-BE49-F238E27FC236}">
                <a16:creationId xmlns:a16="http://schemas.microsoft.com/office/drawing/2014/main" id="{52DF44E9-8534-4884-AB2C-0BBEFA7D9788}"/>
              </a:ext>
            </a:extLst>
          </p:cNvPr>
          <p:cNvSpPr>
            <a:spLocks noGrp="1"/>
          </p:cNvSpPr>
          <p:nvPr/>
        </p:nvSpPr>
        <p:spPr>
          <a:xfrm>
            <a:off x="6438900" y="2590800"/>
            <a:ext cx="1524000" cy="533400"/>
          </a:xfrm>
          <a:prstGeom prst="rect">
            <a:avLst/>
          </a:prstGeom>
          <a:solidFill>
            <a:srgbClr val="F8FAFC"/>
          </a:solidFill>
          <a:ln w="9525">
            <a:solidFill>
              <a:srgbClr val="E2E8F0"/>
            </a:solidFill>
            <a:prstDash val="solid"/>
          </a:ln>
        </p:spPr>
        <p:txBody>
          <a:bodyPr/>
          <a:lstStyle/>
          <a:p>
            <a:endParaRPr lang="zh-CN" altLang="en-US"/>
          </a:p>
        </p:txBody>
      </p:sp>
      <p:sp>
        <p:nvSpPr>
          <p:cNvPr id="37" name="矩形 36">
            <a:extLst>
              <a:ext uri="{FF2B5EF4-FFF2-40B4-BE49-F238E27FC236}">
                <a16:creationId xmlns:a16="http://schemas.microsoft.com/office/drawing/2014/main" id="{39FCA147-B3F8-46E2-BCDE-205F0D6AF7F5}"/>
              </a:ext>
            </a:extLst>
          </p:cNvPr>
          <p:cNvSpPr>
            <a:spLocks noGrp="1"/>
          </p:cNvSpPr>
          <p:nvPr/>
        </p:nvSpPr>
        <p:spPr>
          <a:xfrm>
            <a:off x="6534150" y="2667000"/>
            <a:ext cx="133350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278.65</a:t>
            </a:r>
          </a:p>
        </p:txBody>
      </p:sp>
      <p:sp>
        <p:nvSpPr>
          <p:cNvPr id="38" name="矩形 37">
            <a:extLst>
              <a:ext uri="{FF2B5EF4-FFF2-40B4-BE49-F238E27FC236}">
                <a16:creationId xmlns:a16="http://schemas.microsoft.com/office/drawing/2014/main" id="{5EF67A0C-6006-4A1D-AEDF-A4FCE50938C8}"/>
              </a:ext>
            </a:extLst>
          </p:cNvPr>
          <p:cNvSpPr>
            <a:spLocks noGrp="1"/>
          </p:cNvSpPr>
          <p:nvPr/>
        </p:nvSpPr>
        <p:spPr>
          <a:xfrm>
            <a:off x="7962900" y="2590800"/>
            <a:ext cx="1524000" cy="533400"/>
          </a:xfrm>
          <a:prstGeom prst="rect">
            <a:avLst/>
          </a:prstGeom>
          <a:solidFill>
            <a:srgbClr val="F8FAFC"/>
          </a:solidFill>
          <a:ln w="9525">
            <a:solidFill>
              <a:srgbClr val="E2E8F0"/>
            </a:solidFill>
            <a:prstDash val="solid"/>
          </a:ln>
        </p:spPr>
        <p:txBody>
          <a:bodyPr/>
          <a:lstStyle/>
          <a:p>
            <a:endParaRPr lang="zh-CN" altLang="en-US"/>
          </a:p>
        </p:txBody>
      </p:sp>
      <p:sp>
        <p:nvSpPr>
          <p:cNvPr id="39" name="矩形 38">
            <a:extLst>
              <a:ext uri="{FF2B5EF4-FFF2-40B4-BE49-F238E27FC236}">
                <a16:creationId xmlns:a16="http://schemas.microsoft.com/office/drawing/2014/main" id="{093D2B2B-49B4-49CB-B08E-266FAFDF5596}"/>
              </a:ext>
            </a:extLst>
          </p:cNvPr>
          <p:cNvSpPr>
            <a:spLocks noGrp="1"/>
          </p:cNvSpPr>
          <p:nvPr/>
        </p:nvSpPr>
        <p:spPr>
          <a:xfrm>
            <a:off x="8058150" y="2667000"/>
            <a:ext cx="133350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3.59</a:t>
            </a:r>
          </a:p>
        </p:txBody>
      </p:sp>
      <p:sp>
        <p:nvSpPr>
          <p:cNvPr id="40" name="矩形 39">
            <a:extLst>
              <a:ext uri="{FF2B5EF4-FFF2-40B4-BE49-F238E27FC236}">
                <a16:creationId xmlns:a16="http://schemas.microsoft.com/office/drawing/2014/main" id="{C46D5992-CEE5-4564-A354-3F892E4846E9}"/>
              </a:ext>
            </a:extLst>
          </p:cNvPr>
          <p:cNvSpPr>
            <a:spLocks noGrp="1"/>
          </p:cNvSpPr>
          <p:nvPr/>
        </p:nvSpPr>
        <p:spPr>
          <a:xfrm>
            <a:off x="723900" y="31242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41" name="矩形 40">
            <a:extLst>
              <a:ext uri="{FF2B5EF4-FFF2-40B4-BE49-F238E27FC236}">
                <a16:creationId xmlns:a16="http://schemas.microsoft.com/office/drawing/2014/main" id="{BB98B9ED-2B5B-4CD8-9EFF-5FB170C541C8}"/>
              </a:ext>
            </a:extLst>
          </p:cNvPr>
          <p:cNvSpPr>
            <a:spLocks noGrp="1"/>
          </p:cNvSpPr>
          <p:nvPr/>
        </p:nvSpPr>
        <p:spPr>
          <a:xfrm>
            <a:off x="819150" y="3200400"/>
            <a:ext cx="1238250" cy="419100"/>
          </a:xfrm>
          <a:prstGeom prst="rect">
            <a:avLst/>
          </a:prstGeom>
          <a:noFill/>
          <a:ln w="0">
            <a:noFill/>
            <a:prstDash val="solid"/>
          </a:ln>
        </p:spPr>
        <p:txBody>
          <a:bodyPr/>
          <a:lstStyle/>
          <a:p>
            <a:pPr algn="l">
              <a:defRPr sz="1350" b="0" i="0">
                <a:solidFill>
                  <a:srgbClr val="0F172A"/>
                </a:solidFill>
              </a:defRPr>
            </a:pPr>
            <a:r>
              <a:rPr sz="1350" b="0" i="0">
                <a:solidFill>
                  <a:srgbClr val="0F172A"/>
                </a:solidFill>
              </a:rPr>
              <a:t>test</a:t>
            </a:r>
          </a:p>
        </p:txBody>
      </p:sp>
      <p:sp>
        <p:nvSpPr>
          <p:cNvPr id="42" name="矩形 41">
            <a:extLst>
              <a:ext uri="{FF2B5EF4-FFF2-40B4-BE49-F238E27FC236}">
                <a16:creationId xmlns:a16="http://schemas.microsoft.com/office/drawing/2014/main" id="{8DF81951-07F0-4D79-8A01-C3628EF5E254}"/>
              </a:ext>
            </a:extLst>
          </p:cNvPr>
          <p:cNvSpPr>
            <a:spLocks noGrp="1"/>
          </p:cNvSpPr>
          <p:nvPr/>
        </p:nvSpPr>
        <p:spPr>
          <a:xfrm>
            <a:off x="2152650" y="31242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43" name="矩形 42">
            <a:extLst>
              <a:ext uri="{FF2B5EF4-FFF2-40B4-BE49-F238E27FC236}">
                <a16:creationId xmlns:a16="http://schemas.microsoft.com/office/drawing/2014/main" id="{FDA6B140-EC4D-49C7-8688-99FC163247BF}"/>
              </a:ext>
            </a:extLst>
          </p:cNvPr>
          <p:cNvSpPr>
            <a:spLocks noGrp="1"/>
          </p:cNvSpPr>
          <p:nvPr/>
        </p:nvSpPr>
        <p:spPr>
          <a:xfrm>
            <a:off x="2247900" y="32004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3,000</a:t>
            </a:r>
          </a:p>
        </p:txBody>
      </p:sp>
      <p:sp>
        <p:nvSpPr>
          <p:cNvPr id="44" name="矩形 43">
            <a:extLst>
              <a:ext uri="{FF2B5EF4-FFF2-40B4-BE49-F238E27FC236}">
                <a16:creationId xmlns:a16="http://schemas.microsoft.com/office/drawing/2014/main" id="{8C6AEE1A-0C58-4ED1-9BE5-7607B861E321}"/>
              </a:ext>
            </a:extLst>
          </p:cNvPr>
          <p:cNvSpPr>
            <a:spLocks noGrp="1"/>
          </p:cNvSpPr>
          <p:nvPr/>
        </p:nvSpPr>
        <p:spPr>
          <a:xfrm>
            <a:off x="3581400" y="31242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45" name="矩形 44">
            <a:extLst>
              <a:ext uri="{FF2B5EF4-FFF2-40B4-BE49-F238E27FC236}">
                <a16:creationId xmlns:a16="http://schemas.microsoft.com/office/drawing/2014/main" id="{B4CDD362-2A8F-41FE-B727-B869239A816C}"/>
              </a:ext>
            </a:extLst>
          </p:cNvPr>
          <p:cNvSpPr>
            <a:spLocks noGrp="1"/>
          </p:cNvSpPr>
          <p:nvPr/>
        </p:nvSpPr>
        <p:spPr>
          <a:xfrm>
            <a:off x="3676650" y="32004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a:t>
            </a:r>
          </a:p>
        </p:txBody>
      </p:sp>
      <p:sp>
        <p:nvSpPr>
          <p:cNvPr id="46" name="矩形 45">
            <a:extLst>
              <a:ext uri="{FF2B5EF4-FFF2-40B4-BE49-F238E27FC236}">
                <a16:creationId xmlns:a16="http://schemas.microsoft.com/office/drawing/2014/main" id="{61BF08D5-0DCC-4F00-8E9E-1EAEE19D6142}"/>
              </a:ext>
            </a:extLst>
          </p:cNvPr>
          <p:cNvSpPr>
            <a:spLocks noGrp="1"/>
          </p:cNvSpPr>
          <p:nvPr/>
        </p:nvSpPr>
        <p:spPr>
          <a:xfrm>
            <a:off x="5010150" y="3124200"/>
            <a:ext cx="1428750" cy="533400"/>
          </a:xfrm>
          <a:prstGeom prst="rect">
            <a:avLst/>
          </a:prstGeom>
          <a:solidFill>
            <a:srgbClr val="FFFFFF"/>
          </a:solidFill>
          <a:ln w="9525">
            <a:solidFill>
              <a:srgbClr val="E2E8F0"/>
            </a:solidFill>
            <a:prstDash val="solid"/>
          </a:ln>
        </p:spPr>
        <p:txBody>
          <a:bodyPr/>
          <a:lstStyle/>
          <a:p>
            <a:endParaRPr lang="zh-CN" altLang="en-US"/>
          </a:p>
        </p:txBody>
      </p:sp>
      <p:sp>
        <p:nvSpPr>
          <p:cNvPr id="47" name="矩形 46">
            <a:extLst>
              <a:ext uri="{FF2B5EF4-FFF2-40B4-BE49-F238E27FC236}">
                <a16:creationId xmlns:a16="http://schemas.microsoft.com/office/drawing/2014/main" id="{3CBA514B-5515-4721-BC08-B9538C98FE68}"/>
              </a:ext>
            </a:extLst>
          </p:cNvPr>
          <p:cNvSpPr>
            <a:spLocks noGrp="1"/>
          </p:cNvSpPr>
          <p:nvPr/>
        </p:nvSpPr>
        <p:spPr>
          <a:xfrm>
            <a:off x="5105400" y="3200400"/>
            <a:ext cx="123825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a:t>
            </a:r>
          </a:p>
        </p:txBody>
      </p:sp>
      <p:sp>
        <p:nvSpPr>
          <p:cNvPr id="48" name="矩形 47">
            <a:extLst>
              <a:ext uri="{FF2B5EF4-FFF2-40B4-BE49-F238E27FC236}">
                <a16:creationId xmlns:a16="http://schemas.microsoft.com/office/drawing/2014/main" id="{B892EC75-3A2C-45B7-87AA-E755171E95F3}"/>
              </a:ext>
            </a:extLst>
          </p:cNvPr>
          <p:cNvSpPr>
            <a:spLocks noGrp="1"/>
          </p:cNvSpPr>
          <p:nvPr/>
        </p:nvSpPr>
        <p:spPr>
          <a:xfrm>
            <a:off x="6438900" y="3124200"/>
            <a:ext cx="1524000" cy="533400"/>
          </a:xfrm>
          <a:prstGeom prst="rect">
            <a:avLst/>
          </a:prstGeom>
          <a:solidFill>
            <a:srgbClr val="FFFFFF"/>
          </a:solidFill>
          <a:ln w="9525">
            <a:solidFill>
              <a:srgbClr val="E2E8F0"/>
            </a:solidFill>
            <a:prstDash val="solid"/>
          </a:ln>
        </p:spPr>
        <p:txBody>
          <a:bodyPr/>
          <a:lstStyle/>
          <a:p>
            <a:endParaRPr lang="zh-CN" altLang="en-US"/>
          </a:p>
        </p:txBody>
      </p:sp>
      <p:sp>
        <p:nvSpPr>
          <p:cNvPr id="49" name="矩形 48">
            <a:extLst>
              <a:ext uri="{FF2B5EF4-FFF2-40B4-BE49-F238E27FC236}">
                <a16:creationId xmlns:a16="http://schemas.microsoft.com/office/drawing/2014/main" id="{493D3F0F-CD72-4EDB-9946-5D9691475748}"/>
              </a:ext>
            </a:extLst>
          </p:cNvPr>
          <p:cNvSpPr>
            <a:spLocks noGrp="1"/>
          </p:cNvSpPr>
          <p:nvPr/>
        </p:nvSpPr>
        <p:spPr>
          <a:xfrm>
            <a:off x="6534150" y="3200400"/>
            <a:ext cx="133350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275.19</a:t>
            </a:r>
          </a:p>
        </p:txBody>
      </p:sp>
      <p:sp>
        <p:nvSpPr>
          <p:cNvPr id="50" name="矩形 49">
            <a:extLst>
              <a:ext uri="{FF2B5EF4-FFF2-40B4-BE49-F238E27FC236}">
                <a16:creationId xmlns:a16="http://schemas.microsoft.com/office/drawing/2014/main" id="{BFDED164-C1ED-4B1B-9E19-E7634DA74F9A}"/>
              </a:ext>
            </a:extLst>
          </p:cNvPr>
          <p:cNvSpPr>
            <a:spLocks noGrp="1"/>
          </p:cNvSpPr>
          <p:nvPr/>
        </p:nvSpPr>
        <p:spPr>
          <a:xfrm>
            <a:off x="7962900" y="3124200"/>
            <a:ext cx="1524000" cy="533400"/>
          </a:xfrm>
          <a:prstGeom prst="rect">
            <a:avLst/>
          </a:prstGeom>
          <a:solidFill>
            <a:srgbClr val="FFFFFF"/>
          </a:solidFill>
          <a:ln w="9525">
            <a:solidFill>
              <a:srgbClr val="E2E8F0"/>
            </a:solidFill>
            <a:prstDash val="solid"/>
          </a:ln>
        </p:spPr>
        <p:txBody>
          <a:bodyPr/>
          <a:lstStyle/>
          <a:p>
            <a:endParaRPr lang="zh-CN" altLang="en-US"/>
          </a:p>
        </p:txBody>
      </p:sp>
      <p:sp>
        <p:nvSpPr>
          <p:cNvPr id="51" name="矩形 50">
            <a:extLst>
              <a:ext uri="{FF2B5EF4-FFF2-40B4-BE49-F238E27FC236}">
                <a16:creationId xmlns:a16="http://schemas.microsoft.com/office/drawing/2014/main" id="{0F8693E3-BA38-4A1F-A5D7-061CC5924FF9}"/>
              </a:ext>
            </a:extLst>
          </p:cNvPr>
          <p:cNvSpPr>
            <a:spLocks noGrp="1"/>
          </p:cNvSpPr>
          <p:nvPr/>
        </p:nvSpPr>
        <p:spPr>
          <a:xfrm>
            <a:off x="8058150" y="3200400"/>
            <a:ext cx="1333500" cy="4191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3.56</a:t>
            </a:r>
          </a:p>
        </p:txBody>
      </p:sp>
      <p:sp>
        <p:nvSpPr>
          <p:cNvPr id="52" name="矩形 51">
            <a:extLst>
              <a:ext uri="{FF2B5EF4-FFF2-40B4-BE49-F238E27FC236}">
                <a16:creationId xmlns:a16="http://schemas.microsoft.com/office/drawing/2014/main" id="{680D65CE-58D1-4D0E-957B-386C398EE05D}"/>
              </a:ext>
            </a:extLst>
          </p:cNvPr>
          <p:cNvSpPr>
            <a:spLocks noGrp="1"/>
          </p:cNvSpPr>
          <p:nvPr/>
        </p:nvSpPr>
        <p:spPr>
          <a:xfrm>
            <a:off x="723900" y="1524000"/>
            <a:ext cx="8763000" cy="2133600"/>
          </a:xfrm>
          <a:prstGeom prst="rect">
            <a:avLst/>
          </a:prstGeom>
          <a:noFill/>
          <a:ln w="9525">
            <a:solidFill>
              <a:srgbClr val="E2E8F0"/>
            </a:solidFill>
            <a:prstDash val="solid"/>
          </a:ln>
        </p:spPr>
        <p:txBody>
          <a:bodyPr/>
          <a:lstStyle/>
          <a:p>
            <a:endParaRPr lang="zh-CN" altLang="en-US"/>
          </a:p>
        </p:txBody>
      </p:sp>
      <p:pic>
        <p:nvPicPr>
          <p:cNvPr id="114" name="图片 113"/>
          <p:cNvPicPr>
            <a:picLocks noChangeAspect="1"/>
          </p:cNvPicPr>
          <p:nvPr/>
        </p:nvPicPr>
        <p:blipFill>
          <a:blip r:embed="rId3"/>
          <a:stretch/>
        </p:blipFill>
        <p:spPr>
          <a:xfrm>
            <a:off x="7366635" y="3600450"/>
            <a:ext cx="3078480" cy="1924050"/>
          </a:xfrm>
          <a:prstGeom prst="roundRect">
            <a:avLst>
              <a:gd name="adj" fmla="val 5941"/>
            </a:avLst>
          </a:prstGeom>
        </p:spPr>
      </p:pic>
      <p:sp>
        <p:nvSpPr>
          <p:cNvPr id="54" name="矩形 53">
            <a:extLst>
              <a:ext uri="{FF2B5EF4-FFF2-40B4-BE49-F238E27FC236}">
                <a16:creationId xmlns:a16="http://schemas.microsoft.com/office/drawing/2014/main" id="{1487CD58-1C11-493A-BD3A-8C013301B767}"/>
              </a:ext>
            </a:extLst>
          </p:cNvPr>
          <p:cNvSpPr>
            <a:spLocks noGrp="1"/>
          </p:cNvSpPr>
          <p:nvPr/>
        </p:nvSpPr>
        <p:spPr>
          <a:xfrm>
            <a:off x="800100" y="4000500"/>
            <a:ext cx="85725" cy="85725"/>
          </a:xfrm>
          <a:prstGeom prst="rect">
            <a:avLst/>
          </a:prstGeom>
          <a:solidFill>
            <a:srgbClr val="2563EB"/>
          </a:solidFill>
          <a:ln w="0">
            <a:noFill/>
            <a:prstDash val="solid"/>
          </a:ln>
        </p:spPr>
        <p:txBody>
          <a:bodyPr/>
          <a:lstStyle/>
          <a:p>
            <a:endParaRPr lang="zh-CN" altLang="en-US"/>
          </a:p>
        </p:txBody>
      </p:sp>
      <p:sp>
        <p:nvSpPr>
          <p:cNvPr id="55" name="矩形 54">
            <a:extLst>
              <a:ext uri="{FF2B5EF4-FFF2-40B4-BE49-F238E27FC236}">
                <a16:creationId xmlns:a16="http://schemas.microsoft.com/office/drawing/2014/main" id="{09FD5E9B-046A-4956-B4EF-79DBC3C6E95E}"/>
              </a:ext>
            </a:extLst>
          </p:cNvPr>
          <p:cNvSpPr>
            <a:spLocks noGrp="1"/>
          </p:cNvSpPr>
          <p:nvPr/>
        </p:nvSpPr>
        <p:spPr>
          <a:xfrm>
            <a:off x="1028700" y="3905250"/>
            <a:ext cx="5343525" cy="533400"/>
          </a:xfrm>
          <a:prstGeom prst="rect">
            <a:avLst/>
          </a:prstGeom>
          <a:noFill/>
          <a:ln w="0">
            <a:noFill/>
            <a:prstDash val="solid"/>
          </a:ln>
        </p:spPr>
        <p:txBody>
          <a:bodyPr/>
          <a:lstStyle/>
          <a:p>
            <a:pPr algn="l">
              <a:defRPr sz="1425" b="0" i="0">
                <a:solidFill>
                  <a:srgbClr val="0F172A"/>
                </a:solidFill>
              </a:defRPr>
            </a:pPr>
            <a:r>
              <a:rPr sz="1425" b="0" i="0" dirty="0" err="1">
                <a:solidFill>
                  <a:srgbClr val="0F172A"/>
                </a:solidFill>
              </a:rPr>
              <a:t>训练和验证标签均衡，Accuracy</a:t>
            </a:r>
            <a:r>
              <a:rPr sz="1425" b="0" i="0" dirty="0">
                <a:solidFill>
                  <a:srgbClr val="0F172A"/>
                </a:solidFill>
              </a:rPr>
              <a:t> 与 Macro-F1 </a:t>
            </a:r>
            <a:r>
              <a:rPr sz="1425" b="0" i="0" dirty="0" err="1">
                <a:solidFill>
                  <a:srgbClr val="0F172A"/>
                </a:solidFill>
              </a:rPr>
              <a:t>都有参考价值</a:t>
            </a:r>
            <a:r>
              <a:rPr sz="1425" b="0" i="0" dirty="0">
                <a:solidFill>
                  <a:srgbClr val="0F172A"/>
                </a:solidFill>
              </a:rPr>
              <a:t>。</a:t>
            </a:r>
          </a:p>
        </p:txBody>
      </p:sp>
      <p:sp>
        <p:nvSpPr>
          <p:cNvPr id="56" name="矩形 55">
            <a:extLst>
              <a:ext uri="{FF2B5EF4-FFF2-40B4-BE49-F238E27FC236}">
                <a16:creationId xmlns:a16="http://schemas.microsoft.com/office/drawing/2014/main" id="{3FF69B6A-D036-4ED9-82CE-BEB0DCA0D23E}"/>
              </a:ext>
            </a:extLst>
          </p:cNvPr>
          <p:cNvSpPr>
            <a:spLocks noGrp="1"/>
          </p:cNvSpPr>
          <p:nvPr/>
        </p:nvSpPr>
        <p:spPr>
          <a:xfrm>
            <a:off x="800100" y="4457700"/>
            <a:ext cx="85725" cy="85725"/>
          </a:xfrm>
          <a:prstGeom prst="rect">
            <a:avLst/>
          </a:prstGeom>
          <a:solidFill>
            <a:srgbClr val="2563EB"/>
          </a:solidFill>
          <a:ln w="0">
            <a:noFill/>
            <a:prstDash val="solid"/>
          </a:ln>
        </p:spPr>
        <p:txBody>
          <a:bodyPr/>
          <a:lstStyle/>
          <a:p>
            <a:endParaRPr lang="zh-CN" altLang="en-US"/>
          </a:p>
        </p:txBody>
      </p:sp>
      <p:sp>
        <p:nvSpPr>
          <p:cNvPr id="57" name="矩形 56">
            <a:extLst>
              <a:ext uri="{FF2B5EF4-FFF2-40B4-BE49-F238E27FC236}">
                <a16:creationId xmlns:a16="http://schemas.microsoft.com/office/drawing/2014/main" id="{75369A23-ACB9-424E-98E6-41722E4C5275}"/>
              </a:ext>
            </a:extLst>
          </p:cNvPr>
          <p:cNvSpPr>
            <a:spLocks noGrp="1"/>
          </p:cNvSpPr>
          <p:nvPr/>
        </p:nvSpPr>
        <p:spPr>
          <a:xfrm>
            <a:off x="1028700" y="4362450"/>
            <a:ext cx="5343525" cy="533400"/>
          </a:xfrm>
          <a:prstGeom prst="rect">
            <a:avLst/>
          </a:prstGeom>
          <a:noFill/>
          <a:ln w="0">
            <a:noFill/>
            <a:prstDash val="solid"/>
          </a:ln>
        </p:spPr>
        <p:txBody>
          <a:bodyPr/>
          <a:lstStyle/>
          <a:p>
            <a:pPr algn="l">
              <a:defRPr sz="1425" b="0" i="0">
                <a:solidFill>
                  <a:srgbClr val="0F172A"/>
                </a:solidFill>
              </a:defRPr>
            </a:pPr>
            <a:r>
              <a:rPr sz="1425" b="0" i="0" dirty="0" err="1">
                <a:solidFill>
                  <a:srgbClr val="0F172A"/>
                </a:solidFill>
              </a:rPr>
              <a:t>测试集没有公开标签，因此本报告以验证集作为主要评价集合</a:t>
            </a:r>
            <a:r>
              <a:rPr sz="1425" b="0" i="0" dirty="0">
                <a:solidFill>
                  <a:srgbClr val="0F172A"/>
                </a:solidFill>
              </a:rPr>
              <a:t>。</a:t>
            </a:r>
          </a:p>
        </p:txBody>
      </p:sp>
      <p:sp>
        <p:nvSpPr>
          <p:cNvPr id="58" name="矩形 57">
            <a:extLst>
              <a:ext uri="{FF2B5EF4-FFF2-40B4-BE49-F238E27FC236}">
                <a16:creationId xmlns:a16="http://schemas.microsoft.com/office/drawing/2014/main" id="{27E5C559-61D4-4F77-B4A1-D6154CF8215F}"/>
              </a:ext>
            </a:extLst>
          </p:cNvPr>
          <p:cNvSpPr>
            <a:spLocks noGrp="1"/>
          </p:cNvSpPr>
          <p:nvPr/>
        </p:nvSpPr>
        <p:spPr>
          <a:xfrm>
            <a:off x="800100" y="4914900"/>
            <a:ext cx="85725" cy="85725"/>
          </a:xfrm>
          <a:prstGeom prst="rect">
            <a:avLst/>
          </a:prstGeom>
          <a:solidFill>
            <a:srgbClr val="2563EB"/>
          </a:solidFill>
          <a:ln w="0">
            <a:noFill/>
            <a:prstDash val="solid"/>
          </a:ln>
        </p:spPr>
        <p:txBody>
          <a:bodyPr/>
          <a:lstStyle/>
          <a:p>
            <a:endParaRPr lang="zh-CN" altLang="en-US"/>
          </a:p>
        </p:txBody>
      </p:sp>
      <p:sp>
        <p:nvSpPr>
          <p:cNvPr id="59" name="矩形 58">
            <a:extLst>
              <a:ext uri="{FF2B5EF4-FFF2-40B4-BE49-F238E27FC236}">
                <a16:creationId xmlns:a16="http://schemas.microsoft.com/office/drawing/2014/main" id="{477C2221-AFD6-46A4-B106-A564E91C4D2C}"/>
              </a:ext>
            </a:extLst>
          </p:cNvPr>
          <p:cNvSpPr>
            <a:spLocks noGrp="1"/>
          </p:cNvSpPr>
          <p:nvPr/>
        </p:nvSpPr>
        <p:spPr>
          <a:xfrm>
            <a:off x="1028700" y="4819650"/>
            <a:ext cx="5343525" cy="533400"/>
          </a:xfrm>
          <a:prstGeom prst="rect">
            <a:avLst/>
          </a:prstGeom>
          <a:noFill/>
          <a:ln w="0">
            <a:noFill/>
            <a:prstDash val="solid"/>
          </a:ln>
        </p:spPr>
        <p:txBody>
          <a:bodyPr/>
          <a:lstStyle/>
          <a:p>
            <a:pPr algn="l">
              <a:defRPr sz="1425" b="0" i="0">
                <a:solidFill>
                  <a:srgbClr val="0F172A"/>
                </a:solidFill>
              </a:defRPr>
            </a:pPr>
            <a:r>
              <a:rPr sz="1425" b="0" i="0" dirty="0" err="1">
                <a:solidFill>
                  <a:srgbClr val="0F172A"/>
                </a:solidFill>
              </a:rPr>
              <a:t>摘要长度集中在中等长度，但包含大量学术术语、数字和缩写</a:t>
            </a:r>
            <a:r>
              <a:rPr sz="1425" b="0" i="0" dirty="0">
                <a:solidFill>
                  <a:srgbClr val="0F172A"/>
                </a:solidFill>
              </a:rPr>
              <a:t>。</a:t>
            </a:r>
          </a:p>
        </p:txBody>
      </p:sp>
      <p:sp>
        <p:nvSpPr>
          <p:cNvPr id="60" name="矩形 59">
            <a:extLst>
              <a:ext uri="{FF2B5EF4-FFF2-40B4-BE49-F238E27FC236}">
                <a16:creationId xmlns:a16="http://schemas.microsoft.com/office/drawing/2014/main" id="{68847A66-5079-439F-9EED-B700C3D1F17C}"/>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61" name="矩形 60">
            <a:extLst>
              <a:ext uri="{FF2B5EF4-FFF2-40B4-BE49-F238E27FC236}">
                <a16:creationId xmlns:a16="http://schemas.microsoft.com/office/drawing/2014/main" id="{C666B3F5-342F-4C32-93BC-6314B093DADA}"/>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06</a:t>
            </a:r>
          </a:p>
        </p:txBody>
      </p:sp>
    </p:spTree>
    <p:extLst>
      <p:ext uri="{BB962C8B-B14F-4D97-AF65-F5344CB8AC3E}">
        <p14:creationId xmlns:p14="http://schemas.microsoft.com/office/powerpoint/2010/main" val="293825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7" name="矩形 56">
            <a:extLst>
              <a:ext uri="{FF2B5EF4-FFF2-40B4-BE49-F238E27FC236}">
                <a16:creationId xmlns:a16="http://schemas.microsoft.com/office/drawing/2014/main" id="{BAAEB77D-75D3-4D33-A126-67AEB9092759}"/>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分词与去停用词</a:t>
            </a:r>
          </a:p>
        </p:txBody>
      </p:sp>
      <p:sp>
        <p:nvSpPr>
          <p:cNvPr id="2" name="矩形 1">
            <a:extLst>
              <a:ext uri="{FF2B5EF4-FFF2-40B4-BE49-F238E27FC236}">
                <a16:creationId xmlns:a16="http://schemas.microsoft.com/office/drawing/2014/main" id="{326AFFF7-9AA8-401E-A7FA-0C8217E3F2A0}"/>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63AA5655-3414-4780-A463-E272BC81DB51}"/>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预处理服务于传统特征提取，同时保留原始文本供 BERT 使用</a:t>
            </a:r>
          </a:p>
        </p:txBody>
      </p:sp>
      <p:sp>
        <p:nvSpPr>
          <p:cNvPr id="4" name="矩形: 圆角 3">
            <a:extLst>
              <a:ext uri="{FF2B5EF4-FFF2-40B4-BE49-F238E27FC236}">
                <a16:creationId xmlns:a16="http://schemas.microsoft.com/office/drawing/2014/main" id="{77BB2BD2-350D-425E-A2A5-5419549EEC6C}"/>
              </a:ext>
            </a:extLst>
          </p:cNvPr>
          <p:cNvSpPr>
            <a:spLocks noGrp="1"/>
          </p:cNvSpPr>
          <p:nvPr/>
        </p:nvSpPr>
        <p:spPr>
          <a:xfrm>
            <a:off x="704850" y="1447800"/>
            <a:ext cx="4953000" cy="3028950"/>
          </a:xfrm>
          <a:prstGeom prst="roundRect">
            <a:avLst>
              <a:gd name="adj" fmla="val 3774"/>
            </a:avLst>
          </a:prstGeom>
          <a:solidFill>
            <a:srgbClr val="FFFFFF"/>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02FB6F06-5C1A-4E73-B92C-1CC137F96025}"/>
              </a:ext>
            </a:extLst>
          </p:cNvPr>
          <p:cNvSpPr>
            <a:spLocks noGrp="1"/>
          </p:cNvSpPr>
          <p:nvPr/>
        </p:nvSpPr>
        <p:spPr>
          <a:xfrm>
            <a:off x="990600" y="1752600"/>
            <a:ext cx="1524000" cy="304800"/>
          </a:xfrm>
          <a:prstGeom prst="rect">
            <a:avLst/>
          </a:prstGeom>
          <a:noFill/>
          <a:ln w="0">
            <a:noFill/>
            <a:prstDash val="solid"/>
          </a:ln>
        </p:spPr>
        <p:txBody>
          <a:bodyPr/>
          <a:lstStyle/>
          <a:p>
            <a:pPr algn="l">
              <a:defRPr sz="1875" b="1" i="0">
                <a:solidFill>
                  <a:srgbClr val="1E3A8A"/>
                </a:solidFill>
              </a:defRPr>
            </a:pPr>
            <a:r>
              <a:rPr sz="1875" b="1" i="0">
                <a:solidFill>
                  <a:srgbClr val="1E3A8A"/>
                </a:solidFill>
              </a:rPr>
              <a:t>处理流程</a:t>
            </a:r>
          </a:p>
        </p:txBody>
      </p:sp>
      <p:sp>
        <p:nvSpPr>
          <p:cNvPr id="6" name="矩形 5">
            <a:extLst>
              <a:ext uri="{FF2B5EF4-FFF2-40B4-BE49-F238E27FC236}">
                <a16:creationId xmlns:a16="http://schemas.microsoft.com/office/drawing/2014/main" id="{492E4F7D-F491-4A84-AD22-238BDA3C5AF6}"/>
              </a:ext>
            </a:extLst>
          </p:cNvPr>
          <p:cNvSpPr>
            <a:spLocks noGrp="1"/>
          </p:cNvSpPr>
          <p:nvPr/>
        </p:nvSpPr>
        <p:spPr>
          <a:xfrm>
            <a:off x="990600" y="2362200"/>
            <a:ext cx="85725" cy="85725"/>
          </a:xfrm>
          <a:prstGeom prst="rect">
            <a:avLst/>
          </a:prstGeom>
          <a:solidFill>
            <a:srgbClr val="2563EB"/>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359B19BF-F039-41EA-922B-53B7217A1219}"/>
              </a:ext>
            </a:extLst>
          </p:cNvPr>
          <p:cNvSpPr>
            <a:spLocks noGrp="1"/>
          </p:cNvSpPr>
          <p:nvPr/>
        </p:nvSpPr>
        <p:spPr>
          <a:xfrm>
            <a:off x="1219200" y="2266950"/>
            <a:ext cx="3867150" cy="476250"/>
          </a:xfrm>
          <a:prstGeom prst="rect">
            <a:avLst/>
          </a:prstGeom>
          <a:noFill/>
          <a:ln w="0">
            <a:noFill/>
            <a:prstDash val="solid"/>
          </a:ln>
        </p:spPr>
        <p:txBody>
          <a:bodyPr/>
          <a:lstStyle/>
          <a:p>
            <a:pPr algn="l">
              <a:defRPr sz="1425" b="0" i="0">
                <a:solidFill>
                  <a:srgbClr val="0F172A"/>
                </a:solidFill>
              </a:defRPr>
            </a:pPr>
            <a:r>
              <a:rPr sz="1425" b="0" i="0">
                <a:solidFill>
                  <a:srgbClr val="0F172A"/>
                </a:solidFill>
              </a:rPr>
              <a:t>读取 train/dev/test JSON 文件</a:t>
            </a:r>
          </a:p>
        </p:txBody>
      </p:sp>
      <p:sp>
        <p:nvSpPr>
          <p:cNvPr id="8" name="矩形 7">
            <a:extLst>
              <a:ext uri="{FF2B5EF4-FFF2-40B4-BE49-F238E27FC236}">
                <a16:creationId xmlns:a16="http://schemas.microsoft.com/office/drawing/2014/main" id="{5DECA41F-0DB9-48A8-AF40-B84527BE3206}"/>
              </a:ext>
            </a:extLst>
          </p:cNvPr>
          <p:cNvSpPr>
            <a:spLocks noGrp="1"/>
          </p:cNvSpPr>
          <p:nvPr/>
        </p:nvSpPr>
        <p:spPr>
          <a:xfrm>
            <a:off x="990600" y="2762250"/>
            <a:ext cx="85725" cy="85725"/>
          </a:xfrm>
          <a:prstGeom prst="rect">
            <a:avLst/>
          </a:prstGeom>
          <a:solidFill>
            <a:srgbClr val="2563EB"/>
          </a:soli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924BC525-9F92-438A-B1CA-53C8AE8438F2}"/>
              </a:ext>
            </a:extLst>
          </p:cNvPr>
          <p:cNvSpPr>
            <a:spLocks noGrp="1"/>
          </p:cNvSpPr>
          <p:nvPr/>
        </p:nvSpPr>
        <p:spPr>
          <a:xfrm>
            <a:off x="1219200" y="2667000"/>
            <a:ext cx="3867150" cy="476250"/>
          </a:xfrm>
          <a:prstGeom prst="rect">
            <a:avLst/>
          </a:prstGeom>
          <a:noFill/>
          <a:ln w="0">
            <a:noFill/>
            <a:prstDash val="solid"/>
          </a:ln>
        </p:spPr>
        <p:txBody>
          <a:bodyPr/>
          <a:lstStyle/>
          <a:p>
            <a:pPr algn="l">
              <a:defRPr sz="1425" b="0" i="0">
                <a:solidFill>
                  <a:srgbClr val="0F172A"/>
                </a:solidFill>
              </a:defRPr>
            </a:pPr>
            <a:r>
              <a:rPr sz="1425" b="0" i="0">
                <a:solidFill>
                  <a:srgbClr val="0F172A"/>
                </a:solidFill>
              </a:rPr>
              <a:t>拼接摘要与关键词集合</a:t>
            </a:r>
          </a:p>
        </p:txBody>
      </p:sp>
      <p:sp>
        <p:nvSpPr>
          <p:cNvPr id="10" name="矩形 9">
            <a:extLst>
              <a:ext uri="{FF2B5EF4-FFF2-40B4-BE49-F238E27FC236}">
                <a16:creationId xmlns:a16="http://schemas.microsoft.com/office/drawing/2014/main" id="{0A1DB53B-8DF4-460B-AE84-31EB468E31D6}"/>
              </a:ext>
            </a:extLst>
          </p:cNvPr>
          <p:cNvSpPr>
            <a:spLocks noGrp="1"/>
          </p:cNvSpPr>
          <p:nvPr/>
        </p:nvSpPr>
        <p:spPr>
          <a:xfrm>
            <a:off x="990600" y="3162300"/>
            <a:ext cx="85725" cy="85725"/>
          </a:xfrm>
          <a:prstGeom prst="rect">
            <a:avLst/>
          </a:prstGeom>
          <a:solidFill>
            <a:srgbClr val="2563EB"/>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021234C0-69D0-46E3-84DA-26D656029FAC}"/>
              </a:ext>
            </a:extLst>
          </p:cNvPr>
          <p:cNvSpPr>
            <a:spLocks noGrp="1"/>
          </p:cNvSpPr>
          <p:nvPr/>
        </p:nvSpPr>
        <p:spPr>
          <a:xfrm>
            <a:off x="1219200" y="3067050"/>
            <a:ext cx="3867150" cy="476250"/>
          </a:xfrm>
          <a:prstGeom prst="rect">
            <a:avLst/>
          </a:prstGeom>
          <a:noFill/>
          <a:ln w="0">
            <a:noFill/>
            <a:prstDash val="solid"/>
          </a:ln>
        </p:spPr>
        <p:txBody>
          <a:bodyPr/>
          <a:lstStyle/>
          <a:p>
            <a:pPr algn="l">
              <a:defRPr sz="1425" b="0" i="0">
                <a:solidFill>
                  <a:srgbClr val="0F172A"/>
                </a:solidFill>
              </a:defRPr>
            </a:pPr>
            <a:r>
              <a:rPr sz="1425" b="0" i="0">
                <a:solidFill>
                  <a:srgbClr val="0F172A"/>
                </a:solidFill>
              </a:rPr>
              <a:t>使用 jieba 进行中文分词</a:t>
            </a:r>
          </a:p>
        </p:txBody>
      </p:sp>
      <p:sp>
        <p:nvSpPr>
          <p:cNvPr id="12" name="矩形 11">
            <a:extLst>
              <a:ext uri="{FF2B5EF4-FFF2-40B4-BE49-F238E27FC236}">
                <a16:creationId xmlns:a16="http://schemas.microsoft.com/office/drawing/2014/main" id="{B01FC6C6-D525-48A7-B97B-B3FDD925E9FD}"/>
              </a:ext>
            </a:extLst>
          </p:cNvPr>
          <p:cNvSpPr>
            <a:spLocks noGrp="1"/>
          </p:cNvSpPr>
          <p:nvPr/>
        </p:nvSpPr>
        <p:spPr>
          <a:xfrm>
            <a:off x="990600" y="3562350"/>
            <a:ext cx="85725" cy="85725"/>
          </a:xfrm>
          <a:prstGeom prst="rect">
            <a:avLst/>
          </a:prstGeom>
          <a:solidFill>
            <a:srgbClr val="2563EB"/>
          </a:solidFill>
          <a:ln w="0">
            <a:noFill/>
            <a:prstDash val="solid"/>
          </a:ln>
        </p:spPr>
        <p:txBody>
          <a:bodyPr/>
          <a:lstStyle/>
          <a:p>
            <a:endParaRPr lang="zh-CN" altLang="en-US"/>
          </a:p>
        </p:txBody>
      </p:sp>
      <p:sp>
        <p:nvSpPr>
          <p:cNvPr id="13" name="矩形 12">
            <a:extLst>
              <a:ext uri="{FF2B5EF4-FFF2-40B4-BE49-F238E27FC236}">
                <a16:creationId xmlns:a16="http://schemas.microsoft.com/office/drawing/2014/main" id="{228A9542-5A56-420C-B6DE-AA9966C1A568}"/>
              </a:ext>
            </a:extLst>
          </p:cNvPr>
          <p:cNvSpPr>
            <a:spLocks noGrp="1"/>
          </p:cNvSpPr>
          <p:nvPr/>
        </p:nvSpPr>
        <p:spPr>
          <a:xfrm>
            <a:off x="1219200" y="3467100"/>
            <a:ext cx="3867150" cy="476250"/>
          </a:xfrm>
          <a:prstGeom prst="rect">
            <a:avLst/>
          </a:prstGeom>
          <a:noFill/>
          <a:ln w="0">
            <a:noFill/>
            <a:prstDash val="solid"/>
          </a:ln>
        </p:spPr>
        <p:txBody>
          <a:bodyPr/>
          <a:lstStyle/>
          <a:p>
            <a:pPr algn="l">
              <a:defRPr sz="1425" b="0" i="0">
                <a:solidFill>
                  <a:srgbClr val="0F172A"/>
                </a:solidFill>
              </a:defRPr>
            </a:pPr>
            <a:r>
              <a:rPr sz="1425" b="0" i="0">
                <a:solidFill>
                  <a:srgbClr val="0F172A"/>
                </a:solidFill>
              </a:rPr>
              <a:t>过滤自定义停用词和模板化虚词</a:t>
            </a:r>
          </a:p>
        </p:txBody>
      </p:sp>
      <p:sp>
        <p:nvSpPr>
          <p:cNvPr id="14" name="矩形 13">
            <a:extLst>
              <a:ext uri="{FF2B5EF4-FFF2-40B4-BE49-F238E27FC236}">
                <a16:creationId xmlns:a16="http://schemas.microsoft.com/office/drawing/2014/main" id="{F04DE3FE-2112-4D05-BED2-B0168111359A}"/>
              </a:ext>
            </a:extLst>
          </p:cNvPr>
          <p:cNvSpPr>
            <a:spLocks noGrp="1"/>
          </p:cNvSpPr>
          <p:nvPr/>
        </p:nvSpPr>
        <p:spPr>
          <a:xfrm>
            <a:off x="990600" y="3962400"/>
            <a:ext cx="85725" cy="85725"/>
          </a:xfrm>
          <a:prstGeom prst="rect">
            <a:avLst/>
          </a:prstGeom>
          <a:solidFill>
            <a:srgbClr val="2563EB"/>
          </a:solidFill>
          <a:ln w="0">
            <a:noFill/>
            <a:prstDash val="solid"/>
          </a:ln>
        </p:spPr>
        <p:txBody>
          <a:bodyPr/>
          <a:lstStyle/>
          <a:p>
            <a:endParaRPr lang="zh-CN" altLang="en-US"/>
          </a:p>
        </p:txBody>
      </p:sp>
      <p:sp>
        <p:nvSpPr>
          <p:cNvPr id="15" name="矩形 14">
            <a:extLst>
              <a:ext uri="{FF2B5EF4-FFF2-40B4-BE49-F238E27FC236}">
                <a16:creationId xmlns:a16="http://schemas.microsoft.com/office/drawing/2014/main" id="{1E027374-43AC-41D4-992F-EA0792206BF7}"/>
              </a:ext>
            </a:extLst>
          </p:cNvPr>
          <p:cNvSpPr>
            <a:spLocks noGrp="1"/>
          </p:cNvSpPr>
          <p:nvPr/>
        </p:nvSpPr>
        <p:spPr>
          <a:xfrm>
            <a:off x="1219200" y="3867150"/>
            <a:ext cx="3867150" cy="476250"/>
          </a:xfrm>
          <a:prstGeom prst="rect">
            <a:avLst/>
          </a:prstGeom>
          <a:noFill/>
          <a:ln w="0">
            <a:noFill/>
            <a:prstDash val="solid"/>
          </a:ln>
        </p:spPr>
        <p:txBody>
          <a:bodyPr/>
          <a:lstStyle/>
          <a:p>
            <a:pPr algn="l">
              <a:defRPr sz="1425" b="0" i="0">
                <a:solidFill>
                  <a:srgbClr val="0F172A"/>
                </a:solidFill>
              </a:defRPr>
            </a:pPr>
            <a:r>
              <a:rPr sz="1425" b="0" i="0">
                <a:solidFill>
                  <a:srgbClr val="0F172A"/>
                </a:solidFill>
              </a:rPr>
              <a:t>保存 token 化 CSV 与统计 JSON</a:t>
            </a:r>
          </a:p>
        </p:txBody>
      </p:sp>
      <p:sp>
        <p:nvSpPr>
          <p:cNvPr id="16" name="矩形 15">
            <a:extLst>
              <a:ext uri="{FF2B5EF4-FFF2-40B4-BE49-F238E27FC236}">
                <a16:creationId xmlns:a16="http://schemas.microsoft.com/office/drawing/2014/main" id="{57588D34-B998-4BBA-A8E1-38E136C3927E}"/>
              </a:ext>
            </a:extLst>
          </p:cNvPr>
          <p:cNvSpPr>
            <a:spLocks noGrp="1"/>
          </p:cNvSpPr>
          <p:nvPr/>
        </p:nvSpPr>
        <p:spPr>
          <a:xfrm>
            <a:off x="6267450" y="1466850"/>
            <a:ext cx="1143000" cy="476250"/>
          </a:xfrm>
          <a:prstGeom prst="rect">
            <a:avLst/>
          </a:prstGeom>
          <a:solidFill>
            <a:srgbClr val="1E3A8A"/>
          </a:solidFill>
          <a:ln w="9525">
            <a:solidFill>
              <a:srgbClr val="E2E8F0"/>
            </a:solidFill>
            <a:prstDash val="solid"/>
          </a:ln>
        </p:spPr>
        <p:txBody>
          <a:bodyPr/>
          <a:lstStyle/>
          <a:p>
            <a:endParaRPr lang="zh-CN" altLang="en-US"/>
          </a:p>
        </p:txBody>
      </p:sp>
      <p:sp>
        <p:nvSpPr>
          <p:cNvPr id="17" name="矩形 16">
            <a:extLst>
              <a:ext uri="{FF2B5EF4-FFF2-40B4-BE49-F238E27FC236}">
                <a16:creationId xmlns:a16="http://schemas.microsoft.com/office/drawing/2014/main" id="{32382925-0FCC-4B3D-B659-E08C5D01DE35}"/>
              </a:ext>
            </a:extLst>
          </p:cNvPr>
          <p:cNvSpPr>
            <a:spLocks noGrp="1"/>
          </p:cNvSpPr>
          <p:nvPr/>
        </p:nvSpPr>
        <p:spPr>
          <a:xfrm>
            <a:off x="6362700" y="1543050"/>
            <a:ext cx="952500" cy="361950"/>
          </a:xfrm>
          <a:prstGeom prst="rect">
            <a:avLst/>
          </a:prstGeom>
          <a:noFill/>
          <a:ln w="0">
            <a:noFill/>
            <a:prstDash val="solid"/>
          </a:ln>
        </p:spPr>
        <p:txBody>
          <a:bodyPr/>
          <a:lstStyle/>
          <a:p>
            <a:pPr algn="l">
              <a:defRPr sz="1275" b="1" i="0">
                <a:solidFill>
                  <a:srgbClr val="FFFFFF"/>
                </a:solidFill>
              </a:defRPr>
            </a:pPr>
            <a:r>
              <a:rPr sz="1275" b="1" i="0">
                <a:solidFill>
                  <a:srgbClr val="FFFFFF"/>
                </a:solidFill>
              </a:rPr>
              <a:t>划分</a:t>
            </a:r>
          </a:p>
        </p:txBody>
      </p:sp>
      <p:sp>
        <p:nvSpPr>
          <p:cNvPr id="18" name="矩形 17">
            <a:extLst>
              <a:ext uri="{FF2B5EF4-FFF2-40B4-BE49-F238E27FC236}">
                <a16:creationId xmlns:a16="http://schemas.microsoft.com/office/drawing/2014/main" id="{00EBD34C-26FD-418F-846D-F5DDC79B322C}"/>
              </a:ext>
            </a:extLst>
          </p:cNvPr>
          <p:cNvSpPr>
            <a:spLocks noGrp="1"/>
          </p:cNvSpPr>
          <p:nvPr/>
        </p:nvSpPr>
        <p:spPr>
          <a:xfrm>
            <a:off x="7410450" y="1466850"/>
            <a:ext cx="1666875" cy="476250"/>
          </a:xfrm>
          <a:prstGeom prst="rect">
            <a:avLst/>
          </a:prstGeom>
          <a:solidFill>
            <a:srgbClr val="1E3A8A"/>
          </a:solidFill>
          <a:ln w="9525">
            <a:solidFill>
              <a:srgbClr val="E2E8F0"/>
            </a:solidFill>
            <a:prstDash val="solid"/>
          </a:ln>
        </p:spPr>
        <p:txBody>
          <a:bodyPr/>
          <a:lstStyle/>
          <a:p>
            <a:endParaRPr lang="zh-CN" altLang="en-US"/>
          </a:p>
        </p:txBody>
      </p:sp>
      <p:sp>
        <p:nvSpPr>
          <p:cNvPr id="19" name="矩形 18">
            <a:extLst>
              <a:ext uri="{FF2B5EF4-FFF2-40B4-BE49-F238E27FC236}">
                <a16:creationId xmlns:a16="http://schemas.microsoft.com/office/drawing/2014/main" id="{BE9B50F7-6756-4382-997C-AF9D0AC6FC59}"/>
              </a:ext>
            </a:extLst>
          </p:cNvPr>
          <p:cNvSpPr>
            <a:spLocks noGrp="1"/>
          </p:cNvSpPr>
          <p:nvPr/>
        </p:nvSpPr>
        <p:spPr>
          <a:xfrm>
            <a:off x="7505700" y="1543050"/>
            <a:ext cx="1476375" cy="361950"/>
          </a:xfrm>
          <a:prstGeom prst="rect">
            <a:avLst/>
          </a:prstGeom>
          <a:noFill/>
          <a:ln w="0">
            <a:noFill/>
            <a:prstDash val="solid"/>
          </a:ln>
        </p:spPr>
        <p:txBody>
          <a:bodyPr/>
          <a:lstStyle/>
          <a:p>
            <a:pPr algn="ctr">
              <a:defRPr sz="1275" b="1" i="0">
                <a:solidFill>
                  <a:srgbClr val="FFFFFF"/>
                </a:solidFill>
              </a:defRPr>
            </a:pPr>
            <a:r>
              <a:rPr sz="1275" b="1" i="0">
                <a:solidFill>
                  <a:srgbClr val="FFFFFF"/>
                </a:solidFill>
              </a:rPr>
              <a:t>before</a:t>
            </a:r>
          </a:p>
        </p:txBody>
      </p:sp>
      <p:sp>
        <p:nvSpPr>
          <p:cNvPr id="20" name="矩形 19">
            <a:extLst>
              <a:ext uri="{FF2B5EF4-FFF2-40B4-BE49-F238E27FC236}">
                <a16:creationId xmlns:a16="http://schemas.microsoft.com/office/drawing/2014/main" id="{4F117C87-D649-466D-A364-7C9338D5CF67}"/>
              </a:ext>
            </a:extLst>
          </p:cNvPr>
          <p:cNvSpPr>
            <a:spLocks noGrp="1"/>
          </p:cNvSpPr>
          <p:nvPr/>
        </p:nvSpPr>
        <p:spPr>
          <a:xfrm>
            <a:off x="9077325" y="1466850"/>
            <a:ext cx="1666875" cy="476250"/>
          </a:xfrm>
          <a:prstGeom prst="rect">
            <a:avLst/>
          </a:prstGeom>
          <a:solidFill>
            <a:srgbClr val="1E3A8A"/>
          </a:solidFill>
          <a:ln w="9525">
            <a:solidFill>
              <a:srgbClr val="E2E8F0"/>
            </a:solidFill>
            <a:prstDash val="solid"/>
          </a:ln>
        </p:spPr>
        <p:txBody>
          <a:bodyPr/>
          <a:lstStyle/>
          <a:p>
            <a:endParaRPr lang="zh-CN" altLang="en-US"/>
          </a:p>
        </p:txBody>
      </p:sp>
      <p:sp>
        <p:nvSpPr>
          <p:cNvPr id="21" name="矩形 20">
            <a:extLst>
              <a:ext uri="{FF2B5EF4-FFF2-40B4-BE49-F238E27FC236}">
                <a16:creationId xmlns:a16="http://schemas.microsoft.com/office/drawing/2014/main" id="{229575EF-F494-4E1F-A067-B0CCDC5B83D4}"/>
              </a:ext>
            </a:extLst>
          </p:cNvPr>
          <p:cNvSpPr>
            <a:spLocks noGrp="1"/>
          </p:cNvSpPr>
          <p:nvPr/>
        </p:nvSpPr>
        <p:spPr>
          <a:xfrm>
            <a:off x="9172575" y="1543050"/>
            <a:ext cx="1476375" cy="361950"/>
          </a:xfrm>
          <a:prstGeom prst="rect">
            <a:avLst/>
          </a:prstGeom>
          <a:noFill/>
          <a:ln w="0">
            <a:noFill/>
            <a:prstDash val="solid"/>
          </a:ln>
        </p:spPr>
        <p:txBody>
          <a:bodyPr/>
          <a:lstStyle/>
          <a:p>
            <a:pPr algn="ctr">
              <a:defRPr sz="1275" b="1" i="0">
                <a:solidFill>
                  <a:srgbClr val="FFFFFF"/>
                </a:solidFill>
              </a:defRPr>
            </a:pPr>
            <a:r>
              <a:rPr sz="1275" b="1" i="0">
                <a:solidFill>
                  <a:srgbClr val="FFFFFF"/>
                </a:solidFill>
              </a:rPr>
              <a:t>after</a:t>
            </a:r>
          </a:p>
        </p:txBody>
      </p:sp>
      <p:sp>
        <p:nvSpPr>
          <p:cNvPr id="22" name="矩形 21">
            <a:extLst>
              <a:ext uri="{FF2B5EF4-FFF2-40B4-BE49-F238E27FC236}">
                <a16:creationId xmlns:a16="http://schemas.microsoft.com/office/drawing/2014/main" id="{7EC688F5-FD43-43BA-A46D-C126B6EAE1D2}"/>
              </a:ext>
            </a:extLst>
          </p:cNvPr>
          <p:cNvSpPr>
            <a:spLocks noGrp="1"/>
          </p:cNvSpPr>
          <p:nvPr/>
        </p:nvSpPr>
        <p:spPr>
          <a:xfrm>
            <a:off x="10744200" y="1466850"/>
            <a:ext cx="1285875" cy="476250"/>
          </a:xfrm>
          <a:prstGeom prst="rect">
            <a:avLst/>
          </a:prstGeom>
          <a:solidFill>
            <a:srgbClr val="1E3A8A"/>
          </a:solidFill>
          <a:ln w="9525">
            <a:solidFill>
              <a:srgbClr val="E2E8F0"/>
            </a:solidFill>
            <a:prstDash val="solid"/>
          </a:ln>
        </p:spPr>
        <p:txBody>
          <a:bodyPr/>
          <a:lstStyle/>
          <a:p>
            <a:endParaRPr lang="zh-CN" altLang="en-US"/>
          </a:p>
        </p:txBody>
      </p:sp>
      <p:sp>
        <p:nvSpPr>
          <p:cNvPr id="23" name="矩形 22">
            <a:extLst>
              <a:ext uri="{FF2B5EF4-FFF2-40B4-BE49-F238E27FC236}">
                <a16:creationId xmlns:a16="http://schemas.microsoft.com/office/drawing/2014/main" id="{9558580E-98DB-480A-9E13-193AE32345D0}"/>
              </a:ext>
            </a:extLst>
          </p:cNvPr>
          <p:cNvSpPr>
            <a:spLocks noGrp="1"/>
          </p:cNvSpPr>
          <p:nvPr/>
        </p:nvSpPr>
        <p:spPr>
          <a:xfrm>
            <a:off x="10839450" y="1543050"/>
            <a:ext cx="1095375" cy="361950"/>
          </a:xfrm>
          <a:prstGeom prst="rect">
            <a:avLst/>
          </a:prstGeom>
          <a:noFill/>
          <a:ln w="0">
            <a:noFill/>
            <a:prstDash val="solid"/>
          </a:ln>
        </p:spPr>
        <p:txBody>
          <a:bodyPr/>
          <a:lstStyle/>
          <a:p>
            <a:pPr algn="ctr">
              <a:defRPr sz="1275" b="1" i="0">
                <a:solidFill>
                  <a:srgbClr val="FFFFFF"/>
                </a:solidFill>
              </a:defRPr>
            </a:pPr>
            <a:r>
              <a:rPr sz="1275" b="1" i="0">
                <a:solidFill>
                  <a:srgbClr val="FFFFFF"/>
                </a:solidFill>
              </a:rPr>
              <a:t>过滤率</a:t>
            </a:r>
          </a:p>
        </p:txBody>
      </p:sp>
      <p:sp>
        <p:nvSpPr>
          <p:cNvPr id="24" name="矩形 23">
            <a:extLst>
              <a:ext uri="{FF2B5EF4-FFF2-40B4-BE49-F238E27FC236}">
                <a16:creationId xmlns:a16="http://schemas.microsoft.com/office/drawing/2014/main" id="{940FA288-7397-4C91-A87E-8B8753E8BDC0}"/>
              </a:ext>
            </a:extLst>
          </p:cNvPr>
          <p:cNvSpPr>
            <a:spLocks noGrp="1"/>
          </p:cNvSpPr>
          <p:nvPr/>
        </p:nvSpPr>
        <p:spPr>
          <a:xfrm>
            <a:off x="6267450" y="1943100"/>
            <a:ext cx="1143000" cy="476250"/>
          </a:xfrm>
          <a:prstGeom prst="rect">
            <a:avLst/>
          </a:prstGeom>
          <a:solidFill>
            <a:srgbClr val="FFFFFF"/>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D9A12A28-E4CC-4D3E-A890-1838E6EF93F2}"/>
              </a:ext>
            </a:extLst>
          </p:cNvPr>
          <p:cNvSpPr>
            <a:spLocks noGrp="1"/>
          </p:cNvSpPr>
          <p:nvPr/>
        </p:nvSpPr>
        <p:spPr>
          <a:xfrm>
            <a:off x="6362700" y="2019300"/>
            <a:ext cx="952500" cy="3619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train</a:t>
            </a:r>
          </a:p>
        </p:txBody>
      </p:sp>
      <p:sp>
        <p:nvSpPr>
          <p:cNvPr id="26" name="矩形 25">
            <a:extLst>
              <a:ext uri="{FF2B5EF4-FFF2-40B4-BE49-F238E27FC236}">
                <a16:creationId xmlns:a16="http://schemas.microsoft.com/office/drawing/2014/main" id="{767BC1F7-3D7B-4891-A87F-4788E9398BD5}"/>
              </a:ext>
            </a:extLst>
          </p:cNvPr>
          <p:cNvSpPr>
            <a:spLocks noGrp="1"/>
          </p:cNvSpPr>
          <p:nvPr/>
        </p:nvSpPr>
        <p:spPr>
          <a:xfrm>
            <a:off x="7410450" y="1943100"/>
            <a:ext cx="1666875" cy="476250"/>
          </a:xfrm>
          <a:prstGeom prst="rect">
            <a:avLst/>
          </a:prstGeom>
          <a:solidFill>
            <a:srgbClr val="FFFFFF"/>
          </a:solidFill>
          <a:ln w="9525">
            <a:solidFill>
              <a:srgbClr val="E2E8F0"/>
            </a:solidFill>
            <a:prstDash val="solid"/>
          </a:ln>
        </p:spPr>
        <p:txBody>
          <a:bodyPr/>
          <a:lstStyle/>
          <a:p>
            <a:endParaRPr lang="zh-CN" altLang="en-US"/>
          </a:p>
        </p:txBody>
      </p:sp>
      <p:sp>
        <p:nvSpPr>
          <p:cNvPr id="27" name="矩形 26">
            <a:extLst>
              <a:ext uri="{FF2B5EF4-FFF2-40B4-BE49-F238E27FC236}">
                <a16:creationId xmlns:a16="http://schemas.microsoft.com/office/drawing/2014/main" id="{EF6A952F-F28C-4821-AC7A-06A3C77DB9FE}"/>
              </a:ext>
            </a:extLst>
          </p:cNvPr>
          <p:cNvSpPr>
            <a:spLocks noGrp="1"/>
          </p:cNvSpPr>
          <p:nvPr/>
        </p:nvSpPr>
        <p:spPr>
          <a:xfrm>
            <a:off x="7505700" y="201930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3,232,465</a:t>
            </a:r>
          </a:p>
        </p:txBody>
      </p:sp>
      <p:sp>
        <p:nvSpPr>
          <p:cNvPr id="28" name="矩形 27">
            <a:extLst>
              <a:ext uri="{FF2B5EF4-FFF2-40B4-BE49-F238E27FC236}">
                <a16:creationId xmlns:a16="http://schemas.microsoft.com/office/drawing/2014/main" id="{39B48E07-64E7-4D4E-AB5A-F6532943C89A}"/>
              </a:ext>
            </a:extLst>
          </p:cNvPr>
          <p:cNvSpPr>
            <a:spLocks noGrp="1"/>
          </p:cNvSpPr>
          <p:nvPr/>
        </p:nvSpPr>
        <p:spPr>
          <a:xfrm>
            <a:off x="9077325" y="1943100"/>
            <a:ext cx="1666875" cy="476250"/>
          </a:xfrm>
          <a:prstGeom prst="rect">
            <a:avLst/>
          </a:prstGeom>
          <a:solidFill>
            <a:srgbClr val="FFFFFF"/>
          </a:solidFill>
          <a:ln w="9525">
            <a:solidFill>
              <a:srgbClr val="E2E8F0"/>
            </a:solidFill>
            <a:prstDash val="solid"/>
          </a:ln>
        </p:spPr>
        <p:txBody>
          <a:bodyPr/>
          <a:lstStyle/>
          <a:p>
            <a:endParaRPr lang="zh-CN" altLang="en-US"/>
          </a:p>
        </p:txBody>
      </p:sp>
      <p:sp>
        <p:nvSpPr>
          <p:cNvPr id="29" name="矩形 28">
            <a:extLst>
              <a:ext uri="{FF2B5EF4-FFF2-40B4-BE49-F238E27FC236}">
                <a16:creationId xmlns:a16="http://schemas.microsoft.com/office/drawing/2014/main" id="{2BAFFD85-C697-4140-9249-D98D97B41E2F}"/>
              </a:ext>
            </a:extLst>
          </p:cNvPr>
          <p:cNvSpPr>
            <a:spLocks noGrp="1"/>
          </p:cNvSpPr>
          <p:nvPr/>
        </p:nvSpPr>
        <p:spPr>
          <a:xfrm>
            <a:off x="9172575" y="201930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2,291,292</a:t>
            </a:r>
          </a:p>
        </p:txBody>
      </p:sp>
      <p:sp>
        <p:nvSpPr>
          <p:cNvPr id="30" name="矩形 29">
            <a:extLst>
              <a:ext uri="{FF2B5EF4-FFF2-40B4-BE49-F238E27FC236}">
                <a16:creationId xmlns:a16="http://schemas.microsoft.com/office/drawing/2014/main" id="{393786A6-9F9D-4603-BB0D-2DAF16A35A7F}"/>
              </a:ext>
            </a:extLst>
          </p:cNvPr>
          <p:cNvSpPr>
            <a:spLocks noGrp="1"/>
          </p:cNvSpPr>
          <p:nvPr/>
        </p:nvSpPr>
        <p:spPr>
          <a:xfrm>
            <a:off x="10744200" y="1943100"/>
            <a:ext cx="1285875" cy="476250"/>
          </a:xfrm>
          <a:prstGeom prst="rect">
            <a:avLst/>
          </a:prstGeom>
          <a:solidFill>
            <a:srgbClr val="FFFFFF"/>
          </a:solidFill>
          <a:ln w="9525">
            <a:solidFill>
              <a:srgbClr val="E2E8F0"/>
            </a:solidFill>
            <a:prstDash val="solid"/>
          </a:ln>
        </p:spPr>
        <p:txBody>
          <a:bodyPr/>
          <a:lstStyle/>
          <a:p>
            <a:endParaRPr lang="zh-CN" altLang="en-US"/>
          </a:p>
        </p:txBody>
      </p:sp>
      <p:sp>
        <p:nvSpPr>
          <p:cNvPr id="31" name="矩形 30">
            <a:extLst>
              <a:ext uri="{FF2B5EF4-FFF2-40B4-BE49-F238E27FC236}">
                <a16:creationId xmlns:a16="http://schemas.microsoft.com/office/drawing/2014/main" id="{9F6A97AC-D445-4E0B-B6A0-F18A34204148}"/>
              </a:ext>
            </a:extLst>
          </p:cNvPr>
          <p:cNvSpPr>
            <a:spLocks noGrp="1"/>
          </p:cNvSpPr>
          <p:nvPr/>
        </p:nvSpPr>
        <p:spPr>
          <a:xfrm>
            <a:off x="10839450" y="2019300"/>
            <a:ext cx="1095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29.12%</a:t>
            </a:r>
          </a:p>
        </p:txBody>
      </p:sp>
      <p:sp>
        <p:nvSpPr>
          <p:cNvPr id="32" name="矩形 31">
            <a:extLst>
              <a:ext uri="{FF2B5EF4-FFF2-40B4-BE49-F238E27FC236}">
                <a16:creationId xmlns:a16="http://schemas.microsoft.com/office/drawing/2014/main" id="{F0834525-9CD9-4A91-982F-81F00EEBEAA3}"/>
              </a:ext>
            </a:extLst>
          </p:cNvPr>
          <p:cNvSpPr>
            <a:spLocks noGrp="1"/>
          </p:cNvSpPr>
          <p:nvPr/>
        </p:nvSpPr>
        <p:spPr>
          <a:xfrm>
            <a:off x="6267450" y="2419350"/>
            <a:ext cx="1143000" cy="476250"/>
          </a:xfrm>
          <a:prstGeom prst="rect">
            <a:avLst/>
          </a:prstGeom>
          <a:solidFill>
            <a:srgbClr val="F8FAFC"/>
          </a:solidFill>
          <a:ln w="9525">
            <a:solidFill>
              <a:srgbClr val="E2E8F0"/>
            </a:solidFill>
            <a:prstDash val="solid"/>
          </a:ln>
        </p:spPr>
        <p:txBody>
          <a:bodyPr/>
          <a:lstStyle/>
          <a:p>
            <a:endParaRPr lang="zh-CN" altLang="en-US"/>
          </a:p>
        </p:txBody>
      </p:sp>
      <p:sp>
        <p:nvSpPr>
          <p:cNvPr id="33" name="矩形 32">
            <a:extLst>
              <a:ext uri="{FF2B5EF4-FFF2-40B4-BE49-F238E27FC236}">
                <a16:creationId xmlns:a16="http://schemas.microsoft.com/office/drawing/2014/main" id="{383138A4-FC75-49E3-9477-234E65338E2B}"/>
              </a:ext>
            </a:extLst>
          </p:cNvPr>
          <p:cNvSpPr>
            <a:spLocks noGrp="1"/>
          </p:cNvSpPr>
          <p:nvPr/>
        </p:nvSpPr>
        <p:spPr>
          <a:xfrm>
            <a:off x="6362700" y="2495550"/>
            <a:ext cx="952500" cy="3619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validation</a:t>
            </a:r>
          </a:p>
        </p:txBody>
      </p:sp>
      <p:sp>
        <p:nvSpPr>
          <p:cNvPr id="34" name="矩形 33">
            <a:extLst>
              <a:ext uri="{FF2B5EF4-FFF2-40B4-BE49-F238E27FC236}">
                <a16:creationId xmlns:a16="http://schemas.microsoft.com/office/drawing/2014/main" id="{6796B284-80FF-40FB-A833-9C7C46F9C3D5}"/>
              </a:ext>
            </a:extLst>
          </p:cNvPr>
          <p:cNvSpPr>
            <a:spLocks noGrp="1"/>
          </p:cNvSpPr>
          <p:nvPr/>
        </p:nvSpPr>
        <p:spPr>
          <a:xfrm>
            <a:off x="7410450" y="2419350"/>
            <a:ext cx="1666875" cy="476250"/>
          </a:xfrm>
          <a:prstGeom prst="rect">
            <a:avLst/>
          </a:prstGeom>
          <a:solidFill>
            <a:srgbClr val="F8FAFC"/>
          </a:solidFill>
          <a:ln w="9525">
            <a:solidFill>
              <a:srgbClr val="E2E8F0"/>
            </a:solidFill>
            <a:prstDash val="solid"/>
          </a:ln>
        </p:spPr>
        <p:txBody>
          <a:bodyPr/>
          <a:lstStyle/>
          <a:p>
            <a:endParaRPr lang="zh-CN" altLang="en-US"/>
          </a:p>
        </p:txBody>
      </p:sp>
      <p:sp>
        <p:nvSpPr>
          <p:cNvPr id="35" name="矩形 34">
            <a:extLst>
              <a:ext uri="{FF2B5EF4-FFF2-40B4-BE49-F238E27FC236}">
                <a16:creationId xmlns:a16="http://schemas.microsoft.com/office/drawing/2014/main" id="{5D7FC8BA-0644-4D7B-A5E1-0DF26ED01395}"/>
              </a:ext>
            </a:extLst>
          </p:cNvPr>
          <p:cNvSpPr>
            <a:spLocks noGrp="1"/>
          </p:cNvSpPr>
          <p:nvPr/>
        </p:nvSpPr>
        <p:spPr>
          <a:xfrm>
            <a:off x="7505700" y="249555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481,558</a:t>
            </a:r>
          </a:p>
        </p:txBody>
      </p:sp>
      <p:sp>
        <p:nvSpPr>
          <p:cNvPr id="36" name="矩形 35">
            <a:extLst>
              <a:ext uri="{FF2B5EF4-FFF2-40B4-BE49-F238E27FC236}">
                <a16:creationId xmlns:a16="http://schemas.microsoft.com/office/drawing/2014/main" id="{0162FC89-70D9-4F82-A577-7A23DA7FFF3C}"/>
              </a:ext>
            </a:extLst>
          </p:cNvPr>
          <p:cNvSpPr>
            <a:spLocks noGrp="1"/>
          </p:cNvSpPr>
          <p:nvPr/>
        </p:nvSpPr>
        <p:spPr>
          <a:xfrm>
            <a:off x="9077325" y="2419350"/>
            <a:ext cx="1666875" cy="476250"/>
          </a:xfrm>
          <a:prstGeom prst="rect">
            <a:avLst/>
          </a:prstGeom>
          <a:solidFill>
            <a:srgbClr val="F8FAFC"/>
          </a:solidFill>
          <a:ln w="9525">
            <a:solidFill>
              <a:srgbClr val="E2E8F0"/>
            </a:solidFill>
            <a:prstDash val="solid"/>
          </a:ln>
        </p:spPr>
        <p:txBody>
          <a:bodyPr/>
          <a:lstStyle/>
          <a:p>
            <a:endParaRPr lang="zh-CN" altLang="en-US"/>
          </a:p>
        </p:txBody>
      </p:sp>
      <p:sp>
        <p:nvSpPr>
          <p:cNvPr id="37" name="矩形 36">
            <a:extLst>
              <a:ext uri="{FF2B5EF4-FFF2-40B4-BE49-F238E27FC236}">
                <a16:creationId xmlns:a16="http://schemas.microsoft.com/office/drawing/2014/main" id="{5BC0386D-2EAE-41F2-B3AC-A7995906AFAD}"/>
              </a:ext>
            </a:extLst>
          </p:cNvPr>
          <p:cNvSpPr>
            <a:spLocks noGrp="1"/>
          </p:cNvSpPr>
          <p:nvPr/>
        </p:nvSpPr>
        <p:spPr>
          <a:xfrm>
            <a:off x="9172575" y="249555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340,660</a:t>
            </a:r>
          </a:p>
        </p:txBody>
      </p:sp>
      <p:sp>
        <p:nvSpPr>
          <p:cNvPr id="38" name="矩形 37">
            <a:extLst>
              <a:ext uri="{FF2B5EF4-FFF2-40B4-BE49-F238E27FC236}">
                <a16:creationId xmlns:a16="http://schemas.microsoft.com/office/drawing/2014/main" id="{3C58576E-A63C-4833-A82A-6E2EB96B3633}"/>
              </a:ext>
            </a:extLst>
          </p:cNvPr>
          <p:cNvSpPr>
            <a:spLocks noGrp="1"/>
          </p:cNvSpPr>
          <p:nvPr/>
        </p:nvSpPr>
        <p:spPr>
          <a:xfrm>
            <a:off x="10744200" y="2419350"/>
            <a:ext cx="1285875" cy="476250"/>
          </a:xfrm>
          <a:prstGeom prst="rect">
            <a:avLst/>
          </a:prstGeom>
          <a:solidFill>
            <a:srgbClr val="F8FAFC"/>
          </a:solidFill>
          <a:ln w="9525">
            <a:solidFill>
              <a:srgbClr val="E2E8F0"/>
            </a:solidFill>
            <a:prstDash val="solid"/>
          </a:ln>
        </p:spPr>
        <p:txBody>
          <a:bodyPr/>
          <a:lstStyle/>
          <a:p>
            <a:endParaRPr lang="zh-CN" altLang="en-US"/>
          </a:p>
        </p:txBody>
      </p:sp>
      <p:sp>
        <p:nvSpPr>
          <p:cNvPr id="39" name="矩形 38">
            <a:extLst>
              <a:ext uri="{FF2B5EF4-FFF2-40B4-BE49-F238E27FC236}">
                <a16:creationId xmlns:a16="http://schemas.microsoft.com/office/drawing/2014/main" id="{23320D6B-B318-4C93-88F5-AA1F0C4AF444}"/>
              </a:ext>
            </a:extLst>
          </p:cNvPr>
          <p:cNvSpPr>
            <a:spLocks noGrp="1"/>
          </p:cNvSpPr>
          <p:nvPr/>
        </p:nvSpPr>
        <p:spPr>
          <a:xfrm>
            <a:off x="10839450" y="2495550"/>
            <a:ext cx="1095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29.26%</a:t>
            </a:r>
          </a:p>
        </p:txBody>
      </p:sp>
      <p:sp>
        <p:nvSpPr>
          <p:cNvPr id="40" name="矩形 39">
            <a:extLst>
              <a:ext uri="{FF2B5EF4-FFF2-40B4-BE49-F238E27FC236}">
                <a16:creationId xmlns:a16="http://schemas.microsoft.com/office/drawing/2014/main" id="{1E6EF648-5DEE-496D-9A34-B14542CA88F4}"/>
              </a:ext>
            </a:extLst>
          </p:cNvPr>
          <p:cNvSpPr>
            <a:spLocks noGrp="1"/>
          </p:cNvSpPr>
          <p:nvPr/>
        </p:nvSpPr>
        <p:spPr>
          <a:xfrm>
            <a:off x="6267450" y="2895600"/>
            <a:ext cx="1143000" cy="476250"/>
          </a:xfrm>
          <a:prstGeom prst="rect">
            <a:avLst/>
          </a:prstGeom>
          <a:solidFill>
            <a:srgbClr val="FFFFFF"/>
          </a:solidFill>
          <a:ln w="9525">
            <a:solidFill>
              <a:srgbClr val="E2E8F0"/>
            </a:solidFill>
            <a:prstDash val="solid"/>
          </a:ln>
        </p:spPr>
        <p:txBody>
          <a:bodyPr/>
          <a:lstStyle/>
          <a:p>
            <a:endParaRPr lang="zh-CN" altLang="en-US"/>
          </a:p>
        </p:txBody>
      </p:sp>
      <p:sp>
        <p:nvSpPr>
          <p:cNvPr id="41" name="矩形 40">
            <a:extLst>
              <a:ext uri="{FF2B5EF4-FFF2-40B4-BE49-F238E27FC236}">
                <a16:creationId xmlns:a16="http://schemas.microsoft.com/office/drawing/2014/main" id="{044841E4-98DB-4926-AD28-7323D1012D1A}"/>
              </a:ext>
            </a:extLst>
          </p:cNvPr>
          <p:cNvSpPr>
            <a:spLocks noGrp="1"/>
          </p:cNvSpPr>
          <p:nvPr/>
        </p:nvSpPr>
        <p:spPr>
          <a:xfrm>
            <a:off x="6362700" y="2971800"/>
            <a:ext cx="952500" cy="3619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test</a:t>
            </a:r>
          </a:p>
        </p:txBody>
      </p:sp>
      <p:sp>
        <p:nvSpPr>
          <p:cNvPr id="42" name="矩形 41">
            <a:extLst>
              <a:ext uri="{FF2B5EF4-FFF2-40B4-BE49-F238E27FC236}">
                <a16:creationId xmlns:a16="http://schemas.microsoft.com/office/drawing/2014/main" id="{D1A6D2AC-8F4F-4B0F-BB36-1DDF07179C53}"/>
              </a:ext>
            </a:extLst>
          </p:cNvPr>
          <p:cNvSpPr>
            <a:spLocks noGrp="1"/>
          </p:cNvSpPr>
          <p:nvPr/>
        </p:nvSpPr>
        <p:spPr>
          <a:xfrm>
            <a:off x="7410450" y="2895600"/>
            <a:ext cx="1666875" cy="476250"/>
          </a:xfrm>
          <a:prstGeom prst="rect">
            <a:avLst/>
          </a:prstGeom>
          <a:solidFill>
            <a:srgbClr val="FFFFFF"/>
          </a:solidFill>
          <a:ln w="9525">
            <a:solidFill>
              <a:srgbClr val="E2E8F0"/>
            </a:solidFill>
            <a:prstDash val="solid"/>
          </a:ln>
        </p:spPr>
        <p:txBody>
          <a:bodyPr/>
          <a:lstStyle/>
          <a:p>
            <a:endParaRPr lang="zh-CN" altLang="en-US"/>
          </a:p>
        </p:txBody>
      </p:sp>
      <p:sp>
        <p:nvSpPr>
          <p:cNvPr id="43" name="矩形 42">
            <a:extLst>
              <a:ext uri="{FF2B5EF4-FFF2-40B4-BE49-F238E27FC236}">
                <a16:creationId xmlns:a16="http://schemas.microsoft.com/office/drawing/2014/main" id="{CA94E43F-B567-482B-81B7-BDA45A9497AD}"/>
              </a:ext>
            </a:extLst>
          </p:cNvPr>
          <p:cNvSpPr>
            <a:spLocks noGrp="1"/>
          </p:cNvSpPr>
          <p:nvPr/>
        </p:nvSpPr>
        <p:spPr>
          <a:xfrm>
            <a:off x="7505700" y="297180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481,039</a:t>
            </a:r>
          </a:p>
        </p:txBody>
      </p:sp>
      <p:sp>
        <p:nvSpPr>
          <p:cNvPr id="44" name="矩形 43">
            <a:extLst>
              <a:ext uri="{FF2B5EF4-FFF2-40B4-BE49-F238E27FC236}">
                <a16:creationId xmlns:a16="http://schemas.microsoft.com/office/drawing/2014/main" id="{8DD0BA0C-C342-4D96-8030-1D22CDB533AB}"/>
              </a:ext>
            </a:extLst>
          </p:cNvPr>
          <p:cNvSpPr>
            <a:spLocks noGrp="1"/>
          </p:cNvSpPr>
          <p:nvPr/>
        </p:nvSpPr>
        <p:spPr>
          <a:xfrm>
            <a:off x="9077325" y="2895600"/>
            <a:ext cx="1666875" cy="476250"/>
          </a:xfrm>
          <a:prstGeom prst="rect">
            <a:avLst/>
          </a:prstGeom>
          <a:solidFill>
            <a:srgbClr val="FFFFFF"/>
          </a:solidFill>
          <a:ln w="9525">
            <a:solidFill>
              <a:srgbClr val="E2E8F0"/>
            </a:solidFill>
            <a:prstDash val="solid"/>
          </a:ln>
        </p:spPr>
        <p:txBody>
          <a:bodyPr/>
          <a:lstStyle/>
          <a:p>
            <a:endParaRPr lang="zh-CN" altLang="en-US"/>
          </a:p>
        </p:txBody>
      </p:sp>
      <p:sp>
        <p:nvSpPr>
          <p:cNvPr id="45" name="矩形 44">
            <a:extLst>
              <a:ext uri="{FF2B5EF4-FFF2-40B4-BE49-F238E27FC236}">
                <a16:creationId xmlns:a16="http://schemas.microsoft.com/office/drawing/2014/main" id="{59764532-E03D-44C8-8B3B-96C594A6961B}"/>
              </a:ext>
            </a:extLst>
          </p:cNvPr>
          <p:cNvSpPr>
            <a:spLocks noGrp="1"/>
          </p:cNvSpPr>
          <p:nvPr/>
        </p:nvSpPr>
        <p:spPr>
          <a:xfrm>
            <a:off x="9172575" y="297180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341,445</a:t>
            </a:r>
          </a:p>
        </p:txBody>
      </p:sp>
      <p:sp>
        <p:nvSpPr>
          <p:cNvPr id="46" name="矩形 45">
            <a:extLst>
              <a:ext uri="{FF2B5EF4-FFF2-40B4-BE49-F238E27FC236}">
                <a16:creationId xmlns:a16="http://schemas.microsoft.com/office/drawing/2014/main" id="{3551BCAB-FD39-4786-99AE-86EF7C6F54D3}"/>
              </a:ext>
            </a:extLst>
          </p:cNvPr>
          <p:cNvSpPr>
            <a:spLocks noGrp="1"/>
          </p:cNvSpPr>
          <p:nvPr/>
        </p:nvSpPr>
        <p:spPr>
          <a:xfrm>
            <a:off x="10744200" y="2895600"/>
            <a:ext cx="1285875" cy="476250"/>
          </a:xfrm>
          <a:prstGeom prst="rect">
            <a:avLst/>
          </a:prstGeom>
          <a:solidFill>
            <a:srgbClr val="FFFFFF"/>
          </a:solidFill>
          <a:ln w="9525">
            <a:solidFill>
              <a:srgbClr val="E2E8F0"/>
            </a:solidFill>
            <a:prstDash val="solid"/>
          </a:ln>
        </p:spPr>
        <p:txBody>
          <a:bodyPr/>
          <a:lstStyle/>
          <a:p>
            <a:endParaRPr lang="zh-CN" altLang="en-US"/>
          </a:p>
        </p:txBody>
      </p:sp>
      <p:sp>
        <p:nvSpPr>
          <p:cNvPr id="47" name="矩形 46">
            <a:extLst>
              <a:ext uri="{FF2B5EF4-FFF2-40B4-BE49-F238E27FC236}">
                <a16:creationId xmlns:a16="http://schemas.microsoft.com/office/drawing/2014/main" id="{97FBFB03-B50D-4348-ADCB-1FCE60CC22DA}"/>
              </a:ext>
            </a:extLst>
          </p:cNvPr>
          <p:cNvSpPr>
            <a:spLocks noGrp="1"/>
          </p:cNvSpPr>
          <p:nvPr/>
        </p:nvSpPr>
        <p:spPr>
          <a:xfrm>
            <a:off x="10839450" y="2971800"/>
            <a:ext cx="1095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29.02%</a:t>
            </a:r>
          </a:p>
        </p:txBody>
      </p:sp>
      <p:sp>
        <p:nvSpPr>
          <p:cNvPr id="48" name="矩形 47">
            <a:extLst>
              <a:ext uri="{FF2B5EF4-FFF2-40B4-BE49-F238E27FC236}">
                <a16:creationId xmlns:a16="http://schemas.microsoft.com/office/drawing/2014/main" id="{4D5F9584-9ECE-40F2-B75F-B33DE8741141}"/>
              </a:ext>
            </a:extLst>
          </p:cNvPr>
          <p:cNvSpPr>
            <a:spLocks noGrp="1"/>
          </p:cNvSpPr>
          <p:nvPr/>
        </p:nvSpPr>
        <p:spPr>
          <a:xfrm>
            <a:off x="6267450" y="3371850"/>
            <a:ext cx="1143000" cy="476250"/>
          </a:xfrm>
          <a:prstGeom prst="rect">
            <a:avLst/>
          </a:prstGeom>
          <a:solidFill>
            <a:srgbClr val="F8FAFC"/>
          </a:solidFill>
          <a:ln w="9525">
            <a:solidFill>
              <a:srgbClr val="E2E8F0"/>
            </a:solidFill>
            <a:prstDash val="solid"/>
          </a:ln>
        </p:spPr>
        <p:txBody>
          <a:bodyPr/>
          <a:lstStyle/>
          <a:p>
            <a:endParaRPr lang="zh-CN" altLang="en-US"/>
          </a:p>
        </p:txBody>
      </p:sp>
      <p:sp>
        <p:nvSpPr>
          <p:cNvPr id="49" name="矩形 48">
            <a:extLst>
              <a:ext uri="{FF2B5EF4-FFF2-40B4-BE49-F238E27FC236}">
                <a16:creationId xmlns:a16="http://schemas.microsoft.com/office/drawing/2014/main" id="{DF9D9CE1-2938-448C-9B74-106975BB3A44}"/>
              </a:ext>
            </a:extLst>
          </p:cNvPr>
          <p:cNvSpPr>
            <a:spLocks noGrp="1"/>
          </p:cNvSpPr>
          <p:nvPr/>
        </p:nvSpPr>
        <p:spPr>
          <a:xfrm>
            <a:off x="6362700" y="3448050"/>
            <a:ext cx="952500" cy="3619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合计</a:t>
            </a:r>
          </a:p>
        </p:txBody>
      </p:sp>
      <p:sp>
        <p:nvSpPr>
          <p:cNvPr id="50" name="矩形 49">
            <a:extLst>
              <a:ext uri="{FF2B5EF4-FFF2-40B4-BE49-F238E27FC236}">
                <a16:creationId xmlns:a16="http://schemas.microsoft.com/office/drawing/2014/main" id="{D35F00AD-2A51-462C-88F7-143BAF5533CA}"/>
              </a:ext>
            </a:extLst>
          </p:cNvPr>
          <p:cNvSpPr>
            <a:spLocks noGrp="1"/>
          </p:cNvSpPr>
          <p:nvPr/>
        </p:nvSpPr>
        <p:spPr>
          <a:xfrm>
            <a:off x="7410450" y="3371850"/>
            <a:ext cx="1666875" cy="476250"/>
          </a:xfrm>
          <a:prstGeom prst="rect">
            <a:avLst/>
          </a:prstGeom>
          <a:solidFill>
            <a:srgbClr val="F8FAFC"/>
          </a:solidFill>
          <a:ln w="9525">
            <a:solidFill>
              <a:srgbClr val="E2E8F0"/>
            </a:solidFill>
            <a:prstDash val="solid"/>
          </a:ln>
        </p:spPr>
        <p:txBody>
          <a:bodyPr/>
          <a:lstStyle/>
          <a:p>
            <a:endParaRPr lang="zh-CN" altLang="en-US"/>
          </a:p>
        </p:txBody>
      </p:sp>
      <p:sp>
        <p:nvSpPr>
          <p:cNvPr id="51" name="矩形 50">
            <a:extLst>
              <a:ext uri="{FF2B5EF4-FFF2-40B4-BE49-F238E27FC236}">
                <a16:creationId xmlns:a16="http://schemas.microsoft.com/office/drawing/2014/main" id="{7ADE8DDE-A3A3-4701-8616-F5C68094F908}"/>
              </a:ext>
            </a:extLst>
          </p:cNvPr>
          <p:cNvSpPr>
            <a:spLocks noGrp="1"/>
          </p:cNvSpPr>
          <p:nvPr/>
        </p:nvSpPr>
        <p:spPr>
          <a:xfrm>
            <a:off x="7505700" y="344805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4,195,062</a:t>
            </a:r>
          </a:p>
        </p:txBody>
      </p:sp>
      <p:sp>
        <p:nvSpPr>
          <p:cNvPr id="52" name="矩形 51">
            <a:extLst>
              <a:ext uri="{FF2B5EF4-FFF2-40B4-BE49-F238E27FC236}">
                <a16:creationId xmlns:a16="http://schemas.microsoft.com/office/drawing/2014/main" id="{F683AF7F-4C01-4AD8-B69A-C23774EB9A13}"/>
              </a:ext>
            </a:extLst>
          </p:cNvPr>
          <p:cNvSpPr>
            <a:spLocks noGrp="1"/>
          </p:cNvSpPr>
          <p:nvPr/>
        </p:nvSpPr>
        <p:spPr>
          <a:xfrm>
            <a:off x="9077325" y="3371850"/>
            <a:ext cx="1666875" cy="476250"/>
          </a:xfrm>
          <a:prstGeom prst="rect">
            <a:avLst/>
          </a:prstGeom>
          <a:solidFill>
            <a:srgbClr val="F8FAFC"/>
          </a:solidFill>
          <a:ln w="9525">
            <a:solidFill>
              <a:srgbClr val="E2E8F0"/>
            </a:solidFill>
            <a:prstDash val="solid"/>
          </a:ln>
        </p:spPr>
        <p:txBody>
          <a:bodyPr/>
          <a:lstStyle/>
          <a:p>
            <a:endParaRPr lang="zh-CN" altLang="en-US"/>
          </a:p>
        </p:txBody>
      </p:sp>
      <p:sp>
        <p:nvSpPr>
          <p:cNvPr id="53" name="矩形 52">
            <a:extLst>
              <a:ext uri="{FF2B5EF4-FFF2-40B4-BE49-F238E27FC236}">
                <a16:creationId xmlns:a16="http://schemas.microsoft.com/office/drawing/2014/main" id="{534BA1BA-9EB1-4E3E-BFD2-8E7DE47E9BB1}"/>
              </a:ext>
            </a:extLst>
          </p:cNvPr>
          <p:cNvSpPr>
            <a:spLocks noGrp="1"/>
          </p:cNvSpPr>
          <p:nvPr/>
        </p:nvSpPr>
        <p:spPr>
          <a:xfrm>
            <a:off x="9172575" y="3448050"/>
            <a:ext cx="1476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2,973,397</a:t>
            </a:r>
          </a:p>
        </p:txBody>
      </p:sp>
      <p:sp>
        <p:nvSpPr>
          <p:cNvPr id="54" name="矩形 53">
            <a:extLst>
              <a:ext uri="{FF2B5EF4-FFF2-40B4-BE49-F238E27FC236}">
                <a16:creationId xmlns:a16="http://schemas.microsoft.com/office/drawing/2014/main" id="{BF0EF83D-7B9B-41FC-AED7-409BFBE0BDF0}"/>
              </a:ext>
            </a:extLst>
          </p:cNvPr>
          <p:cNvSpPr>
            <a:spLocks noGrp="1"/>
          </p:cNvSpPr>
          <p:nvPr/>
        </p:nvSpPr>
        <p:spPr>
          <a:xfrm>
            <a:off x="10744200" y="3371850"/>
            <a:ext cx="1285875" cy="476250"/>
          </a:xfrm>
          <a:prstGeom prst="rect">
            <a:avLst/>
          </a:prstGeom>
          <a:solidFill>
            <a:srgbClr val="F8FAFC"/>
          </a:solidFill>
          <a:ln w="9525">
            <a:solidFill>
              <a:srgbClr val="E2E8F0"/>
            </a:solidFill>
            <a:prstDash val="solid"/>
          </a:ln>
        </p:spPr>
        <p:txBody>
          <a:bodyPr/>
          <a:lstStyle/>
          <a:p>
            <a:endParaRPr lang="zh-CN" altLang="en-US"/>
          </a:p>
        </p:txBody>
      </p:sp>
      <p:sp>
        <p:nvSpPr>
          <p:cNvPr id="55" name="矩形 54">
            <a:extLst>
              <a:ext uri="{FF2B5EF4-FFF2-40B4-BE49-F238E27FC236}">
                <a16:creationId xmlns:a16="http://schemas.microsoft.com/office/drawing/2014/main" id="{9DBB6EE3-4FAA-4C1F-B979-EBDD63F28D1C}"/>
              </a:ext>
            </a:extLst>
          </p:cNvPr>
          <p:cNvSpPr>
            <a:spLocks noGrp="1"/>
          </p:cNvSpPr>
          <p:nvPr/>
        </p:nvSpPr>
        <p:spPr>
          <a:xfrm>
            <a:off x="10839450" y="3448050"/>
            <a:ext cx="1095375" cy="361950"/>
          </a:xfrm>
          <a:prstGeom prst="rect">
            <a:avLst/>
          </a:prstGeom>
          <a:noFill/>
          <a:ln w="0">
            <a:noFill/>
            <a:prstDash val="solid"/>
          </a:ln>
        </p:spPr>
        <p:txBody>
          <a:bodyPr/>
          <a:lstStyle/>
          <a:p>
            <a:pPr algn="ctr">
              <a:defRPr sz="1275" b="0" i="0">
                <a:solidFill>
                  <a:srgbClr val="0F172A"/>
                </a:solidFill>
              </a:defRPr>
            </a:pPr>
            <a:r>
              <a:rPr sz="1275" b="0" i="0">
                <a:solidFill>
                  <a:srgbClr val="0F172A"/>
                </a:solidFill>
              </a:rPr>
              <a:t>29.12%</a:t>
            </a:r>
          </a:p>
        </p:txBody>
      </p:sp>
      <p:sp>
        <p:nvSpPr>
          <p:cNvPr id="56" name="矩形 55">
            <a:extLst>
              <a:ext uri="{FF2B5EF4-FFF2-40B4-BE49-F238E27FC236}">
                <a16:creationId xmlns:a16="http://schemas.microsoft.com/office/drawing/2014/main" id="{F6E30157-A48E-4B25-B79A-AAA86722A6FF}"/>
              </a:ext>
            </a:extLst>
          </p:cNvPr>
          <p:cNvSpPr>
            <a:spLocks noGrp="1"/>
          </p:cNvSpPr>
          <p:nvPr/>
        </p:nvSpPr>
        <p:spPr>
          <a:xfrm>
            <a:off x="6267450" y="1466850"/>
            <a:ext cx="5762625" cy="2381250"/>
          </a:xfrm>
          <a:prstGeom prst="rect">
            <a:avLst/>
          </a:prstGeom>
          <a:noFill/>
          <a:ln w="9525">
            <a:solidFill>
              <a:srgbClr val="E2E8F0"/>
            </a:solidFill>
            <a:prstDash val="solid"/>
          </a:ln>
        </p:spPr>
        <p:txBody>
          <a:bodyPr/>
          <a:lstStyle/>
          <a:p>
            <a:endParaRPr lang="zh-CN" altLang="en-US"/>
          </a:p>
        </p:txBody>
      </p:sp>
      <p:pic>
        <p:nvPicPr>
          <p:cNvPr id="116" name="图片 115"/>
          <p:cNvPicPr>
            <a:picLocks noChangeAspect="1"/>
          </p:cNvPicPr>
          <p:nvPr/>
        </p:nvPicPr>
        <p:blipFill>
          <a:blip r:embed="rId3"/>
          <a:stretch/>
        </p:blipFill>
        <p:spPr>
          <a:xfrm>
            <a:off x="7400925" y="4171950"/>
            <a:ext cx="2590800" cy="1619250"/>
          </a:xfrm>
          <a:prstGeom prst="roundRect">
            <a:avLst>
              <a:gd name="adj" fmla="val 7059"/>
            </a:avLst>
          </a:prstGeom>
        </p:spPr>
      </p:pic>
      <p:sp>
        <p:nvSpPr>
          <p:cNvPr id="58" name="矩形 57">
            <a:extLst>
              <a:ext uri="{FF2B5EF4-FFF2-40B4-BE49-F238E27FC236}">
                <a16:creationId xmlns:a16="http://schemas.microsoft.com/office/drawing/2014/main" id="{EB8BEA9F-958B-4E2D-AB51-DE5A2353367E}"/>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59" name="矩形 58">
            <a:extLst>
              <a:ext uri="{FF2B5EF4-FFF2-40B4-BE49-F238E27FC236}">
                <a16:creationId xmlns:a16="http://schemas.microsoft.com/office/drawing/2014/main" id="{FA1A9893-C51C-469A-A15F-B91C57C8A8A5}"/>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07</a:t>
            </a:r>
          </a:p>
        </p:txBody>
      </p:sp>
    </p:spTree>
    <p:extLst>
      <p:ext uri="{BB962C8B-B14F-4D97-AF65-F5344CB8AC3E}">
        <p14:creationId xmlns:p14="http://schemas.microsoft.com/office/powerpoint/2010/main" val="190222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7ACE5F9F-D47B-4E72-8C85-0C8603165CC9}"/>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N-Gram TF-IDF 特征提取</a:t>
            </a:r>
          </a:p>
        </p:txBody>
      </p:sp>
      <p:sp>
        <p:nvSpPr>
          <p:cNvPr id="2" name="矩形 1">
            <a:extLst>
              <a:ext uri="{FF2B5EF4-FFF2-40B4-BE49-F238E27FC236}">
                <a16:creationId xmlns:a16="http://schemas.microsoft.com/office/drawing/2014/main" id="{E64A3FBB-ED26-4266-BC40-451D7C7BCF14}"/>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65D4D8EA-6C45-4C73-B932-A924C6AA7B92}"/>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把文本转为稀疏向量，作为传统模型输入</a:t>
            </a:r>
          </a:p>
        </p:txBody>
      </p:sp>
      <p:sp>
        <p:nvSpPr>
          <p:cNvPr id="4" name="矩形 3">
            <a:extLst>
              <a:ext uri="{FF2B5EF4-FFF2-40B4-BE49-F238E27FC236}">
                <a16:creationId xmlns:a16="http://schemas.microsoft.com/office/drawing/2014/main" id="{2F115BF5-A22A-4EB3-A2D7-0B3357FA63B7}"/>
              </a:ext>
            </a:extLst>
          </p:cNvPr>
          <p:cNvSpPr>
            <a:spLocks noGrp="1"/>
          </p:cNvSpPr>
          <p:nvPr/>
        </p:nvSpPr>
        <p:spPr>
          <a:xfrm>
            <a:off x="876300" y="1562100"/>
            <a:ext cx="1809750" cy="571500"/>
          </a:xfrm>
          <a:prstGeom prst="rect">
            <a:avLst/>
          </a:prstGeom>
          <a:solidFill>
            <a:srgbClr val="1E3A8A"/>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726830C0-C0CA-476F-9BCA-63BC2F2DC62C}"/>
              </a:ext>
            </a:extLst>
          </p:cNvPr>
          <p:cNvSpPr>
            <a:spLocks noGrp="1"/>
          </p:cNvSpPr>
          <p:nvPr/>
        </p:nvSpPr>
        <p:spPr>
          <a:xfrm>
            <a:off x="971550" y="1638300"/>
            <a:ext cx="1619250" cy="457200"/>
          </a:xfrm>
          <a:prstGeom prst="rect">
            <a:avLst/>
          </a:prstGeom>
          <a:noFill/>
          <a:ln w="0">
            <a:noFill/>
            <a:prstDash val="solid"/>
          </a:ln>
        </p:spPr>
        <p:txBody>
          <a:bodyPr/>
          <a:lstStyle/>
          <a:p>
            <a:pPr algn="l">
              <a:defRPr sz="1350" b="1" i="0">
                <a:solidFill>
                  <a:srgbClr val="FFFFFF"/>
                </a:solidFill>
              </a:defRPr>
            </a:pPr>
            <a:r>
              <a:rPr sz="1350" b="1" i="0">
                <a:solidFill>
                  <a:srgbClr val="FFFFFF"/>
                </a:solidFill>
              </a:rPr>
              <a:t>特征类型</a:t>
            </a:r>
          </a:p>
        </p:txBody>
      </p:sp>
      <p:sp>
        <p:nvSpPr>
          <p:cNvPr id="6" name="矩形 5">
            <a:extLst>
              <a:ext uri="{FF2B5EF4-FFF2-40B4-BE49-F238E27FC236}">
                <a16:creationId xmlns:a16="http://schemas.microsoft.com/office/drawing/2014/main" id="{DFD52201-71DD-4711-A304-A58270068F0A}"/>
              </a:ext>
            </a:extLst>
          </p:cNvPr>
          <p:cNvSpPr>
            <a:spLocks noGrp="1"/>
          </p:cNvSpPr>
          <p:nvPr/>
        </p:nvSpPr>
        <p:spPr>
          <a:xfrm>
            <a:off x="2686050" y="1562100"/>
            <a:ext cx="1524000" cy="571500"/>
          </a:xfrm>
          <a:prstGeom prst="rect">
            <a:avLst/>
          </a:prstGeom>
          <a:solidFill>
            <a:srgbClr val="1E3A8A"/>
          </a:solidFill>
          <a:ln w="9525">
            <a:solidFill>
              <a:srgbClr val="E2E8F0"/>
            </a:solidFill>
            <a:prstDash val="solid"/>
          </a:ln>
        </p:spPr>
        <p:txBody>
          <a:bodyPr/>
          <a:lstStyle/>
          <a:p>
            <a:endParaRPr lang="zh-CN" altLang="en-US"/>
          </a:p>
        </p:txBody>
      </p:sp>
      <p:sp>
        <p:nvSpPr>
          <p:cNvPr id="7" name="矩形 6">
            <a:extLst>
              <a:ext uri="{FF2B5EF4-FFF2-40B4-BE49-F238E27FC236}">
                <a16:creationId xmlns:a16="http://schemas.microsoft.com/office/drawing/2014/main" id="{DBEE2EC5-7BE9-4EDC-B469-8FA61EAE6EFE}"/>
              </a:ext>
            </a:extLst>
          </p:cNvPr>
          <p:cNvSpPr>
            <a:spLocks noGrp="1"/>
          </p:cNvSpPr>
          <p:nvPr/>
        </p:nvSpPr>
        <p:spPr>
          <a:xfrm>
            <a:off x="2781300" y="1638300"/>
            <a:ext cx="1333500" cy="4572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N-Gram</a:t>
            </a:r>
          </a:p>
        </p:txBody>
      </p:sp>
      <p:sp>
        <p:nvSpPr>
          <p:cNvPr id="8" name="矩形 7">
            <a:extLst>
              <a:ext uri="{FF2B5EF4-FFF2-40B4-BE49-F238E27FC236}">
                <a16:creationId xmlns:a16="http://schemas.microsoft.com/office/drawing/2014/main" id="{0819D37C-FB44-48B3-AF11-28091AE0E312}"/>
              </a:ext>
            </a:extLst>
          </p:cNvPr>
          <p:cNvSpPr>
            <a:spLocks noGrp="1"/>
          </p:cNvSpPr>
          <p:nvPr/>
        </p:nvSpPr>
        <p:spPr>
          <a:xfrm>
            <a:off x="4210050" y="1562100"/>
            <a:ext cx="2476500" cy="571500"/>
          </a:xfrm>
          <a:prstGeom prst="rect">
            <a:avLst/>
          </a:prstGeom>
          <a:solidFill>
            <a:srgbClr val="1E3A8A"/>
          </a:solidFill>
          <a:ln w="9525">
            <a:solidFill>
              <a:srgbClr val="E2E8F0"/>
            </a:solidFill>
            <a:prstDash val="solid"/>
          </a:ln>
        </p:spPr>
        <p:txBody>
          <a:bodyPr/>
          <a:lstStyle/>
          <a:p>
            <a:endParaRPr lang="zh-CN" altLang="en-US"/>
          </a:p>
        </p:txBody>
      </p:sp>
      <p:sp>
        <p:nvSpPr>
          <p:cNvPr id="9" name="矩形 8">
            <a:extLst>
              <a:ext uri="{FF2B5EF4-FFF2-40B4-BE49-F238E27FC236}">
                <a16:creationId xmlns:a16="http://schemas.microsoft.com/office/drawing/2014/main" id="{3417308D-439B-4FFB-A65B-006C5549795B}"/>
              </a:ext>
            </a:extLst>
          </p:cNvPr>
          <p:cNvSpPr>
            <a:spLocks noGrp="1"/>
          </p:cNvSpPr>
          <p:nvPr/>
        </p:nvSpPr>
        <p:spPr>
          <a:xfrm>
            <a:off x="4305300" y="1638300"/>
            <a:ext cx="2286000" cy="4572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train shape</a:t>
            </a:r>
          </a:p>
        </p:txBody>
      </p:sp>
      <p:sp>
        <p:nvSpPr>
          <p:cNvPr id="10" name="矩形 9">
            <a:extLst>
              <a:ext uri="{FF2B5EF4-FFF2-40B4-BE49-F238E27FC236}">
                <a16:creationId xmlns:a16="http://schemas.microsoft.com/office/drawing/2014/main" id="{B8DC59A8-CFF8-40DC-B1F0-D12065D6E8E0}"/>
              </a:ext>
            </a:extLst>
          </p:cNvPr>
          <p:cNvSpPr>
            <a:spLocks noGrp="1"/>
          </p:cNvSpPr>
          <p:nvPr/>
        </p:nvSpPr>
        <p:spPr>
          <a:xfrm>
            <a:off x="6686550" y="1562100"/>
            <a:ext cx="1809750" cy="571500"/>
          </a:xfrm>
          <a:prstGeom prst="rect">
            <a:avLst/>
          </a:prstGeom>
          <a:solidFill>
            <a:srgbClr val="1E3A8A"/>
          </a:solidFill>
          <a:ln w="9525">
            <a:solidFill>
              <a:srgbClr val="E2E8F0"/>
            </a:solidFill>
            <a:prstDash val="solid"/>
          </a:ln>
        </p:spPr>
        <p:txBody>
          <a:bodyPr/>
          <a:lstStyle/>
          <a:p>
            <a:endParaRPr lang="zh-CN" altLang="en-US"/>
          </a:p>
        </p:txBody>
      </p:sp>
      <p:sp>
        <p:nvSpPr>
          <p:cNvPr id="11" name="矩形 10">
            <a:extLst>
              <a:ext uri="{FF2B5EF4-FFF2-40B4-BE49-F238E27FC236}">
                <a16:creationId xmlns:a16="http://schemas.microsoft.com/office/drawing/2014/main" id="{F546CDC1-BDCD-487C-BD65-0CF0DD99432F}"/>
              </a:ext>
            </a:extLst>
          </p:cNvPr>
          <p:cNvSpPr>
            <a:spLocks noGrp="1"/>
          </p:cNvSpPr>
          <p:nvPr/>
        </p:nvSpPr>
        <p:spPr>
          <a:xfrm>
            <a:off x="6781800" y="1638300"/>
            <a:ext cx="1619250" cy="4572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非零元素</a:t>
            </a:r>
          </a:p>
        </p:txBody>
      </p:sp>
      <p:sp>
        <p:nvSpPr>
          <p:cNvPr id="12" name="矩形 11">
            <a:extLst>
              <a:ext uri="{FF2B5EF4-FFF2-40B4-BE49-F238E27FC236}">
                <a16:creationId xmlns:a16="http://schemas.microsoft.com/office/drawing/2014/main" id="{E49AE904-5445-4031-AC38-6D8183A4FC78}"/>
              </a:ext>
            </a:extLst>
          </p:cNvPr>
          <p:cNvSpPr>
            <a:spLocks noGrp="1"/>
          </p:cNvSpPr>
          <p:nvPr/>
        </p:nvSpPr>
        <p:spPr>
          <a:xfrm>
            <a:off x="8496300" y="1562100"/>
            <a:ext cx="1524000" cy="571500"/>
          </a:xfrm>
          <a:prstGeom prst="rect">
            <a:avLst/>
          </a:prstGeom>
          <a:solidFill>
            <a:srgbClr val="1E3A8A"/>
          </a:solidFill>
          <a:ln w="9525">
            <a:solidFill>
              <a:srgbClr val="E2E8F0"/>
            </a:solidFill>
            <a:prstDash val="solid"/>
          </a:ln>
        </p:spPr>
        <p:txBody>
          <a:bodyPr/>
          <a:lstStyle/>
          <a:p>
            <a:endParaRPr lang="zh-CN" altLang="en-US"/>
          </a:p>
        </p:txBody>
      </p:sp>
      <p:sp>
        <p:nvSpPr>
          <p:cNvPr id="13" name="矩形 12">
            <a:extLst>
              <a:ext uri="{FF2B5EF4-FFF2-40B4-BE49-F238E27FC236}">
                <a16:creationId xmlns:a16="http://schemas.microsoft.com/office/drawing/2014/main" id="{F8BE53BB-77F2-4FA8-9179-43316DACE4D1}"/>
              </a:ext>
            </a:extLst>
          </p:cNvPr>
          <p:cNvSpPr>
            <a:spLocks noGrp="1"/>
          </p:cNvSpPr>
          <p:nvPr/>
        </p:nvSpPr>
        <p:spPr>
          <a:xfrm>
            <a:off x="8591550" y="1638300"/>
            <a:ext cx="1333500" cy="45720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密度</a:t>
            </a:r>
          </a:p>
        </p:txBody>
      </p:sp>
      <p:sp>
        <p:nvSpPr>
          <p:cNvPr id="14" name="矩形 13">
            <a:extLst>
              <a:ext uri="{FF2B5EF4-FFF2-40B4-BE49-F238E27FC236}">
                <a16:creationId xmlns:a16="http://schemas.microsoft.com/office/drawing/2014/main" id="{135F902D-C825-4569-B454-F9C6D184C1CF}"/>
              </a:ext>
            </a:extLst>
          </p:cNvPr>
          <p:cNvSpPr>
            <a:spLocks noGrp="1"/>
          </p:cNvSpPr>
          <p:nvPr/>
        </p:nvSpPr>
        <p:spPr>
          <a:xfrm>
            <a:off x="876300" y="2133600"/>
            <a:ext cx="1809750" cy="571500"/>
          </a:xfrm>
          <a:prstGeom prst="rect">
            <a:avLst/>
          </a:prstGeom>
          <a:solidFill>
            <a:srgbClr val="FFFFFF"/>
          </a:solidFill>
          <a:ln w="9525">
            <a:solidFill>
              <a:srgbClr val="E2E8F0"/>
            </a:solidFill>
            <a:prstDash val="solid"/>
          </a:ln>
        </p:spPr>
        <p:txBody>
          <a:bodyPr/>
          <a:lstStyle/>
          <a:p>
            <a:endParaRPr lang="zh-CN" altLang="en-US"/>
          </a:p>
        </p:txBody>
      </p:sp>
      <p:sp>
        <p:nvSpPr>
          <p:cNvPr id="15" name="矩形 14">
            <a:extLst>
              <a:ext uri="{FF2B5EF4-FFF2-40B4-BE49-F238E27FC236}">
                <a16:creationId xmlns:a16="http://schemas.microsoft.com/office/drawing/2014/main" id="{3C0836A0-02F9-4BE8-9D68-99C394302222}"/>
              </a:ext>
            </a:extLst>
          </p:cNvPr>
          <p:cNvSpPr>
            <a:spLocks noGrp="1"/>
          </p:cNvSpPr>
          <p:nvPr/>
        </p:nvSpPr>
        <p:spPr>
          <a:xfrm>
            <a:off x="971550" y="2209800"/>
            <a:ext cx="1619250" cy="457200"/>
          </a:xfrm>
          <a:prstGeom prst="rect">
            <a:avLst/>
          </a:prstGeom>
          <a:noFill/>
          <a:ln w="0">
            <a:noFill/>
            <a:prstDash val="solid"/>
          </a:ln>
        </p:spPr>
        <p:txBody>
          <a:bodyPr/>
          <a:lstStyle/>
          <a:p>
            <a:pPr algn="l">
              <a:defRPr sz="1350" b="0" i="0">
                <a:solidFill>
                  <a:srgbClr val="0F172A"/>
                </a:solidFill>
              </a:defRPr>
            </a:pPr>
            <a:r>
              <a:rPr sz="1350" b="0" i="0">
                <a:solidFill>
                  <a:srgbClr val="0F172A"/>
                </a:solidFill>
              </a:rPr>
              <a:t>word_ngram</a:t>
            </a:r>
          </a:p>
        </p:txBody>
      </p:sp>
      <p:sp>
        <p:nvSpPr>
          <p:cNvPr id="16" name="矩形 15">
            <a:extLst>
              <a:ext uri="{FF2B5EF4-FFF2-40B4-BE49-F238E27FC236}">
                <a16:creationId xmlns:a16="http://schemas.microsoft.com/office/drawing/2014/main" id="{811B3A8B-18A7-4E30-BB03-B110D44E942B}"/>
              </a:ext>
            </a:extLst>
          </p:cNvPr>
          <p:cNvSpPr>
            <a:spLocks noGrp="1"/>
          </p:cNvSpPr>
          <p:nvPr/>
        </p:nvSpPr>
        <p:spPr>
          <a:xfrm>
            <a:off x="2686050" y="2133600"/>
            <a:ext cx="1524000" cy="571500"/>
          </a:xfrm>
          <a:prstGeom prst="rect">
            <a:avLst/>
          </a:prstGeom>
          <a:solidFill>
            <a:srgbClr val="FFFFFF"/>
          </a:solidFill>
          <a:ln w="9525">
            <a:solidFill>
              <a:srgbClr val="E2E8F0"/>
            </a:solidFill>
            <a:prstDash val="solid"/>
          </a:ln>
        </p:spPr>
        <p:txBody>
          <a:bodyPr/>
          <a:lstStyle/>
          <a:p>
            <a:endParaRPr lang="zh-CN" altLang="en-US"/>
          </a:p>
        </p:txBody>
      </p:sp>
      <p:sp>
        <p:nvSpPr>
          <p:cNvPr id="17" name="矩形 16">
            <a:extLst>
              <a:ext uri="{FF2B5EF4-FFF2-40B4-BE49-F238E27FC236}">
                <a16:creationId xmlns:a16="http://schemas.microsoft.com/office/drawing/2014/main" id="{0CA8272B-6A13-4D3A-BCB0-6EF2665638D1}"/>
              </a:ext>
            </a:extLst>
          </p:cNvPr>
          <p:cNvSpPr>
            <a:spLocks noGrp="1"/>
          </p:cNvSpPr>
          <p:nvPr/>
        </p:nvSpPr>
        <p:spPr>
          <a:xfrm>
            <a:off x="2781300" y="2209800"/>
            <a:ext cx="133350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1-2 gram</a:t>
            </a:r>
          </a:p>
        </p:txBody>
      </p:sp>
      <p:sp>
        <p:nvSpPr>
          <p:cNvPr id="18" name="矩形 17">
            <a:extLst>
              <a:ext uri="{FF2B5EF4-FFF2-40B4-BE49-F238E27FC236}">
                <a16:creationId xmlns:a16="http://schemas.microsoft.com/office/drawing/2014/main" id="{383D8C8C-D982-4E21-941C-6059403A843D}"/>
              </a:ext>
            </a:extLst>
          </p:cNvPr>
          <p:cNvSpPr>
            <a:spLocks noGrp="1"/>
          </p:cNvSpPr>
          <p:nvPr/>
        </p:nvSpPr>
        <p:spPr>
          <a:xfrm>
            <a:off x="4210050" y="2133600"/>
            <a:ext cx="2476500" cy="571500"/>
          </a:xfrm>
          <a:prstGeom prst="rect">
            <a:avLst/>
          </a:prstGeom>
          <a:solidFill>
            <a:srgbClr val="FFFFFF"/>
          </a:solidFill>
          <a:ln w="9525">
            <a:solidFill>
              <a:srgbClr val="E2E8F0"/>
            </a:solidFill>
            <a:prstDash val="solid"/>
          </a:ln>
        </p:spPr>
        <p:txBody>
          <a:bodyPr/>
          <a:lstStyle/>
          <a:p>
            <a:endParaRPr lang="zh-CN" altLang="en-US"/>
          </a:p>
        </p:txBody>
      </p:sp>
      <p:sp>
        <p:nvSpPr>
          <p:cNvPr id="19" name="矩形 18">
            <a:extLst>
              <a:ext uri="{FF2B5EF4-FFF2-40B4-BE49-F238E27FC236}">
                <a16:creationId xmlns:a16="http://schemas.microsoft.com/office/drawing/2014/main" id="{BD96FA35-A030-4917-B761-A725AD9F8A18}"/>
              </a:ext>
            </a:extLst>
          </p:cNvPr>
          <p:cNvSpPr>
            <a:spLocks noGrp="1"/>
          </p:cNvSpPr>
          <p:nvPr/>
        </p:nvSpPr>
        <p:spPr>
          <a:xfrm>
            <a:off x="4305300" y="2209800"/>
            <a:ext cx="228600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20,000 x 200,000</a:t>
            </a:r>
          </a:p>
        </p:txBody>
      </p:sp>
      <p:sp>
        <p:nvSpPr>
          <p:cNvPr id="20" name="矩形 19">
            <a:extLst>
              <a:ext uri="{FF2B5EF4-FFF2-40B4-BE49-F238E27FC236}">
                <a16:creationId xmlns:a16="http://schemas.microsoft.com/office/drawing/2014/main" id="{13FF7E2F-914A-481C-9575-5FB14B648FFE}"/>
              </a:ext>
            </a:extLst>
          </p:cNvPr>
          <p:cNvSpPr>
            <a:spLocks noGrp="1"/>
          </p:cNvSpPr>
          <p:nvPr/>
        </p:nvSpPr>
        <p:spPr>
          <a:xfrm>
            <a:off x="6686550" y="2133600"/>
            <a:ext cx="1809750" cy="571500"/>
          </a:xfrm>
          <a:prstGeom prst="rect">
            <a:avLst/>
          </a:prstGeom>
          <a:solidFill>
            <a:srgbClr val="FFFFFF"/>
          </a:solidFill>
          <a:ln w="9525">
            <a:solidFill>
              <a:srgbClr val="E2E8F0"/>
            </a:solidFill>
            <a:prstDash val="solid"/>
          </a:ln>
        </p:spPr>
        <p:txBody>
          <a:bodyPr/>
          <a:lstStyle/>
          <a:p>
            <a:endParaRPr lang="zh-CN" altLang="en-US"/>
          </a:p>
        </p:txBody>
      </p:sp>
      <p:sp>
        <p:nvSpPr>
          <p:cNvPr id="21" name="矩形 20">
            <a:extLst>
              <a:ext uri="{FF2B5EF4-FFF2-40B4-BE49-F238E27FC236}">
                <a16:creationId xmlns:a16="http://schemas.microsoft.com/office/drawing/2014/main" id="{48691DBA-A63C-4278-8110-5196F4372944}"/>
              </a:ext>
            </a:extLst>
          </p:cNvPr>
          <p:cNvSpPr>
            <a:spLocks noGrp="1"/>
          </p:cNvSpPr>
          <p:nvPr/>
        </p:nvSpPr>
        <p:spPr>
          <a:xfrm>
            <a:off x="6781800" y="2209800"/>
            <a:ext cx="161925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2,445,267</a:t>
            </a:r>
          </a:p>
        </p:txBody>
      </p:sp>
      <p:sp>
        <p:nvSpPr>
          <p:cNvPr id="22" name="矩形 21">
            <a:extLst>
              <a:ext uri="{FF2B5EF4-FFF2-40B4-BE49-F238E27FC236}">
                <a16:creationId xmlns:a16="http://schemas.microsoft.com/office/drawing/2014/main" id="{BFD07910-07D5-4589-9828-25DC09AD441A}"/>
              </a:ext>
            </a:extLst>
          </p:cNvPr>
          <p:cNvSpPr>
            <a:spLocks noGrp="1"/>
          </p:cNvSpPr>
          <p:nvPr/>
        </p:nvSpPr>
        <p:spPr>
          <a:xfrm>
            <a:off x="8496300" y="2133600"/>
            <a:ext cx="1524000" cy="571500"/>
          </a:xfrm>
          <a:prstGeom prst="rect">
            <a:avLst/>
          </a:prstGeom>
          <a:solidFill>
            <a:srgbClr val="FFFFFF"/>
          </a:solidFill>
          <a:ln w="9525">
            <a:solidFill>
              <a:srgbClr val="E2E8F0"/>
            </a:solidFill>
            <a:prstDash val="solid"/>
          </a:ln>
        </p:spPr>
        <p:txBody>
          <a:bodyPr/>
          <a:lstStyle/>
          <a:p>
            <a:endParaRPr lang="zh-CN" altLang="en-US"/>
          </a:p>
        </p:txBody>
      </p:sp>
      <p:sp>
        <p:nvSpPr>
          <p:cNvPr id="23" name="矩形 22">
            <a:extLst>
              <a:ext uri="{FF2B5EF4-FFF2-40B4-BE49-F238E27FC236}">
                <a16:creationId xmlns:a16="http://schemas.microsoft.com/office/drawing/2014/main" id="{FF769089-A8C5-4837-A741-FDB74411A4C5}"/>
              </a:ext>
            </a:extLst>
          </p:cNvPr>
          <p:cNvSpPr>
            <a:spLocks noGrp="1"/>
          </p:cNvSpPr>
          <p:nvPr/>
        </p:nvSpPr>
        <p:spPr>
          <a:xfrm>
            <a:off x="8591550" y="2209800"/>
            <a:ext cx="133350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0.000611</a:t>
            </a:r>
          </a:p>
        </p:txBody>
      </p:sp>
      <p:sp>
        <p:nvSpPr>
          <p:cNvPr id="24" name="矩形 23">
            <a:extLst>
              <a:ext uri="{FF2B5EF4-FFF2-40B4-BE49-F238E27FC236}">
                <a16:creationId xmlns:a16="http://schemas.microsoft.com/office/drawing/2014/main" id="{1B11AF71-48FF-4D17-84E6-FF5631267D69}"/>
              </a:ext>
            </a:extLst>
          </p:cNvPr>
          <p:cNvSpPr>
            <a:spLocks noGrp="1"/>
          </p:cNvSpPr>
          <p:nvPr/>
        </p:nvSpPr>
        <p:spPr>
          <a:xfrm>
            <a:off x="876300" y="2705100"/>
            <a:ext cx="1809750" cy="571500"/>
          </a:xfrm>
          <a:prstGeom prst="rect">
            <a:avLst/>
          </a:prstGeom>
          <a:solidFill>
            <a:srgbClr val="F8FAFC"/>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C47090CE-C2A1-4B3B-A809-8C38ADEEC884}"/>
              </a:ext>
            </a:extLst>
          </p:cNvPr>
          <p:cNvSpPr>
            <a:spLocks noGrp="1"/>
          </p:cNvSpPr>
          <p:nvPr/>
        </p:nvSpPr>
        <p:spPr>
          <a:xfrm>
            <a:off x="971550" y="2781300"/>
            <a:ext cx="1619250" cy="457200"/>
          </a:xfrm>
          <a:prstGeom prst="rect">
            <a:avLst/>
          </a:prstGeom>
          <a:noFill/>
          <a:ln w="0">
            <a:noFill/>
            <a:prstDash val="solid"/>
          </a:ln>
        </p:spPr>
        <p:txBody>
          <a:bodyPr/>
          <a:lstStyle/>
          <a:p>
            <a:pPr algn="l">
              <a:defRPr sz="1350" b="0" i="0">
                <a:solidFill>
                  <a:srgbClr val="0F172A"/>
                </a:solidFill>
              </a:defRPr>
            </a:pPr>
            <a:r>
              <a:rPr sz="1350" b="0" i="0">
                <a:solidFill>
                  <a:srgbClr val="0F172A"/>
                </a:solidFill>
              </a:rPr>
              <a:t>char_ngram</a:t>
            </a:r>
          </a:p>
        </p:txBody>
      </p:sp>
      <p:sp>
        <p:nvSpPr>
          <p:cNvPr id="26" name="矩形 25">
            <a:extLst>
              <a:ext uri="{FF2B5EF4-FFF2-40B4-BE49-F238E27FC236}">
                <a16:creationId xmlns:a16="http://schemas.microsoft.com/office/drawing/2014/main" id="{2EF74292-C81E-4743-A98E-4399A28FD1AE}"/>
              </a:ext>
            </a:extLst>
          </p:cNvPr>
          <p:cNvSpPr>
            <a:spLocks noGrp="1"/>
          </p:cNvSpPr>
          <p:nvPr/>
        </p:nvSpPr>
        <p:spPr>
          <a:xfrm>
            <a:off x="2686050" y="2705100"/>
            <a:ext cx="1524000" cy="571500"/>
          </a:xfrm>
          <a:prstGeom prst="rect">
            <a:avLst/>
          </a:prstGeom>
          <a:solidFill>
            <a:srgbClr val="F8FAFC"/>
          </a:solidFill>
          <a:ln w="9525">
            <a:solidFill>
              <a:srgbClr val="E2E8F0"/>
            </a:solidFill>
            <a:prstDash val="solid"/>
          </a:ln>
        </p:spPr>
        <p:txBody>
          <a:bodyPr/>
          <a:lstStyle/>
          <a:p>
            <a:endParaRPr lang="zh-CN" altLang="en-US"/>
          </a:p>
        </p:txBody>
      </p:sp>
      <p:sp>
        <p:nvSpPr>
          <p:cNvPr id="27" name="矩形 26">
            <a:extLst>
              <a:ext uri="{FF2B5EF4-FFF2-40B4-BE49-F238E27FC236}">
                <a16:creationId xmlns:a16="http://schemas.microsoft.com/office/drawing/2014/main" id="{FA5D9906-7565-441F-807D-2C2FA0251BB5}"/>
              </a:ext>
            </a:extLst>
          </p:cNvPr>
          <p:cNvSpPr>
            <a:spLocks noGrp="1"/>
          </p:cNvSpPr>
          <p:nvPr/>
        </p:nvSpPr>
        <p:spPr>
          <a:xfrm>
            <a:off x="2781300" y="2781300"/>
            <a:ext cx="133350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1-3 gram</a:t>
            </a:r>
          </a:p>
        </p:txBody>
      </p:sp>
      <p:sp>
        <p:nvSpPr>
          <p:cNvPr id="28" name="矩形 27">
            <a:extLst>
              <a:ext uri="{FF2B5EF4-FFF2-40B4-BE49-F238E27FC236}">
                <a16:creationId xmlns:a16="http://schemas.microsoft.com/office/drawing/2014/main" id="{A6023425-42E0-428A-AC85-99396B685915}"/>
              </a:ext>
            </a:extLst>
          </p:cNvPr>
          <p:cNvSpPr>
            <a:spLocks noGrp="1"/>
          </p:cNvSpPr>
          <p:nvPr/>
        </p:nvSpPr>
        <p:spPr>
          <a:xfrm>
            <a:off x="4210050" y="2705100"/>
            <a:ext cx="2476500" cy="571500"/>
          </a:xfrm>
          <a:prstGeom prst="rect">
            <a:avLst/>
          </a:prstGeom>
          <a:solidFill>
            <a:srgbClr val="F8FAFC"/>
          </a:solidFill>
          <a:ln w="9525">
            <a:solidFill>
              <a:srgbClr val="E2E8F0"/>
            </a:solidFill>
            <a:prstDash val="solid"/>
          </a:ln>
        </p:spPr>
        <p:txBody>
          <a:bodyPr/>
          <a:lstStyle/>
          <a:p>
            <a:endParaRPr lang="zh-CN" altLang="en-US"/>
          </a:p>
        </p:txBody>
      </p:sp>
      <p:sp>
        <p:nvSpPr>
          <p:cNvPr id="29" name="矩形 28">
            <a:extLst>
              <a:ext uri="{FF2B5EF4-FFF2-40B4-BE49-F238E27FC236}">
                <a16:creationId xmlns:a16="http://schemas.microsoft.com/office/drawing/2014/main" id="{1B6162F8-FA1A-4BA8-BA74-467B8C98B610}"/>
              </a:ext>
            </a:extLst>
          </p:cNvPr>
          <p:cNvSpPr>
            <a:spLocks noGrp="1"/>
          </p:cNvSpPr>
          <p:nvPr/>
        </p:nvSpPr>
        <p:spPr>
          <a:xfrm>
            <a:off x="4305300" y="2781300"/>
            <a:ext cx="228600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20,000 x 200,000</a:t>
            </a:r>
          </a:p>
        </p:txBody>
      </p:sp>
      <p:sp>
        <p:nvSpPr>
          <p:cNvPr id="30" name="矩形 29">
            <a:extLst>
              <a:ext uri="{FF2B5EF4-FFF2-40B4-BE49-F238E27FC236}">
                <a16:creationId xmlns:a16="http://schemas.microsoft.com/office/drawing/2014/main" id="{5E60B873-3D5E-4CF6-9D8D-5300DED97666}"/>
              </a:ext>
            </a:extLst>
          </p:cNvPr>
          <p:cNvSpPr>
            <a:spLocks noGrp="1"/>
          </p:cNvSpPr>
          <p:nvPr/>
        </p:nvSpPr>
        <p:spPr>
          <a:xfrm>
            <a:off x="6686550" y="2705100"/>
            <a:ext cx="1809750" cy="571500"/>
          </a:xfrm>
          <a:prstGeom prst="rect">
            <a:avLst/>
          </a:prstGeom>
          <a:solidFill>
            <a:srgbClr val="F8FAFC"/>
          </a:solidFill>
          <a:ln w="9525">
            <a:solidFill>
              <a:srgbClr val="E2E8F0"/>
            </a:solidFill>
            <a:prstDash val="solid"/>
          </a:ln>
        </p:spPr>
        <p:txBody>
          <a:bodyPr/>
          <a:lstStyle/>
          <a:p>
            <a:endParaRPr lang="zh-CN" altLang="en-US"/>
          </a:p>
        </p:txBody>
      </p:sp>
      <p:sp>
        <p:nvSpPr>
          <p:cNvPr id="31" name="矩形 30">
            <a:extLst>
              <a:ext uri="{FF2B5EF4-FFF2-40B4-BE49-F238E27FC236}">
                <a16:creationId xmlns:a16="http://schemas.microsoft.com/office/drawing/2014/main" id="{664B659E-72E6-4654-BABA-6F96B5864AD3}"/>
              </a:ext>
            </a:extLst>
          </p:cNvPr>
          <p:cNvSpPr>
            <a:spLocks noGrp="1"/>
          </p:cNvSpPr>
          <p:nvPr/>
        </p:nvSpPr>
        <p:spPr>
          <a:xfrm>
            <a:off x="6781800" y="2781300"/>
            <a:ext cx="161925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9,112,822</a:t>
            </a:r>
          </a:p>
        </p:txBody>
      </p:sp>
      <p:sp>
        <p:nvSpPr>
          <p:cNvPr id="32" name="矩形 31">
            <a:extLst>
              <a:ext uri="{FF2B5EF4-FFF2-40B4-BE49-F238E27FC236}">
                <a16:creationId xmlns:a16="http://schemas.microsoft.com/office/drawing/2014/main" id="{26F4AF16-4DC5-4C79-91A5-0091AC51A9F0}"/>
              </a:ext>
            </a:extLst>
          </p:cNvPr>
          <p:cNvSpPr>
            <a:spLocks noGrp="1"/>
          </p:cNvSpPr>
          <p:nvPr/>
        </p:nvSpPr>
        <p:spPr>
          <a:xfrm>
            <a:off x="8496300" y="2705100"/>
            <a:ext cx="1524000" cy="571500"/>
          </a:xfrm>
          <a:prstGeom prst="rect">
            <a:avLst/>
          </a:prstGeom>
          <a:solidFill>
            <a:srgbClr val="F8FAFC"/>
          </a:solidFill>
          <a:ln w="9525">
            <a:solidFill>
              <a:srgbClr val="E2E8F0"/>
            </a:solidFill>
            <a:prstDash val="solid"/>
          </a:ln>
        </p:spPr>
        <p:txBody>
          <a:bodyPr/>
          <a:lstStyle/>
          <a:p>
            <a:endParaRPr lang="zh-CN" altLang="en-US"/>
          </a:p>
        </p:txBody>
      </p:sp>
      <p:sp>
        <p:nvSpPr>
          <p:cNvPr id="33" name="矩形 32">
            <a:extLst>
              <a:ext uri="{FF2B5EF4-FFF2-40B4-BE49-F238E27FC236}">
                <a16:creationId xmlns:a16="http://schemas.microsoft.com/office/drawing/2014/main" id="{5D738222-05F2-4EF0-804F-CD6B4981C5F9}"/>
              </a:ext>
            </a:extLst>
          </p:cNvPr>
          <p:cNvSpPr>
            <a:spLocks noGrp="1"/>
          </p:cNvSpPr>
          <p:nvPr/>
        </p:nvSpPr>
        <p:spPr>
          <a:xfrm>
            <a:off x="8591550" y="2781300"/>
            <a:ext cx="1333500" cy="45720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0.002278</a:t>
            </a:r>
          </a:p>
        </p:txBody>
      </p:sp>
      <p:sp>
        <p:nvSpPr>
          <p:cNvPr id="34" name="矩形 33">
            <a:extLst>
              <a:ext uri="{FF2B5EF4-FFF2-40B4-BE49-F238E27FC236}">
                <a16:creationId xmlns:a16="http://schemas.microsoft.com/office/drawing/2014/main" id="{FE223CFE-1725-4F07-8C40-EE4F622C09B9}"/>
              </a:ext>
            </a:extLst>
          </p:cNvPr>
          <p:cNvSpPr>
            <a:spLocks noGrp="1"/>
          </p:cNvSpPr>
          <p:nvPr/>
        </p:nvSpPr>
        <p:spPr>
          <a:xfrm>
            <a:off x="876300" y="1562100"/>
            <a:ext cx="9144000" cy="1714500"/>
          </a:xfrm>
          <a:prstGeom prst="rect">
            <a:avLst/>
          </a:prstGeom>
          <a:noFill/>
          <a:ln w="9525">
            <a:solidFill>
              <a:srgbClr val="E2E8F0"/>
            </a:solidFill>
            <a:prstDash val="solid"/>
          </a:ln>
        </p:spPr>
        <p:txBody>
          <a:bodyPr/>
          <a:lstStyle/>
          <a:p>
            <a:endParaRPr lang="zh-CN" altLang="en-US"/>
          </a:p>
        </p:txBody>
      </p:sp>
      <p:sp>
        <p:nvSpPr>
          <p:cNvPr id="35" name="矩形: 圆角 34">
            <a:extLst>
              <a:ext uri="{FF2B5EF4-FFF2-40B4-BE49-F238E27FC236}">
                <a16:creationId xmlns:a16="http://schemas.microsoft.com/office/drawing/2014/main" id="{6FEE906D-E0AC-434C-9881-64147FC86BFF}"/>
              </a:ext>
            </a:extLst>
          </p:cNvPr>
          <p:cNvSpPr>
            <a:spLocks noGrp="1"/>
          </p:cNvSpPr>
          <p:nvPr/>
        </p:nvSpPr>
        <p:spPr>
          <a:xfrm>
            <a:off x="1047750" y="3733800"/>
            <a:ext cx="4476750" cy="1428750"/>
          </a:xfrm>
          <a:prstGeom prst="roundRect">
            <a:avLst>
              <a:gd name="adj" fmla="val 8000"/>
            </a:avLst>
          </a:prstGeom>
          <a:solidFill>
            <a:srgbClr val="EFF6FF"/>
          </a:solidFill>
          <a:ln w="9525">
            <a:solidFill>
              <a:srgbClr val="2563EB"/>
            </a:solidFill>
            <a:prstDash val="solid"/>
          </a:ln>
        </p:spPr>
        <p:txBody>
          <a:bodyPr/>
          <a:lstStyle/>
          <a:p>
            <a:endParaRPr lang="zh-CN" altLang="en-US"/>
          </a:p>
        </p:txBody>
      </p:sp>
      <p:sp>
        <p:nvSpPr>
          <p:cNvPr id="36" name="矩形 35">
            <a:extLst>
              <a:ext uri="{FF2B5EF4-FFF2-40B4-BE49-F238E27FC236}">
                <a16:creationId xmlns:a16="http://schemas.microsoft.com/office/drawing/2014/main" id="{5AA038FA-5B83-4D69-B0E8-32F35C2DE75A}"/>
              </a:ext>
            </a:extLst>
          </p:cNvPr>
          <p:cNvSpPr>
            <a:spLocks noGrp="1"/>
          </p:cNvSpPr>
          <p:nvPr/>
        </p:nvSpPr>
        <p:spPr>
          <a:xfrm>
            <a:off x="1314450" y="4000500"/>
            <a:ext cx="1714500" cy="285750"/>
          </a:xfrm>
          <a:prstGeom prst="rect">
            <a:avLst/>
          </a:prstGeom>
          <a:noFill/>
          <a:ln w="0">
            <a:noFill/>
            <a:prstDash val="solid"/>
          </a:ln>
        </p:spPr>
        <p:txBody>
          <a:bodyPr/>
          <a:lstStyle/>
          <a:p>
            <a:pPr algn="l">
              <a:defRPr sz="1800" b="1" i="0">
                <a:solidFill>
                  <a:srgbClr val="1E3A8A"/>
                </a:solidFill>
              </a:defRPr>
            </a:pPr>
            <a:r>
              <a:rPr sz="1800" b="1" i="0">
                <a:solidFill>
                  <a:srgbClr val="1E3A8A"/>
                </a:solidFill>
              </a:rPr>
              <a:t>词级 N-Gram</a:t>
            </a:r>
          </a:p>
        </p:txBody>
      </p:sp>
      <p:sp>
        <p:nvSpPr>
          <p:cNvPr id="37" name="矩形 36">
            <a:extLst>
              <a:ext uri="{FF2B5EF4-FFF2-40B4-BE49-F238E27FC236}">
                <a16:creationId xmlns:a16="http://schemas.microsoft.com/office/drawing/2014/main" id="{AB9D3F52-DAE3-47A2-B588-C11BBEE9F105}"/>
              </a:ext>
            </a:extLst>
          </p:cNvPr>
          <p:cNvSpPr>
            <a:spLocks noGrp="1"/>
          </p:cNvSpPr>
          <p:nvPr/>
        </p:nvSpPr>
        <p:spPr>
          <a:xfrm>
            <a:off x="1314450" y="4438650"/>
            <a:ext cx="3667125" cy="4953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依赖分词结果，较容易解释高权重词，但会受分词质量和领域术语切分影响。</a:t>
            </a:r>
          </a:p>
        </p:txBody>
      </p:sp>
      <p:sp>
        <p:nvSpPr>
          <p:cNvPr id="38" name="矩形: 圆角 37">
            <a:extLst>
              <a:ext uri="{FF2B5EF4-FFF2-40B4-BE49-F238E27FC236}">
                <a16:creationId xmlns:a16="http://schemas.microsoft.com/office/drawing/2014/main" id="{01961C22-9A50-4D13-AFF2-554E2A43BB00}"/>
              </a:ext>
            </a:extLst>
          </p:cNvPr>
          <p:cNvSpPr>
            <a:spLocks noGrp="1"/>
          </p:cNvSpPr>
          <p:nvPr/>
        </p:nvSpPr>
        <p:spPr>
          <a:xfrm>
            <a:off x="6667500" y="3733800"/>
            <a:ext cx="4476750" cy="1428750"/>
          </a:xfrm>
          <a:prstGeom prst="roundRect">
            <a:avLst>
              <a:gd name="adj" fmla="val 8000"/>
            </a:avLst>
          </a:prstGeom>
          <a:solidFill>
            <a:srgbClr val="ECFDF5"/>
          </a:solidFill>
          <a:ln w="9525">
            <a:solidFill>
              <a:srgbClr val="0F766E"/>
            </a:solidFill>
            <a:prstDash val="solid"/>
          </a:ln>
        </p:spPr>
        <p:txBody>
          <a:bodyPr/>
          <a:lstStyle/>
          <a:p>
            <a:endParaRPr lang="zh-CN" altLang="en-US"/>
          </a:p>
        </p:txBody>
      </p:sp>
      <p:sp>
        <p:nvSpPr>
          <p:cNvPr id="39" name="矩形 38">
            <a:extLst>
              <a:ext uri="{FF2B5EF4-FFF2-40B4-BE49-F238E27FC236}">
                <a16:creationId xmlns:a16="http://schemas.microsoft.com/office/drawing/2014/main" id="{EB560E66-3B92-44C4-8B9D-68A427D35132}"/>
              </a:ext>
            </a:extLst>
          </p:cNvPr>
          <p:cNvSpPr>
            <a:spLocks noGrp="1"/>
          </p:cNvSpPr>
          <p:nvPr/>
        </p:nvSpPr>
        <p:spPr>
          <a:xfrm>
            <a:off x="6934200" y="4000500"/>
            <a:ext cx="1905000" cy="285750"/>
          </a:xfrm>
          <a:prstGeom prst="rect">
            <a:avLst/>
          </a:prstGeom>
          <a:noFill/>
          <a:ln w="0">
            <a:noFill/>
            <a:prstDash val="solid"/>
          </a:ln>
        </p:spPr>
        <p:txBody>
          <a:bodyPr/>
          <a:lstStyle/>
          <a:p>
            <a:pPr algn="l">
              <a:defRPr sz="1800" b="1" i="0">
                <a:solidFill>
                  <a:srgbClr val="0F766E"/>
                </a:solidFill>
              </a:defRPr>
            </a:pPr>
            <a:r>
              <a:rPr sz="1800" b="1" i="0">
                <a:solidFill>
                  <a:srgbClr val="0F766E"/>
                </a:solidFill>
              </a:rPr>
              <a:t>字符级 N-Gram</a:t>
            </a:r>
          </a:p>
        </p:txBody>
      </p:sp>
      <p:sp>
        <p:nvSpPr>
          <p:cNvPr id="40" name="矩形 39">
            <a:extLst>
              <a:ext uri="{FF2B5EF4-FFF2-40B4-BE49-F238E27FC236}">
                <a16:creationId xmlns:a16="http://schemas.microsoft.com/office/drawing/2014/main" id="{A9BFE41F-F3A9-42D6-9E14-6A544D513829}"/>
              </a:ext>
            </a:extLst>
          </p:cNvPr>
          <p:cNvSpPr>
            <a:spLocks noGrp="1"/>
          </p:cNvSpPr>
          <p:nvPr/>
        </p:nvSpPr>
        <p:spPr>
          <a:xfrm>
            <a:off x="6934200" y="4438650"/>
            <a:ext cx="3667125" cy="4953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不依赖分词，能捕获细粒度片段，因此作为 Logistic Regression 基线的主要特征。</a:t>
            </a:r>
          </a:p>
        </p:txBody>
      </p:sp>
      <p:sp>
        <p:nvSpPr>
          <p:cNvPr id="41" name="矩形 40">
            <a:extLst>
              <a:ext uri="{FF2B5EF4-FFF2-40B4-BE49-F238E27FC236}">
                <a16:creationId xmlns:a16="http://schemas.microsoft.com/office/drawing/2014/main" id="{CA4A86B7-81D7-4F51-8179-66AA7C30C940}"/>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42" name="矩形 41">
            <a:extLst>
              <a:ext uri="{FF2B5EF4-FFF2-40B4-BE49-F238E27FC236}">
                <a16:creationId xmlns:a16="http://schemas.microsoft.com/office/drawing/2014/main" id="{5190132C-0399-4E14-9AC0-2C00EC410256}"/>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08</a:t>
            </a:r>
          </a:p>
        </p:txBody>
      </p:sp>
    </p:spTree>
    <p:extLst>
      <p:ext uri="{BB962C8B-B14F-4D97-AF65-F5344CB8AC3E}">
        <p14:creationId xmlns:p14="http://schemas.microsoft.com/office/powerpoint/2010/main" val="575576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22CC91FC-C7FF-44DF-9401-D7AF8E560FFA}"/>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模型方案</a:t>
            </a:r>
          </a:p>
        </p:txBody>
      </p:sp>
      <p:sp>
        <p:nvSpPr>
          <p:cNvPr id="2" name="矩形 1">
            <a:extLst>
              <a:ext uri="{FF2B5EF4-FFF2-40B4-BE49-F238E27FC236}">
                <a16:creationId xmlns:a16="http://schemas.microsoft.com/office/drawing/2014/main" id="{21460DBB-89F5-4753-84D6-921B55651DA0}"/>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419A7BEC-9964-4BFE-AEB7-2E5004B5D9E8}"/>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保留一个可解释基线，再使用 BERT 做上下文语义建模</a:t>
            </a:r>
          </a:p>
        </p:txBody>
      </p:sp>
      <p:sp>
        <p:nvSpPr>
          <p:cNvPr id="4" name="矩形: 圆角 3">
            <a:extLst>
              <a:ext uri="{FF2B5EF4-FFF2-40B4-BE49-F238E27FC236}">
                <a16:creationId xmlns:a16="http://schemas.microsoft.com/office/drawing/2014/main" id="{1B3D0BAD-1B66-484A-8CE5-7AE29DB7F46B}"/>
              </a:ext>
            </a:extLst>
          </p:cNvPr>
          <p:cNvSpPr>
            <a:spLocks noGrp="1"/>
          </p:cNvSpPr>
          <p:nvPr/>
        </p:nvSpPr>
        <p:spPr>
          <a:xfrm>
            <a:off x="819150" y="1447800"/>
            <a:ext cx="4591050" cy="3524250"/>
          </a:xfrm>
          <a:prstGeom prst="roundRect">
            <a:avLst>
              <a:gd name="adj" fmla="val 3243"/>
            </a:avLst>
          </a:prstGeom>
          <a:solidFill>
            <a:srgbClr val="FFFFFF"/>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63258105-9F4B-471D-9087-2737B7871CFC}"/>
              </a:ext>
            </a:extLst>
          </p:cNvPr>
          <p:cNvSpPr>
            <a:spLocks noGrp="1"/>
          </p:cNvSpPr>
          <p:nvPr/>
        </p:nvSpPr>
        <p:spPr>
          <a:xfrm>
            <a:off x="819150" y="1447800"/>
            <a:ext cx="4591050" cy="95250"/>
          </a:xfrm>
          <a:prstGeom prst="rect">
            <a:avLst/>
          </a:prstGeom>
          <a:solidFill>
            <a:srgbClr val="EA580C"/>
          </a:solidFill>
          <a:ln w="0">
            <a:noFill/>
            <a:prstDash val="solid"/>
          </a:ln>
        </p:spPr>
        <p:txBody>
          <a:bodyPr/>
          <a:lstStyle/>
          <a:p>
            <a:endParaRPr lang="zh-CN" altLang="en-US"/>
          </a:p>
        </p:txBody>
      </p:sp>
      <p:sp>
        <p:nvSpPr>
          <p:cNvPr id="6" name="矩形 5">
            <a:extLst>
              <a:ext uri="{FF2B5EF4-FFF2-40B4-BE49-F238E27FC236}">
                <a16:creationId xmlns:a16="http://schemas.microsoft.com/office/drawing/2014/main" id="{611DDC96-8E24-44ED-85DE-069D744A01D5}"/>
              </a:ext>
            </a:extLst>
          </p:cNvPr>
          <p:cNvSpPr>
            <a:spLocks noGrp="1"/>
          </p:cNvSpPr>
          <p:nvPr/>
        </p:nvSpPr>
        <p:spPr>
          <a:xfrm>
            <a:off x="1123950" y="1847850"/>
            <a:ext cx="1714500" cy="323850"/>
          </a:xfrm>
          <a:prstGeom prst="rect">
            <a:avLst/>
          </a:prstGeom>
          <a:noFill/>
          <a:ln w="0">
            <a:noFill/>
            <a:prstDash val="solid"/>
          </a:ln>
        </p:spPr>
        <p:txBody>
          <a:bodyPr/>
          <a:lstStyle/>
          <a:p>
            <a:pPr algn="l">
              <a:defRPr sz="1950" b="1" i="0">
                <a:solidFill>
                  <a:srgbClr val="EA580C"/>
                </a:solidFill>
              </a:defRPr>
            </a:pPr>
            <a:r>
              <a:rPr sz="1950" b="1" i="0">
                <a:solidFill>
                  <a:srgbClr val="EA580C"/>
                </a:solidFill>
              </a:rPr>
              <a:t>基线模型</a:t>
            </a:r>
          </a:p>
        </p:txBody>
      </p:sp>
      <p:sp>
        <p:nvSpPr>
          <p:cNvPr id="7" name="矩形 6">
            <a:extLst>
              <a:ext uri="{FF2B5EF4-FFF2-40B4-BE49-F238E27FC236}">
                <a16:creationId xmlns:a16="http://schemas.microsoft.com/office/drawing/2014/main" id="{3EDC5A2A-CA28-472D-9987-0A6F2E73C553}"/>
              </a:ext>
            </a:extLst>
          </p:cNvPr>
          <p:cNvSpPr>
            <a:spLocks noGrp="1"/>
          </p:cNvSpPr>
          <p:nvPr/>
        </p:nvSpPr>
        <p:spPr>
          <a:xfrm>
            <a:off x="1123950" y="2533650"/>
            <a:ext cx="85725" cy="85725"/>
          </a:xfrm>
          <a:prstGeom prst="rect">
            <a:avLst/>
          </a:prstGeom>
          <a:solidFill>
            <a:srgbClr val="2563EB"/>
          </a:solidFill>
          <a:ln w="0">
            <a:noFill/>
            <a:prstDash val="solid"/>
          </a:ln>
        </p:spPr>
        <p:txBody>
          <a:bodyPr/>
          <a:lstStyle/>
          <a:p>
            <a:endParaRPr lang="zh-CN" altLang="en-US"/>
          </a:p>
        </p:txBody>
      </p:sp>
      <p:sp>
        <p:nvSpPr>
          <p:cNvPr id="8" name="矩形 7">
            <a:extLst>
              <a:ext uri="{FF2B5EF4-FFF2-40B4-BE49-F238E27FC236}">
                <a16:creationId xmlns:a16="http://schemas.microsoft.com/office/drawing/2014/main" id="{0000FD11-5DD8-4836-81F7-D744B373956B}"/>
              </a:ext>
            </a:extLst>
          </p:cNvPr>
          <p:cNvSpPr>
            <a:spLocks noGrp="1"/>
          </p:cNvSpPr>
          <p:nvPr/>
        </p:nvSpPr>
        <p:spPr>
          <a:xfrm>
            <a:off x="1352550" y="24384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输入：摘要 + [SEP] + 关键词</a:t>
            </a:r>
          </a:p>
        </p:txBody>
      </p:sp>
      <p:sp>
        <p:nvSpPr>
          <p:cNvPr id="9" name="矩形 8">
            <a:extLst>
              <a:ext uri="{FF2B5EF4-FFF2-40B4-BE49-F238E27FC236}">
                <a16:creationId xmlns:a16="http://schemas.microsoft.com/office/drawing/2014/main" id="{CD4351FE-AF0B-4CC8-B579-F631EA7DC922}"/>
              </a:ext>
            </a:extLst>
          </p:cNvPr>
          <p:cNvSpPr>
            <a:spLocks noGrp="1"/>
          </p:cNvSpPr>
          <p:nvPr/>
        </p:nvSpPr>
        <p:spPr>
          <a:xfrm>
            <a:off x="1123950" y="2990850"/>
            <a:ext cx="85725" cy="85725"/>
          </a:xfrm>
          <a:prstGeom prst="rect">
            <a:avLst/>
          </a:prstGeom>
          <a:solidFill>
            <a:srgbClr val="2563EB"/>
          </a:solidFill>
          <a:ln w="0">
            <a:noFill/>
            <a:prstDash val="solid"/>
          </a:ln>
        </p:spPr>
        <p:txBody>
          <a:bodyPr/>
          <a:lstStyle/>
          <a:p>
            <a:endParaRPr lang="zh-CN" altLang="en-US"/>
          </a:p>
        </p:txBody>
      </p:sp>
      <p:sp>
        <p:nvSpPr>
          <p:cNvPr id="10" name="矩形 9">
            <a:extLst>
              <a:ext uri="{FF2B5EF4-FFF2-40B4-BE49-F238E27FC236}">
                <a16:creationId xmlns:a16="http://schemas.microsoft.com/office/drawing/2014/main" id="{F1A3A62E-BFA0-4D21-8F31-3219B20D699E}"/>
              </a:ext>
            </a:extLst>
          </p:cNvPr>
          <p:cNvSpPr>
            <a:spLocks noGrp="1"/>
          </p:cNvSpPr>
          <p:nvPr/>
        </p:nvSpPr>
        <p:spPr>
          <a:xfrm>
            <a:off x="1352550" y="28956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表示：char 1-3 gram TF-IDF</a:t>
            </a:r>
          </a:p>
        </p:txBody>
      </p:sp>
      <p:sp>
        <p:nvSpPr>
          <p:cNvPr id="11" name="矩形 10">
            <a:extLst>
              <a:ext uri="{FF2B5EF4-FFF2-40B4-BE49-F238E27FC236}">
                <a16:creationId xmlns:a16="http://schemas.microsoft.com/office/drawing/2014/main" id="{387EF733-E58C-4A94-9DA6-15CD0E02CFAA}"/>
              </a:ext>
            </a:extLst>
          </p:cNvPr>
          <p:cNvSpPr>
            <a:spLocks noGrp="1"/>
          </p:cNvSpPr>
          <p:nvPr/>
        </p:nvSpPr>
        <p:spPr>
          <a:xfrm>
            <a:off x="1123950" y="3448050"/>
            <a:ext cx="85725" cy="85725"/>
          </a:xfrm>
          <a:prstGeom prst="rect">
            <a:avLst/>
          </a:prstGeom>
          <a:solidFill>
            <a:srgbClr val="2563EB"/>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301981B7-92A2-48D1-8E90-CE0410A203DB}"/>
              </a:ext>
            </a:extLst>
          </p:cNvPr>
          <p:cNvSpPr>
            <a:spLocks noGrp="1"/>
          </p:cNvSpPr>
          <p:nvPr/>
        </p:nvSpPr>
        <p:spPr>
          <a:xfrm>
            <a:off x="1352550" y="33528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分类器：Logistic Regression</a:t>
            </a:r>
          </a:p>
        </p:txBody>
      </p:sp>
      <p:sp>
        <p:nvSpPr>
          <p:cNvPr id="13" name="矩形 12">
            <a:extLst>
              <a:ext uri="{FF2B5EF4-FFF2-40B4-BE49-F238E27FC236}">
                <a16:creationId xmlns:a16="http://schemas.microsoft.com/office/drawing/2014/main" id="{ECBF88DE-42AB-47E5-9BB9-7B782BCB3C98}"/>
              </a:ext>
            </a:extLst>
          </p:cNvPr>
          <p:cNvSpPr>
            <a:spLocks noGrp="1"/>
          </p:cNvSpPr>
          <p:nvPr/>
        </p:nvSpPr>
        <p:spPr>
          <a:xfrm>
            <a:off x="1123950" y="3905250"/>
            <a:ext cx="85725" cy="85725"/>
          </a:xfrm>
          <a:prstGeom prst="rect">
            <a:avLst/>
          </a:prstGeom>
          <a:solidFill>
            <a:srgbClr val="2563EB"/>
          </a:solidFill>
          <a:ln w="0">
            <a:noFill/>
            <a:prstDash val="solid"/>
          </a:ln>
        </p:spPr>
        <p:txBody>
          <a:bodyPr/>
          <a:lstStyle/>
          <a:p>
            <a:endParaRPr lang="zh-CN" altLang="en-US"/>
          </a:p>
        </p:txBody>
      </p:sp>
      <p:sp>
        <p:nvSpPr>
          <p:cNvPr id="14" name="矩形 13">
            <a:extLst>
              <a:ext uri="{FF2B5EF4-FFF2-40B4-BE49-F238E27FC236}">
                <a16:creationId xmlns:a16="http://schemas.microsoft.com/office/drawing/2014/main" id="{FBF8ACB2-48AE-4E80-8A55-10ED74FA3146}"/>
              </a:ext>
            </a:extLst>
          </p:cNvPr>
          <p:cNvSpPr>
            <a:spLocks noGrp="1"/>
          </p:cNvSpPr>
          <p:nvPr/>
        </p:nvSpPr>
        <p:spPr>
          <a:xfrm>
            <a:off x="1352550" y="38100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定位：检验词面统计特征的上限</a:t>
            </a:r>
          </a:p>
        </p:txBody>
      </p:sp>
      <p:sp>
        <p:nvSpPr>
          <p:cNvPr id="15" name="矩形: 圆角 14">
            <a:extLst>
              <a:ext uri="{FF2B5EF4-FFF2-40B4-BE49-F238E27FC236}">
                <a16:creationId xmlns:a16="http://schemas.microsoft.com/office/drawing/2014/main" id="{E149461F-23D1-48C8-80DF-092CF9C5013D}"/>
              </a:ext>
            </a:extLst>
          </p:cNvPr>
          <p:cNvSpPr>
            <a:spLocks noGrp="1"/>
          </p:cNvSpPr>
          <p:nvPr/>
        </p:nvSpPr>
        <p:spPr>
          <a:xfrm>
            <a:off x="6781800" y="1447800"/>
            <a:ext cx="4591050" cy="3524250"/>
          </a:xfrm>
          <a:prstGeom prst="roundRect">
            <a:avLst>
              <a:gd name="adj" fmla="val 3243"/>
            </a:avLst>
          </a:prstGeom>
          <a:solidFill>
            <a:srgbClr val="FFFFFF"/>
          </a:solidFill>
          <a:ln w="9525">
            <a:solidFill>
              <a:srgbClr val="E2E8F0"/>
            </a:solidFill>
            <a:prstDash val="solid"/>
          </a:ln>
        </p:spPr>
        <p:txBody>
          <a:bodyPr/>
          <a:lstStyle/>
          <a:p>
            <a:endParaRPr lang="zh-CN" altLang="en-US"/>
          </a:p>
        </p:txBody>
      </p:sp>
      <p:sp>
        <p:nvSpPr>
          <p:cNvPr id="16" name="矩形 15">
            <a:extLst>
              <a:ext uri="{FF2B5EF4-FFF2-40B4-BE49-F238E27FC236}">
                <a16:creationId xmlns:a16="http://schemas.microsoft.com/office/drawing/2014/main" id="{33262046-57F4-4CF9-BAE9-EF273671F506}"/>
              </a:ext>
            </a:extLst>
          </p:cNvPr>
          <p:cNvSpPr>
            <a:spLocks noGrp="1"/>
          </p:cNvSpPr>
          <p:nvPr/>
        </p:nvSpPr>
        <p:spPr>
          <a:xfrm>
            <a:off x="6781800" y="1447800"/>
            <a:ext cx="4591050" cy="95250"/>
          </a:xfrm>
          <a:prstGeom prst="rect">
            <a:avLst/>
          </a:prstGeom>
          <a:solidFill>
            <a:srgbClr val="2563EB"/>
          </a:solidFill>
          <a:ln w="0">
            <a:noFill/>
            <a:prstDash val="solid"/>
          </a:ln>
        </p:spPr>
        <p:txBody>
          <a:bodyPr/>
          <a:lstStyle/>
          <a:p>
            <a:endParaRPr lang="zh-CN" altLang="en-US"/>
          </a:p>
        </p:txBody>
      </p:sp>
      <p:sp>
        <p:nvSpPr>
          <p:cNvPr id="17" name="矩形 16">
            <a:extLst>
              <a:ext uri="{FF2B5EF4-FFF2-40B4-BE49-F238E27FC236}">
                <a16:creationId xmlns:a16="http://schemas.microsoft.com/office/drawing/2014/main" id="{FE1AE791-236A-4663-A2D0-0C0ECD5187B7}"/>
              </a:ext>
            </a:extLst>
          </p:cNvPr>
          <p:cNvSpPr>
            <a:spLocks noGrp="1"/>
          </p:cNvSpPr>
          <p:nvPr/>
        </p:nvSpPr>
        <p:spPr>
          <a:xfrm>
            <a:off x="7086600" y="1847850"/>
            <a:ext cx="1714500" cy="323850"/>
          </a:xfrm>
          <a:prstGeom prst="rect">
            <a:avLst/>
          </a:prstGeom>
          <a:noFill/>
          <a:ln w="0">
            <a:noFill/>
            <a:prstDash val="solid"/>
          </a:ln>
        </p:spPr>
        <p:txBody>
          <a:bodyPr/>
          <a:lstStyle/>
          <a:p>
            <a:pPr algn="l">
              <a:defRPr sz="1950" b="1" i="0">
                <a:solidFill>
                  <a:srgbClr val="2563EB"/>
                </a:solidFill>
              </a:defRPr>
            </a:pPr>
            <a:r>
              <a:rPr sz="1950" b="1" i="0">
                <a:solidFill>
                  <a:srgbClr val="2563EB"/>
                </a:solidFill>
              </a:rPr>
              <a:t>主模型</a:t>
            </a:r>
          </a:p>
        </p:txBody>
      </p:sp>
      <p:sp>
        <p:nvSpPr>
          <p:cNvPr id="18" name="矩形 17">
            <a:extLst>
              <a:ext uri="{FF2B5EF4-FFF2-40B4-BE49-F238E27FC236}">
                <a16:creationId xmlns:a16="http://schemas.microsoft.com/office/drawing/2014/main" id="{F6A70B4E-A2A5-4F5E-9AC7-9C88E0E2E47D}"/>
              </a:ext>
            </a:extLst>
          </p:cNvPr>
          <p:cNvSpPr>
            <a:spLocks noGrp="1"/>
          </p:cNvSpPr>
          <p:nvPr/>
        </p:nvSpPr>
        <p:spPr>
          <a:xfrm>
            <a:off x="7086600" y="2533650"/>
            <a:ext cx="85725" cy="85725"/>
          </a:xfrm>
          <a:prstGeom prst="rect">
            <a:avLst/>
          </a:prstGeom>
          <a:solidFill>
            <a:srgbClr val="2563EB"/>
          </a:solidFill>
          <a:ln w="0">
            <a:noFill/>
            <a:prstDash val="solid"/>
          </a:ln>
        </p:spPr>
        <p:txBody>
          <a:bodyPr/>
          <a:lstStyle/>
          <a:p>
            <a:endParaRPr lang="zh-CN" altLang="en-US"/>
          </a:p>
        </p:txBody>
      </p:sp>
      <p:sp>
        <p:nvSpPr>
          <p:cNvPr id="19" name="矩形 18">
            <a:extLst>
              <a:ext uri="{FF2B5EF4-FFF2-40B4-BE49-F238E27FC236}">
                <a16:creationId xmlns:a16="http://schemas.microsoft.com/office/drawing/2014/main" id="{0F812A37-63DB-437A-A23E-7E79413DCD14}"/>
              </a:ext>
            </a:extLst>
          </p:cNvPr>
          <p:cNvSpPr>
            <a:spLocks noGrp="1"/>
          </p:cNvSpPr>
          <p:nvPr/>
        </p:nvSpPr>
        <p:spPr>
          <a:xfrm>
            <a:off x="7315200" y="24384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输入：[CLS] 摘要 [SEP] 关键词 [SEP]</a:t>
            </a:r>
          </a:p>
        </p:txBody>
      </p:sp>
      <p:sp>
        <p:nvSpPr>
          <p:cNvPr id="20" name="矩形 19">
            <a:extLst>
              <a:ext uri="{FF2B5EF4-FFF2-40B4-BE49-F238E27FC236}">
                <a16:creationId xmlns:a16="http://schemas.microsoft.com/office/drawing/2014/main" id="{92A29F59-593E-4FF8-9CD4-290C57EEA7B4}"/>
              </a:ext>
            </a:extLst>
          </p:cNvPr>
          <p:cNvSpPr>
            <a:spLocks noGrp="1"/>
          </p:cNvSpPr>
          <p:nvPr/>
        </p:nvSpPr>
        <p:spPr>
          <a:xfrm>
            <a:off x="7086600" y="2990850"/>
            <a:ext cx="85725" cy="85725"/>
          </a:xfrm>
          <a:prstGeom prst="rect">
            <a:avLst/>
          </a:prstGeom>
          <a:solidFill>
            <a:srgbClr val="2563EB"/>
          </a:solidFill>
          <a:ln w="0">
            <a:noFill/>
            <a:prstDash val="solid"/>
          </a:ln>
        </p:spPr>
        <p:txBody>
          <a:bodyPr/>
          <a:lstStyle/>
          <a:p>
            <a:endParaRPr lang="zh-CN" altLang="en-US"/>
          </a:p>
        </p:txBody>
      </p:sp>
      <p:sp>
        <p:nvSpPr>
          <p:cNvPr id="21" name="矩形 20">
            <a:extLst>
              <a:ext uri="{FF2B5EF4-FFF2-40B4-BE49-F238E27FC236}">
                <a16:creationId xmlns:a16="http://schemas.microsoft.com/office/drawing/2014/main" id="{50E0F222-0A0A-4FD8-B4B6-135F86CD769C}"/>
              </a:ext>
            </a:extLst>
          </p:cNvPr>
          <p:cNvSpPr>
            <a:spLocks noGrp="1"/>
          </p:cNvSpPr>
          <p:nvPr/>
        </p:nvSpPr>
        <p:spPr>
          <a:xfrm>
            <a:off x="7315200" y="28956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编码：BERT-base-Chinese Encoder</a:t>
            </a:r>
          </a:p>
        </p:txBody>
      </p:sp>
      <p:sp>
        <p:nvSpPr>
          <p:cNvPr id="22" name="矩形 21">
            <a:extLst>
              <a:ext uri="{FF2B5EF4-FFF2-40B4-BE49-F238E27FC236}">
                <a16:creationId xmlns:a16="http://schemas.microsoft.com/office/drawing/2014/main" id="{78B8279B-0644-462A-9E38-FF66933943AA}"/>
              </a:ext>
            </a:extLst>
          </p:cNvPr>
          <p:cNvSpPr>
            <a:spLocks noGrp="1"/>
          </p:cNvSpPr>
          <p:nvPr/>
        </p:nvSpPr>
        <p:spPr>
          <a:xfrm>
            <a:off x="7086600" y="3448050"/>
            <a:ext cx="85725" cy="85725"/>
          </a:xfrm>
          <a:prstGeom prst="rect">
            <a:avLst/>
          </a:prstGeom>
          <a:solidFill>
            <a:srgbClr val="2563EB"/>
          </a:solidFill>
          <a:ln w="0">
            <a:noFill/>
            <a:prstDash val="solid"/>
          </a:ln>
        </p:spPr>
        <p:txBody>
          <a:bodyPr/>
          <a:lstStyle/>
          <a:p>
            <a:endParaRPr lang="zh-CN" altLang="en-US"/>
          </a:p>
        </p:txBody>
      </p:sp>
      <p:sp>
        <p:nvSpPr>
          <p:cNvPr id="23" name="矩形 22">
            <a:extLst>
              <a:ext uri="{FF2B5EF4-FFF2-40B4-BE49-F238E27FC236}">
                <a16:creationId xmlns:a16="http://schemas.microsoft.com/office/drawing/2014/main" id="{29FA9849-E366-4A5A-88DF-71B646758495}"/>
              </a:ext>
            </a:extLst>
          </p:cNvPr>
          <p:cNvSpPr>
            <a:spLocks noGrp="1"/>
          </p:cNvSpPr>
          <p:nvPr/>
        </p:nvSpPr>
        <p:spPr>
          <a:xfrm>
            <a:off x="7315200" y="33528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表示：取 [CLS] 位置向量</a:t>
            </a:r>
          </a:p>
        </p:txBody>
      </p:sp>
      <p:sp>
        <p:nvSpPr>
          <p:cNvPr id="24" name="矩形 23">
            <a:extLst>
              <a:ext uri="{FF2B5EF4-FFF2-40B4-BE49-F238E27FC236}">
                <a16:creationId xmlns:a16="http://schemas.microsoft.com/office/drawing/2014/main" id="{EE15289B-FE83-4F2F-B83F-C44789A5969E}"/>
              </a:ext>
            </a:extLst>
          </p:cNvPr>
          <p:cNvSpPr>
            <a:spLocks noGrp="1"/>
          </p:cNvSpPr>
          <p:nvPr/>
        </p:nvSpPr>
        <p:spPr>
          <a:xfrm>
            <a:off x="7086600" y="3905250"/>
            <a:ext cx="85725" cy="85725"/>
          </a:xfrm>
          <a:prstGeom prst="rect">
            <a:avLst/>
          </a:prstGeom>
          <a:solidFill>
            <a:srgbClr val="2563EB"/>
          </a:solidFill>
          <a:ln w="0">
            <a:noFill/>
            <a:prstDash val="solid"/>
          </a:ln>
        </p:spPr>
        <p:txBody>
          <a:bodyPr/>
          <a:lstStyle/>
          <a:p>
            <a:endParaRPr lang="zh-CN" altLang="en-US"/>
          </a:p>
        </p:txBody>
      </p:sp>
      <p:sp>
        <p:nvSpPr>
          <p:cNvPr id="25" name="矩形 24">
            <a:extLst>
              <a:ext uri="{FF2B5EF4-FFF2-40B4-BE49-F238E27FC236}">
                <a16:creationId xmlns:a16="http://schemas.microsoft.com/office/drawing/2014/main" id="{4051AA50-3AA7-44B2-B4BB-279D5116178A}"/>
              </a:ext>
            </a:extLst>
          </p:cNvPr>
          <p:cNvSpPr>
            <a:spLocks noGrp="1"/>
          </p:cNvSpPr>
          <p:nvPr/>
        </p:nvSpPr>
        <p:spPr>
          <a:xfrm>
            <a:off x="7315200" y="3810000"/>
            <a:ext cx="3438525" cy="5334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分类：线性层输出 label 0/1</a:t>
            </a:r>
          </a:p>
        </p:txBody>
      </p:sp>
      <p:sp>
        <p:nvSpPr>
          <p:cNvPr id="26" name="矩形: 圆角 25">
            <a:extLst>
              <a:ext uri="{FF2B5EF4-FFF2-40B4-BE49-F238E27FC236}">
                <a16:creationId xmlns:a16="http://schemas.microsoft.com/office/drawing/2014/main" id="{7B58D7F1-07EE-4566-857C-FCC573775B02}"/>
              </a:ext>
            </a:extLst>
          </p:cNvPr>
          <p:cNvSpPr>
            <a:spLocks noGrp="1"/>
          </p:cNvSpPr>
          <p:nvPr/>
        </p:nvSpPr>
        <p:spPr>
          <a:xfrm>
            <a:off x="2647950" y="5429250"/>
            <a:ext cx="6896100" cy="457200"/>
          </a:xfrm>
          <a:prstGeom prst="roundRect">
            <a:avLst>
              <a:gd name="adj" fmla="val 25000"/>
            </a:avLst>
          </a:prstGeom>
          <a:solidFill>
            <a:srgbClr val="DBEAFE"/>
          </a:solidFill>
          <a:ln w="9525">
            <a:solidFill>
              <a:srgbClr val="2563EB"/>
            </a:solidFill>
            <a:prstDash val="solid"/>
          </a:ln>
        </p:spPr>
        <p:txBody>
          <a:bodyPr/>
          <a:lstStyle/>
          <a:p>
            <a:endParaRPr lang="zh-CN" altLang="en-US"/>
          </a:p>
        </p:txBody>
      </p:sp>
      <p:sp>
        <p:nvSpPr>
          <p:cNvPr id="27" name="矩形 26">
            <a:extLst>
              <a:ext uri="{FF2B5EF4-FFF2-40B4-BE49-F238E27FC236}">
                <a16:creationId xmlns:a16="http://schemas.microsoft.com/office/drawing/2014/main" id="{E2B7553A-FF59-4B53-8F8F-F765CEDF87E5}"/>
              </a:ext>
            </a:extLst>
          </p:cNvPr>
          <p:cNvSpPr>
            <a:spLocks noGrp="1"/>
          </p:cNvSpPr>
          <p:nvPr/>
        </p:nvSpPr>
        <p:spPr>
          <a:xfrm>
            <a:off x="2886075" y="5486400"/>
            <a:ext cx="6191250" cy="228600"/>
          </a:xfrm>
          <a:prstGeom prst="rect">
            <a:avLst/>
          </a:prstGeom>
          <a:noFill/>
          <a:ln w="0">
            <a:noFill/>
            <a:prstDash val="solid"/>
          </a:ln>
        </p:spPr>
        <p:txBody>
          <a:bodyPr/>
          <a:lstStyle/>
          <a:p>
            <a:pPr algn="ctr">
              <a:defRPr sz="1650" b="1" i="0">
                <a:solidFill>
                  <a:srgbClr val="1E3A8A"/>
                </a:solidFill>
              </a:defRPr>
            </a:pPr>
            <a:r>
              <a:rPr sz="1650" b="1" i="0" dirty="0" err="1">
                <a:solidFill>
                  <a:srgbClr val="1E3A8A"/>
                </a:solidFill>
              </a:rPr>
              <a:t>核心对比：词面匹配能力</a:t>
            </a:r>
            <a:r>
              <a:rPr sz="1650" b="1" i="0" dirty="0">
                <a:solidFill>
                  <a:srgbClr val="1E3A8A"/>
                </a:solidFill>
              </a:rPr>
              <a:t> vs </a:t>
            </a:r>
            <a:r>
              <a:rPr sz="1650" b="1" i="0" dirty="0" err="1">
                <a:solidFill>
                  <a:srgbClr val="1E3A8A"/>
                </a:solidFill>
              </a:rPr>
              <a:t>上下文语义匹配能力</a:t>
            </a:r>
            <a:endParaRPr sz="1650" b="1" i="0" dirty="0">
              <a:solidFill>
                <a:srgbClr val="1E3A8A"/>
              </a:solidFill>
            </a:endParaRPr>
          </a:p>
        </p:txBody>
      </p:sp>
      <p:sp>
        <p:nvSpPr>
          <p:cNvPr id="28" name="矩形 27">
            <a:extLst>
              <a:ext uri="{FF2B5EF4-FFF2-40B4-BE49-F238E27FC236}">
                <a16:creationId xmlns:a16="http://schemas.microsoft.com/office/drawing/2014/main" id="{2DAC15E7-EF0F-4BD2-B2C9-B7BF75BB3044}"/>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29" name="矩形 28">
            <a:extLst>
              <a:ext uri="{FF2B5EF4-FFF2-40B4-BE49-F238E27FC236}">
                <a16:creationId xmlns:a16="http://schemas.microsoft.com/office/drawing/2014/main" id="{F849B767-DA80-4864-9C64-974DC7CA9895}"/>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09</a:t>
            </a:r>
          </a:p>
        </p:txBody>
      </p:sp>
    </p:spTree>
    <p:extLst>
      <p:ext uri="{BB962C8B-B14F-4D97-AF65-F5344CB8AC3E}">
        <p14:creationId xmlns:p14="http://schemas.microsoft.com/office/powerpoint/2010/main" val="448019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66C75301-D766-48A9-B31B-5E9BD89C3B52}"/>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BERT 微调设置</a:t>
            </a:r>
          </a:p>
        </p:txBody>
      </p:sp>
      <p:sp>
        <p:nvSpPr>
          <p:cNvPr id="2" name="矩形 1">
            <a:extLst>
              <a:ext uri="{FF2B5EF4-FFF2-40B4-BE49-F238E27FC236}">
                <a16:creationId xmlns:a16="http://schemas.microsoft.com/office/drawing/2014/main" id="{2ABDBF6E-F9FD-40B0-B30B-7068DF6F2ABE}"/>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603E5746-E206-4B9D-B998-79D1EB7EC12F}"/>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dirty="0" err="1">
                <a:solidFill>
                  <a:srgbClr val="475569"/>
                </a:solidFill>
              </a:rPr>
              <a:t>预训练参数不是直接拿来用，而是在</a:t>
            </a:r>
            <a:r>
              <a:rPr sz="1350" b="0" i="0" dirty="0">
                <a:solidFill>
                  <a:srgbClr val="475569"/>
                </a:solidFill>
              </a:rPr>
              <a:t> CSL </a:t>
            </a:r>
            <a:r>
              <a:rPr sz="1350" b="0" i="0" dirty="0" err="1">
                <a:solidFill>
                  <a:srgbClr val="475569"/>
                </a:solidFill>
              </a:rPr>
              <a:t>标签上继续更新</a:t>
            </a:r>
            <a:endParaRPr sz="1350" b="0" i="0" dirty="0">
              <a:solidFill>
                <a:srgbClr val="475569"/>
              </a:solidFill>
            </a:endParaRPr>
          </a:p>
        </p:txBody>
      </p:sp>
      <p:sp>
        <p:nvSpPr>
          <p:cNvPr id="4" name="矩形 3">
            <a:extLst>
              <a:ext uri="{FF2B5EF4-FFF2-40B4-BE49-F238E27FC236}">
                <a16:creationId xmlns:a16="http://schemas.microsoft.com/office/drawing/2014/main" id="{B0E835F7-1589-4E7C-8D93-04A10BFFD8C8}"/>
              </a:ext>
            </a:extLst>
          </p:cNvPr>
          <p:cNvSpPr>
            <a:spLocks noGrp="1"/>
          </p:cNvSpPr>
          <p:nvPr/>
        </p:nvSpPr>
        <p:spPr>
          <a:xfrm>
            <a:off x="781050" y="1447800"/>
            <a:ext cx="2286000" cy="428625"/>
          </a:xfrm>
          <a:prstGeom prst="rect">
            <a:avLst/>
          </a:prstGeom>
          <a:solidFill>
            <a:srgbClr val="1E3A8A"/>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C1E747A2-6E27-4ECF-B20D-F992B0F6C9F3}"/>
              </a:ext>
            </a:extLst>
          </p:cNvPr>
          <p:cNvSpPr>
            <a:spLocks noGrp="1"/>
          </p:cNvSpPr>
          <p:nvPr/>
        </p:nvSpPr>
        <p:spPr>
          <a:xfrm>
            <a:off x="876300" y="1524000"/>
            <a:ext cx="2095500" cy="314325"/>
          </a:xfrm>
          <a:prstGeom prst="rect">
            <a:avLst/>
          </a:prstGeom>
          <a:noFill/>
          <a:ln w="0">
            <a:noFill/>
            <a:prstDash val="solid"/>
          </a:ln>
        </p:spPr>
        <p:txBody>
          <a:bodyPr/>
          <a:lstStyle/>
          <a:p>
            <a:pPr algn="l">
              <a:defRPr sz="1275" b="1" i="0">
                <a:solidFill>
                  <a:srgbClr val="FFFFFF"/>
                </a:solidFill>
              </a:defRPr>
            </a:pPr>
            <a:r>
              <a:rPr sz="1275" b="1" i="0">
                <a:solidFill>
                  <a:srgbClr val="FFFFFF"/>
                </a:solidFill>
              </a:rPr>
              <a:t>配置项</a:t>
            </a:r>
          </a:p>
        </p:txBody>
      </p:sp>
      <p:sp>
        <p:nvSpPr>
          <p:cNvPr id="6" name="矩形 5">
            <a:extLst>
              <a:ext uri="{FF2B5EF4-FFF2-40B4-BE49-F238E27FC236}">
                <a16:creationId xmlns:a16="http://schemas.microsoft.com/office/drawing/2014/main" id="{2B0D8236-3BF5-457A-94E8-7790A55174A3}"/>
              </a:ext>
            </a:extLst>
          </p:cNvPr>
          <p:cNvSpPr>
            <a:spLocks noGrp="1"/>
          </p:cNvSpPr>
          <p:nvPr/>
        </p:nvSpPr>
        <p:spPr>
          <a:xfrm>
            <a:off x="3067050" y="1447800"/>
            <a:ext cx="3381375" cy="428625"/>
          </a:xfrm>
          <a:prstGeom prst="rect">
            <a:avLst/>
          </a:prstGeom>
          <a:solidFill>
            <a:srgbClr val="1E3A8A"/>
          </a:solidFill>
          <a:ln w="9525">
            <a:solidFill>
              <a:srgbClr val="E2E8F0"/>
            </a:solidFill>
            <a:prstDash val="solid"/>
          </a:ln>
        </p:spPr>
        <p:txBody>
          <a:bodyPr/>
          <a:lstStyle/>
          <a:p>
            <a:endParaRPr lang="zh-CN" altLang="en-US"/>
          </a:p>
        </p:txBody>
      </p:sp>
      <p:sp>
        <p:nvSpPr>
          <p:cNvPr id="7" name="矩形 6">
            <a:extLst>
              <a:ext uri="{FF2B5EF4-FFF2-40B4-BE49-F238E27FC236}">
                <a16:creationId xmlns:a16="http://schemas.microsoft.com/office/drawing/2014/main" id="{E5B856BA-A031-492B-AA57-2A09AEF24CD1}"/>
              </a:ext>
            </a:extLst>
          </p:cNvPr>
          <p:cNvSpPr>
            <a:spLocks noGrp="1"/>
          </p:cNvSpPr>
          <p:nvPr/>
        </p:nvSpPr>
        <p:spPr>
          <a:xfrm>
            <a:off x="3162300" y="1524000"/>
            <a:ext cx="3190875" cy="314325"/>
          </a:xfrm>
          <a:prstGeom prst="rect">
            <a:avLst/>
          </a:prstGeom>
          <a:noFill/>
          <a:ln w="0">
            <a:noFill/>
            <a:prstDash val="solid"/>
          </a:ln>
        </p:spPr>
        <p:txBody>
          <a:bodyPr/>
          <a:lstStyle/>
          <a:p>
            <a:pPr algn="l">
              <a:defRPr sz="1275" b="1" i="0">
                <a:solidFill>
                  <a:srgbClr val="FFFFFF"/>
                </a:solidFill>
              </a:defRPr>
            </a:pPr>
            <a:r>
              <a:rPr sz="1275" b="1" i="0">
                <a:solidFill>
                  <a:srgbClr val="FFFFFF"/>
                </a:solidFill>
              </a:rPr>
              <a:t>设置</a:t>
            </a:r>
          </a:p>
        </p:txBody>
      </p:sp>
      <p:sp>
        <p:nvSpPr>
          <p:cNvPr id="8" name="矩形 7">
            <a:extLst>
              <a:ext uri="{FF2B5EF4-FFF2-40B4-BE49-F238E27FC236}">
                <a16:creationId xmlns:a16="http://schemas.microsoft.com/office/drawing/2014/main" id="{79347D2E-AF82-4996-BCB0-501F5B609384}"/>
              </a:ext>
            </a:extLst>
          </p:cNvPr>
          <p:cNvSpPr>
            <a:spLocks noGrp="1"/>
          </p:cNvSpPr>
          <p:nvPr/>
        </p:nvSpPr>
        <p:spPr>
          <a:xfrm>
            <a:off x="781050" y="1876425"/>
            <a:ext cx="2286000" cy="428625"/>
          </a:xfrm>
          <a:prstGeom prst="rect">
            <a:avLst/>
          </a:prstGeom>
          <a:solidFill>
            <a:srgbClr val="FFFFFF"/>
          </a:solidFill>
          <a:ln w="9525">
            <a:solidFill>
              <a:srgbClr val="E2E8F0"/>
            </a:solidFill>
            <a:prstDash val="solid"/>
          </a:ln>
        </p:spPr>
        <p:txBody>
          <a:bodyPr/>
          <a:lstStyle/>
          <a:p>
            <a:endParaRPr lang="zh-CN" altLang="en-US"/>
          </a:p>
        </p:txBody>
      </p:sp>
      <p:sp>
        <p:nvSpPr>
          <p:cNvPr id="9" name="矩形 8">
            <a:extLst>
              <a:ext uri="{FF2B5EF4-FFF2-40B4-BE49-F238E27FC236}">
                <a16:creationId xmlns:a16="http://schemas.microsoft.com/office/drawing/2014/main" id="{C04ED2BF-8C81-4DD2-9C13-29FA4826FF10}"/>
              </a:ext>
            </a:extLst>
          </p:cNvPr>
          <p:cNvSpPr>
            <a:spLocks noGrp="1"/>
          </p:cNvSpPr>
          <p:nvPr/>
        </p:nvSpPr>
        <p:spPr>
          <a:xfrm>
            <a:off x="876300" y="1952625"/>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模型</a:t>
            </a:r>
          </a:p>
        </p:txBody>
      </p:sp>
      <p:sp>
        <p:nvSpPr>
          <p:cNvPr id="10" name="矩形 9">
            <a:extLst>
              <a:ext uri="{FF2B5EF4-FFF2-40B4-BE49-F238E27FC236}">
                <a16:creationId xmlns:a16="http://schemas.microsoft.com/office/drawing/2014/main" id="{A3134EA2-0D28-496F-B53C-2C596C81B376}"/>
              </a:ext>
            </a:extLst>
          </p:cNvPr>
          <p:cNvSpPr>
            <a:spLocks noGrp="1"/>
          </p:cNvSpPr>
          <p:nvPr/>
        </p:nvSpPr>
        <p:spPr>
          <a:xfrm>
            <a:off x="3067050" y="1876425"/>
            <a:ext cx="3381375" cy="428625"/>
          </a:xfrm>
          <a:prstGeom prst="rect">
            <a:avLst/>
          </a:prstGeom>
          <a:solidFill>
            <a:srgbClr val="FFFFFF"/>
          </a:solidFill>
          <a:ln w="9525">
            <a:solidFill>
              <a:srgbClr val="E2E8F0"/>
            </a:solidFill>
            <a:prstDash val="solid"/>
          </a:ln>
        </p:spPr>
        <p:txBody>
          <a:bodyPr/>
          <a:lstStyle/>
          <a:p>
            <a:endParaRPr lang="zh-CN" altLang="en-US"/>
          </a:p>
        </p:txBody>
      </p:sp>
      <p:sp>
        <p:nvSpPr>
          <p:cNvPr id="11" name="矩形 10">
            <a:extLst>
              <a:ext uri="{FF2B5EF4-FFF2-40B4-BE49-F238E27FC236}">
                <a16:creationId xmlns:a16="http://schemas.microsoft.com/office/drawing/2014/main" id="{EC757415-AB47-483B-A3B8-CA922B0BA5E9}"/>
              </a:ext>
            </a:extLst>
          </p:cNvPr>
          <p:cNvSpPr>
            <a:spLocks noGrp="1"/>
          </p:cNvSpPr>
          <p:nvPr/>
        </p:nvSpPr>
        <p:spPr>
          <a:xfrm>
            <a:off x="3162300" y="1952625"/>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BERT-base-Chinese</a:t>
            </a:r>
          </a:p>
        </p:txBody>
      </p:sp>
      <p:sp>
        <p:nvSpPr>
          <p:cNvPr id="12" name="矩形 11">
            <a:extLst>
              <a:ext uri="{FF2B5EF4-FFF2-40B4-BE49-F238E27FC236}">
                <a16:creationId xmlns:a16="http://schemas.microsoft.com/office/drawing/2014/main" id="{5C76F7DC-3CE0-420B-AD57-4426EABC63A5}"/>
              </a:ext>
            </a:extLst>
          </p:cNvPr>
          <p:cNvSpPr>
            <a:spLocks noGrp="1"/>
          </p:cNvSpPr>
          <p:nvPr/>
        </p:nvSpPr>
        <p:spPr>
          <a:xfrm>
            <a:off x="781050" y="2305050"/>
            <a:ext cx="2286000" cy="428625"/>
          </a:xfrm>
          <a:prstGeom prst="rect">
            <a:avLst/>
          </a:prstGeom>
          <a:solidFill>
            <a:srgbClr val="F8FAFC"/>
          </a:solidFill>
          <a:ln w="9525">
            <a:solidFill>
              <a:srgbClr val="E2E8F0"/>
            </a:solidFill>
            <a:prstDash val="solid"/>
          </a:ln>
        </p:spPr>
        <p:txBody>
          <a:bodyPr/>
          <a:lstStyle/>
          <a:p>
            <a:endParaRPr lang="zh-CN" altLang="en-US"/>
          </a:p>
        </p:txBody>
      </p:sp>
      <p:sp>
        <p:nvSpPr>
          <p:cNvPr id="13" name="矩形 12">
            <a:extLst>
              <a:ext uri="{FF2B5EF4-FFF2-40B4-BE49-F238E27FC236}">
                <a16:creationId xmlns:a16="http://schemas.microsoft.com/office/drawing/2014/main" id="{33B6912E-36D7-409D-B641-276A1A00730B}"/>
              </a:ext>
            </a:extLst>
          </p:cNvPr>
          <p:cNvSpPr>
            <a:spLocks noGrp="1"/>
          </p:cNvSpPr>
          <p:nvPr/>
        </p:nvSpPr>
        <p:spPr>
          <a:xfrm>
            <a:off x="876300" y="2381250"/>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训练 / 验证</a:t>
            </a:r>
          </a:p>
        </p:txBody>
      </p:sp>
      <p:sp>
        <p:nvSpPr>
          <p:cNvPr id="14" name="矩形 13">
            <a:extLst>
              <a:ext uri="{FF2B5EF4-FFF2-40B4-BE49-F238E27FC236}">
                <a16:creationId xmlns:a16="http://schemas.microsoft.com/office/drawing/2014/main" id="{BB77D9E1-3EEF-43D9-AB15-B500E32685EA}"/>
              </a:ext>
            </a:extLst>
          </p:cNvPr>
          <p:cNvSpPr>
            <a:spLocks noGrp="1"/>
          </p:cNvSpPr>
          <p:nvPr/>
        </p:nvSpPr>
        <p:spPr>
          <a:xfrm>
            <a:off x="3067050" y="2305050"/>
            <a:ext cx="3381375" cy="428625"/>
          </a:xfrm>
          <a:prstGeom prst="rect">
            <a:avLst/>
          </a:prstGeom>
          <a:solidFill>
            <a:srgbClr val="F8FAFC"/>
          </a:solidFill>
          <a:ln w="9525">
            <a:solidFill>
              <a:srgbClr val="E2E8F0"/>
            </a:solidFill>
            <a:prstDash val="solid"/>
          </a:ln>
        </p:spPr>
        <p:txBody>
          <a:bodyPr/>
          <a:lstStyle/>
          <a:p>
            <a:endParaRPr lang="zh-CN" altLang="en-US"/>
          </a:p>
        </p:txBody>
      </p:sp>
      <p:sp>
        <p:nvSpPr>
          <p:cNvPr id="15" name="矩形 14">
            <a:extLst>
              <a:ext uri="{FF2B5EF4-FFF2-40B4-BE49-F238E27FC236}">
                <a16:creationId xmlns:a16="http://schemas.microsoft.com/office/drawing/2014/main" id="{A0A5961F-2A28-4C82-B84E-6B9512C6F43D}"/>
              </a:ext>
            </a:extLst>
          </p:cNvPr>
          <p:cNvSpPr>
            <a:spLocks noGrp="1"/>
          </p:cNvSpPr>
          <p:nvPr/>
        </p:nvSpPr>
        <p:spPr>
          <a:xfrm>
            <a:off x="3162300" y="2381250"/>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20,000 / 3,000</a:t>
            </a:r>
          </a:p>
        </p:txBody>
      </p:sp>
      <p:sp>
        <p:nvSpPr>
          <p:cNvPr id="16" name="矩形 15">
            <a:extLst>
              <a:ext uri="{FF2B5EF4-FFF2-40B4-BE49-F238E27FC236}">
                <a16:creationId xmlns:a16="http://schemas.microsoft.com/office/drawing/2014/main" id="{EBCAEF15-1432-487C-851E-12568D3366D2}"/>
              </a:ext>
            </a:extLst>
          </p:cNvPr>
          <p:cNvSpPr>
            <a:spLocks noGrp="1"/>
          </p:cNvSpPr>
          <p:nvPr/>
        </p:nvSpPr>
        <p:spPr>
          <a:xfrm>
            <a:off x="781050" y="2733675"/>
            <a:ext cx="2286000" cy="428625"/>
          </a:xfrm>
          <a:prstGeom prst="rect">
            <a:avLst/>
          </a:prstGeom>
          <a:solidFill>
            <a:srgbClr val="FFFFFF"/>
          </a:solidFill>
          <a:ln w="9525">
            <a:solidFill>
              <a:srgbClr val="E2E8F0"/>
            </a:solidFill>
            <a:prstDash val="solid"/>
          </a:ln>
        </p:spPr>
        <p:txBody>
          <a:bodyPr/>
          <a:lstStyle/>
          <a:p>
            <a:endParaRPr lang="zh-CN" altLang="en-US"/>
          </a:p>
        </p:txBody>
      </p:sp>
      <p:sp>
        <p:nvSpPr>
          <p:cNvPr id="17" name="矩形 16">
            <a:extLst>
              <a:ext uri="{FF2B5EF4-FFF2-40B4-BE49-F238E27FC236}">
                <a16:creationId xmlns:a16="http://schemas.microsoft.com/office/drawing/2014/main" id="{7B3E95F1-1B92-4837-B5E1-28BCF5E539D7}"/>
              </a:ext>
            </a:extLst>
          </p:cNvPr>
          <p:cNvSpPr>
            <a:spLocks noGrp="1"/>
          </p:cNvSpPr>
          <p:nvPr/>
        </p:nvSpPr>
        <p:spPr>
          <a:xfrm>
            <a:off x="876300" y="2809875"/>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Epoch</a:t>
            </a:r>
          </a:p>
        </p:txBody>
      </p:sp>
      <p:sp>
        <p:nvSpPr>
          <p:cNvPr id="18" name="矩形 17">
            <a:extLst>
              <a:ext uri="{FF2B5EF4-FFF2-40B4-BE49-F238E27FC236}">
                <a16:creationId xmlns:a16="http://schemas.microsoft.com/office/drawing/2014/main" id="{21A5CB44-1C54-4736-9BBA-582BF94DFD4B}"/>
              </a:ext>
            </a:extLst>
          </p:cNvPr>
          <p:cNvSpPr>
            <a:spLocks noGrp="1"/>
          </p:cNvSpPr>
          <p:nvPr/>
        </p:nvSpPr>
        <p:spPr>
          <a:xfrm>
            <a:off x="3067050" y="2733675"/>
            <a:ext cx="3381375" cy="428625"/>
          </a:xfrm>
          <a:prstGeom prst="rect">
            <a:avLst/>
          </a:prstGeom>
          <a:solidFill>
            <a:srgbClr val="FFFFFF"/>
          </a:solidFill>
          <a:ln w="9525">
            <a:solidFill>
              <a:srgbClr val="E2E8F0"/>
            </a:solidFill>
            <a:prstDash val="solid"/>
          </a:ln>
        </p:spPr>
        <p:txBody>
          <a:bodyPr/>
          <a:lstStyle/>
          <a:p>
            <a:endParaRPr lang="zh-CN" altLang="en-US"/>
          </a:p>
        </p:txBody>
      </p:sp>
      <p:sp>
        <p:nvSpPr>
          <p:cNvPr id="19" name="矩形 18">
            <a:extLst>
              <a:ext uri="{FF2B5EF4-FFF2-40B4-BE49-F238E27FC236}">
                <a16:creationId xmlns:a16="http://schemas.microsoft.com/office/drawing/2014/main" id="{949758F6-3224-48CF-9810-6CD41E8C9696}"/>
              </a:ext>
            </a:extLst>
          </p:cNvPr>
          <p:cNvSpPr>
            <a:spLocks noGrp="1"/>
          </p:cNvSpPr>
          <p:nvPr/>
        </p:nvSpPr>
        <p:spPr>
          <a:xfrm>
            <a:off x="3162300" y="2809875"/>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3</a:t>
            </a:r>
          </a:p>
        </p:txBody>
      </p:sp>
      <p:sp>
        <p:nvSpPr>
          <p:cNvPr id="20" name="矩形 19">
            <a:extLst>
              <a:ext uri="{FF2B5EF4-FFF2-40B4-BE49-F238E27FC236}">
                <a16:creationId xmlns:a16="http://schemas.microsoft.com/office/drawing/2014/main" id="{0546CB09-D9E4-4EFD-9C18-E5AD1CD1F759}"/>
              </a:ext>
            </a:extLst>
          </p:cNvPr>
          <p:cNvSpPr>
            <a:spLocks noGrp="1"/>
          </p:cNvSpPr>
          <p:nvPr/>
        </p:nvSpPr>
        <p:spPr>
          <a:xfrm>
            <a:off x="781050" y="3162300"/>
            <a:ext cx="2286000" cy="428625"/>
          </a:xfrm>
          <a:prstGeom prst="rect">
            <a:avLst/>
          </a:prstGeom>
          <a:solidFill>
            <a:srgbClr val="F8FAFC"/>
          </a:solidFill>
          <a:ln w="9525">
            <a:solidFill>
              <a:srgbClr val="E2E8F0"/>
            </a:solidFill>
            <a:prstDash val="solid"/>
          </a:ln>
        </p:spPr>
        <p:txBody>
          <a:bodyPr/>
          <a:lstStyle/>
          <a:p>
            <a:endParaRPr lang="zh-CN" altLang="en-US"/>
          </a:p>
        </p:txBody>
      </p:sp>
      <p:sp>
        <p:nvSpPr>
          <p:cNvPr id="21" name="矩形 20">
            <a:extLst>
              <a:ext uri="{FF2B5EF4-FFF2-40B4-BE49-F238E27FC236}">
                <a16:creationId xmlns:a16="http://schemas.microsoft.com/office/drawing/2014/main" id="{FFAB859D-2275-4582-B93D-4FFF666E4CBF}"/>
              </a:ext>
            </a:extLst>
          </p:cNvPr>
          <p:cNvSpPr>
            <a:spLocks noGrp="1"/>
          </p:cNvSpPr>
          <p:nvPr/>
        </p:nvSpPr>
        <p:spPr>
          <a:xfrm>
            <a:off x="876300" y="3238500"/>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Batch size</a:t>
            </a:r>
          </a:p>
        </p:txBody>
      </p:sp>
      <p:sp>
        <p:nvSpPr>
          <p:cNvPr id="22" name="矩形 21">
            <a:extLst>
              <a:ext uri="{FF2B5EF4-FFF2-40B4-BE49-F238E27FC236}">
                <a16:creationId xmlns:a16="http://schemas.microsoft.com/office/drawing/2014/main" id="{7E21EC5E-A6F8-4CAE-85F7-41AF3E10F492}"/>
              </a:ext>
            </a:extLst>
          </p:cNvPr>
          <p:cNvSpPr>
            <a:spLocks noGrp="1"/>
          </p:cNvSpPr>
          <p:nvPr/>
        </p:nvSpPr>
        <p:spPr>
          <a:xfrm>
            <a:off x="3067050" y="3162300"/>
            <a:ext cx="3381375" cy="428625"/>
          </a:xfrm>
          <a:prstGeom prst="rect">
            <a:avLst/>
          </a:prstGeom>
          <a:solidFill>
            <a:srgbClr val="F8FAFC"/>
          </a:solidFill>
          <a:ln w="9525">
            <a:solidFill>
              <a:srgbClr val="E2E8F0"/>
            </a:solidFill>
            <a:prstDash val="solid"/>
          </a:ln>
        </p:spPr>
        <p:txBody>
          <a:bodyPr/>
          <a:lstStyle/>
          <a:p>
            <a:endParaRPr lang="zh-CN" altLang="en-US"/>
          </a:p>
        </p:txBody>
      </p:sp>
      <p:sp>
        <p:nvSpPr>
          <p:cNvPr id="23" name="矩形 22">
            <a:extLst>
              <a:ext uri="{FF2B5EF4-FFF2-40B4-BE49-F238E27FC236}">
                <a16:creationId xmlns:a16="http://schemas.microsoft.com/office/drawing/2014/main" id="{1EC9403C-6041-4FFA-9F5D-570E6BCAE793}"/>
              </a:ext>
            </a:extLst>
          </p:cNvPr>
          <p:cNvSpPr>
            <a:spLocks noGrp="1"/>
          </p:cNvSpPr>
          <p:nvPr/>
        </p:nvSpPr>
        <p:spPr>
          <a:xfrm>
            <a:off x="3162300" y="3238500"/>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32</a:t>
            </a:r>
          </a:p>
        </p:txBody>
      </p:sp>
      <p:sp>
        <p:nvSpPr>
          <p:cNvPr id="24" name="矩形 23">
            <a:extLst>
              <a:ext uri="{FF2B5EF4-FFF2-40B4-BE49-F238E27FC236}">
                <a16:creationId xmlns:a16="http://schemas.microsoft.com/office/drawing/2014/main" id="{4E4B5ECF-0D73-43F7-859B-004999892E8B}"/>
              </a:ext>
            </a:extLst>
          </p:cNvPr>
          <p:cNvSpPr>
            <a:spLocks noGrp="1"/>
          </p:cNvSpPr>
          <p:nvPr/>
        </p:nvSpPr>
        <p:spPr>
          <a:xfrm>
            <a:off x="781050" y="3590925"/>
            <a:ext cx="2286000" cy="428625"/>
          </a:xfrm>
          <a:prstGeom prst="rect">
            <a:avLst/>
          </a:prstGeom>
          <a:solidFill>
            <a:srgbClr val="FFFFFF"/>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4B6A36D8-C683-4AE2-A079-4168FC2FB208}"/>
              </a:ext>
            </a:extLst>
          </p:cNvPr>
          <p:cNvSpPr>
            <a:spLocks noGrp="1"/>
          </p:cNvSpPr>
          <p:nvPr/>
        </p:nvSpPr>
        <p:spPr>
          <a:xfrm>
            <a:off x="876300" y="3667125"/>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Max length</a:t>
            </a:r>
          </a:p>
        </p:txBody>
      </p:sp>
      <p:sp>
        <p:nvSpPr>
          <p:cNvPr id="26" name="矩形 25">
            <a:extLst>
              <a:ext uri="{FF2B5EF4-FFF2-40B4-BE49-F238E27FC236}">
                <a16:creationId xmlns:a16="http://schemas.microsoft.com/office/drawing/2014/main" id="{8595BDF0-AF5C-4EDC-9965-84BCE2AC712F}"/>
              </a:ext>
            </a:extLst>
          </p:cNvPr>
          <p:cNvSpPr>
            <a:spLocks noGrp="1"/>
          </p:cNvSpPr>
          <p:nvPr/>
        </p:nvSpPr>
        <p:spPr>
          <a:xfrm>
            <a:off x="3067050" y="3590925"/>
            <a:ext cx="3381375" cy="428625"/>
          </a:xfrm>
          <a:prstGeom prst="rect">
            <a:avLst/>
          </a:prstGeom>
          <a:solidFill>
            <a:srgbClr val="FFFFFF"/>
          </a:solidFill>
          <a:ln w="9525">
            <a:solidFill>
              <a:srgbClr val="E2E8F0"/>
            </a:solidFill>
            <a:prstDash val="solid"/>
          </a:ln>
        </p:spPr>
        <p:txBody>
          <a:bodyPr/>
          <a:lstStyle/>
          <a:p>
            <a:endParaRPr lang="zh-CN" altLang="en-US"/>
          </a:p>
        </p:txBody>
      </p:sp>
      <p:sp>
        <p:nvSpPr>
          <p:cNvPr id="27" name="矩形 26">
            <a:extLst>
              <a:ext uri="{FF2B5EF4-FFF2-40B4-BE49-F238E27FC236}">
                <a16:creationId xmlns:a16="http://schemas.microsoft.com/office/drawing/2014/main" id="{F5D7A00C-504A-497E-B34D-8106E3BC1789}"/>
              </a:ext>
            </a:extLst>
          </p:cNvPr>
          <p:cNvSpPr>
            <a:spLocks noGrp="1"/>
          </p:cNvSpPr>
          <p:nvPr/>
        </p:nvSpPr>
        <p:spPr>
          <a:xfrm>
            <a:off x="3162300" y="3667125"/>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256</a:t>
            </a:r>
          </a:p>
        </p:txBody>
      </p:sp>
      <p:sp>
        <p:nvSpPr>
          <p:cNvPr id="28" name="矩形 27">
            <a:extLst>
              <a:ext uri="{FF2B5EF4-FFF2-40B4-BE49-F238E27FC236}">
                <a16:creationId xmlns:a16="http://schemas.microsoft.com/office/drawing/2014/main" id="{D0503296-5337-4FDD-BF66-4AC51B7AB33F}"/>
              </a:ext>
            </a:extLst>
          </p:cNvPr>
          <p:cNvSpPr>
            <a:spLocks noGrp="1"/>
          </p:cNvSpPr>
          <p:nvPr/>
        </p:nvSpPr>
        <p:spPr>
          <a:xfrm>
            <a:off x="781050" y="4019550"/>
            <a:ext cx="2286000" cy="428625"/>
          </a:xfrm>
          <a:prstGeom prst="rect">
            <a:avLst/>
          </a:prstGeom>
          <a:solidFill>
            <a:srgbClr val="F8FAFC"/>
          </a:solidFill>
          <a:ln w="9525">
            <a:solidFill>
              <a:srgbClr val="E2E8F0"/>
            </a:solidFill>
            <a:prstDash val="solid"/>
          </a:ln>
        </p:spPr>
        <p:txBody>
          <a:bodyPr/>
          <a:lstStyle/>
          <a:p>
            <a:endParaRPr lang="zh-CN" altLang="en-US"/>
          </a:p>
        </p:txBody>
      </p:sp>
      <p:sp>
        <p:nvSpPr>
          <p:cNvPr id="29" name="矩形 28">
            <a:extLst>
              <a:ext uri="{FF2B5EF4-FFF2-40B4-BE49-F238E27FC236}">
                <a16:creationId xmlns:a16="http://schemas.microsoft.com/office/drawing/2014/main" id="{69E294AE-D92F-47A1-AF9E-D3724E38CAAB}"/>
              </a:ext>
            </a:extLst>
          </p:cNvPr>
          <p:cNvSpPr>
            <a:spLocks noGrp="1"/>
          </p:cNvSpPr>
          <p:nvPr/>
        </p:nvSpPr>
        <p:spPr>
          <a:xfrm>
            <a:off x="876300" y="4095750"/>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Learning rate</a:t>
            </a:r>
          </a:p>
        </p:txBody>
      </p:sp>
      <p:sp>
        <p:nvSpPr>
          <p:cNvPr id="30" name="矩形 29">
            <a:extLst>
              <a:ext uri="{FF2B5EF4-FFF2-40B4-BE49-F238E27FC236}">
                <a16:creationId xmlns:a16="http://schemas.microsoft.com/office/drawing/2014/main" id="{F258A264-65E6-4964-84EB-3AEE81BC0983}"/>
              </a:ext>
            </a:extLst>
          </p:cNvPr>
          <p:cNvSpPr>
            <a:spLocks noGrp="1"/>
          </p:cNvSpPr>
          <p:nvPr/>
        </p:nvSpPr>
        <p:spPr>
          <a:xfrm>
            <a:off x="3067050" y="4019550"/>
            <a:ext cx="3381375" cy="428625"/>
          </a:xfrm>
          <a:prstGeom prst="rect">
            <a:avLst/>
          </a:prstGeom>
          <a:solidFill>
            <a:srgbClr val="F8FAFC"/>
          </a:solidFill>
          <a:ln w="9525">
            <a:solidFill>
              <a:srgbClr val="E2E8F0"/>
            </a:solidFill>
            <a:prstDash val="solid"/>
          </a:ln>
        </p:spPr>
        <p:txBody>
          <a:bodyPr/>
          <a:lstStyle/>
          <a:p>
            <a:endParaRPr lang="zh-CN" altLang="en-US"/>
          </a:p>
        </p:txBody>
      </p:sp>
      <p:sp>
        <p:nvSpPr>
          <p:cNvPr id="31" name="矩形 30">
            <a:extLst>
              <a:ext uri="{FF2B5EF4-FFF2-40B4-BE49-F238E27FC236}">
                <a16:creationId xmlns:a16="http://schemas.microsoft.com/office/drawing/2014/main" id="{D76DCF10-ED23-4FE7-830E-701834F6FF38}"/>
              </a:ext>
            </a:extLst>
          </p:cNvPr>
          <p:cNvSpPr>
            <a:spLocks noGrp="1"/>
          </p:cNvSpPr>
          <p:nvPr/>
        </p:nvSpPr>
        <p:spPr>
          <a:xfrm>
            <a:off x="3162300" y="4095750"/>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2e-5</a:t>
            </a:r>
          </a:p>
        </p:txBody>
      </p:sp>
      <p:sp>
        <p:nvSpPr>
          <p:cNvPr id="32" name="矩形 31">
            <a:extLst>
              <a:ext uri="{FF2B5EF4-FFF2-40B4-BE49-F238E27FC236}">
                <a16:creationId xmlns:a16="http://schemas.microsoft.com/office/drawing/2014/main" id="{C73E6FFF-8C17-45B9-B0D6-5FB9DE32FF19}"/>
              </a:ext>
            </a:extLst>
          </p:cNvPr>
          <p:cNvSpPr>
            <a:spLocks noGrp="1"/>
          </p:cNvSpPr>
          <p:nvPr/>
        </p:nvSpPr>
        <p:spPr>
          <a:xfrm>
            <a:off x="781050" y="4448175"/>
            <a:ext cx="2286000" cy="428625"/>
          </a:xfrm>
          <a:prstGeom prst="rect">
            <a:avLst/>
          </a:prstGeom>
          <a:solidFill>
            <a:srgbClr val="FFFFFF"/>
          </a:solidFill>
          <a:ln w="9525">
            <a:solidFill>
              <a:srgbClr val="E2E8F0"/>
            </a:solidFill>
            <a:prstDash val="solid"/>
          </a:ln>
        </p:spPr>
        <p:txBody>
          <a:bodyPr/>
          <a:lstStyle/>
          <a:p>
            <a:endParaRPr lang="zh-CN" altLang="en-US"/>
          </a:p>
        </p:txBody>
      </p:sp>
      <p:sp>
        <p:nvSpPr>
          <p:cNvPr id="33" name="矩形 32">
            <a:extLst>
              <a:ext uri="{FF2B5EF4-FFF2-40B4-BE49-F238E27FC236}">
                <a16:creationId xmlns:a16="http://schemas.microsoft.com/office/drawing/2014/main" id="{2664B271-608D-42A7-B10A-9803535F839C}"/>
              </a:ext>
            </a:extLst>
          </p:cNvPr>
          <p:cNvSpPr>
            <a:spLocks noGrp="1"/>
          </p:cNvSpPr>
          <p:nvPr/>
        </p:nvSpPr>
        <p:spPr>
          <a:xfrm>
            <a:off x="876300" y="4524375"/>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Weight decay / Warmup</a:t>
            </a:r>
          </a:p>
        </p:txBody>
      </p:sp>
      <p:sp>
        <p:nvSpPr>
          <p:cNvPr id="34" name="矩形 33">
            <a:extLst>
              <a:ext uri="{FF2B5EF4-FFF2-40B4-BE49-F238E27FC236}">
                <a16:creationId xmlns:a16="http://schemas.microsoft.com/office/drawing/2014/main" id="{ABE15880-ADB4-4152-AB1C-27BF2BA6721A}"/>
              </a:ext>
            </a:extLst>
          </p:cNvPr>
          <p:cNvSpPr>
            <a:spLocks noGrp="1"/>
          </p:cNvSpPr>
          <p:nvPr/>
        </p:nvSpPr>
        <p:spPr>
          <a:xfrm>
            <a:off x="3067050" y="4448175"/>
            <a:ext cx="3381375" cy="428625"/>
          </a:xfrm>
          <a:prstGeom prst="rect">
            <a:avLst/>
          </a:prstGeom>
          <a:solidFill>
            <a:srgbClr val="FFFFFF"/>
          </a:solidFill>
          <a:ln w="9525">
            <a:solidFill>
              <a:srgbClr val="E2E8F0"/>
            </a:solidFill>
            <a:prstDash val="solid"/>
          </a:ln>
        </p:spPr>
        <p:txBody>
          <a:bodyPr/>
          <a:lstStyle/>
          <a:p>
            <a:endParaRPr lang="zh-CN" altLang="en-US"/>
          </a:p>
        </p:txBody>
      </p:sp>
      <p:sp>
        <p:nvSpPr>
          <p:cNvPr id="35" name="矩形 34">
            <a:extLst>
              <a:ext uri="{FF2B5EF4-FFF2-40B4-BE49-F238E27FC236}">
                <a16:creationId xmlns:a16="http://schemas.microsoft.com/office/drawing/2014/main" id="{CA817CDE-C600-41AE-A524-09EFEE26D78E}"/>
              </a:ext>
            </a:extLst>
          </p:cNvPr>
          <p:cNvSpPr>
            <a:spLocks noGrp="1"/>
          </p:cNvSpPr>
          <p:nvPr/>
        </p:nvSpPr>
        <p:spPr>
          <a:xfrm>
            <a:off x="3162300" y="4524375"/>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0.01 / 0.1</a:t>
            </a:r>
          </a:p>
        </p:txBody>
      </p:sp>
      <p:sp>
        <p:nvSpPr>
          <p:cNvPr id="36" name="矩形 35">
            <a:extLst>
              <a:ext uri="{FF2B5EF4-FFF2-40B4-BE49-F238E27FC236}">
                <a16:creationId xmlns:a16="http://schemas.microsoft.com/office/drawing/2014/main" id="{4BBBCA7B-433D-444E-90D1-7C59F652A6F1}"/>
              </a:ext>
            </a:extLst>
          </p:cNvPr>
          <p:cNvSpPr>
            <a:spLocks noGrp="1"/>
          </p:cNvSpPr>
          <p:nvPr/>
        </p:nvSpPr>
        <p:spPr>
          <a:xfrm>
            <a:off x="781050" y="4876800"/>
            <a:ext cx="2286000" cy="428625"/>
          </a:xfrm>
          <a:prstGeom prst="rect">
            <a:avLst/>
          </a:prstGeom>
          <a:solidFill>
            <a:srgbClr val="F8FAFC"/>
          </a:solidFill>
          <a:ln w="9525">
            <a:solidFill>
              <a:srgbClr val="E2E8F0"/>
            </a:solidFill>
            <a:prstDash val="solid"/>
          </a:ln>
        </p:spPr>
        <p:txBody>
          <a:bodyPr/>
          <a:lstStyle/>
          <a:p>
            <a:endParaRPr lang="zh-CN" altLang="en-US"/>
          </a:p>
        </p:txBody>
      </p:sp>
      <p:sp>
        <p:nvSpPr>
          <p:cNvPr id="37" name="矩形 36">
            <a:extLst>
              <a:ext uri="{FF2B5EF4-FFF2-40B4-BE49-F238E27FC236}">
                <a16:creationId xmlns:a16="http://schemas.microsoft.com/office/drawing/2014/main" id="{C3EAD897-5327-4426-ADF1-5336995CF0B1}"/>
              </a:ext>
            </a:extLst>
          </p:cNvPr>
          <p:cNvSpPr>
            <a:spLocks noGrp="1"/>
          </p:cNvSpPr>
          <p:nvPr/>
        </p:nvSpPr>
        <p:spPr>
          <a:xfrm>
            <a:off x="876300" y="4953000"/>
            <a:ext cx="2095500"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设备</a:t>
            </a:r>
          </a:p>
        </p:txBody>
      </p:sp>
      <p:sp>
        <p:nvSpPr>
          <p:cNvPr id="38" name="矩形 37">
            <a:extLst>
              <a:ext uri="{FF2B5EF4-FFF2-40B4-BE49-F238E27FC236}">
                <a16:creationId xmlns:a16="http://schemas.microsoft.com/office/drawing/2014/main" id="{7C72AC96-5495-4D46-855A-0AA2AAAE0F0E}"/>
              </a:ext>
            </a:extLst>
          </p:cNvPr>
          <p:cNvSpPr>
            <a:spLocks noGrp="1"/>
          </p:cNvSpPr>
          <p:nvPr/>
        </p:nvSpPr>
        <p:spPr>
          <a:xfrm>
            <a:off x="3067050" y="4876800"/>
            <a:ext cx="3381375" cy="428625"/>
          </a:xfrm>
          <a:prstGeom prst="rect">
            <a:avLst/>
          </a:prstGeom>
          <a:solidFill>
            <a:srgbClr val="F8FAFC"/>
          </a:solidFill>
          <a:ln w="9525">
            <a:solidFill>
              <a:srgbClr val="E2E8F0"/>
            </a:solidFill>
            <a:prstDash val="solid"/>
          </a:ln>
        </p:spPr>
        <p:txBody>
          <a:bodyPr/>
          <a:lstStyle/>
          <a:p>
            <a:endParaRPr lang="zh-CN" altLang="en-US"/>
          </a:p>
        </p:txBody>
      </p:sp>
      <p:sp>
        <p:nvSpPr>
          <p:cNvPr id="39" name="矩形 38">
            <a:extLst>
              <a:ext uri="{FF2B5EF4-FFF2-40B4-BE49-F238E27FC236}">
                <a16:creationId xmlns:a16="http://schemas.microsoft.com/office/drawing/2014/main" id="{164B6270-FC30-408A-BD92-09EC25484DEE}"/>
              </a:ext>
            </a:extLst>
          </p:cNvPr>
          <p:cNvSpPr>
            <a:spLocks noGrp="1"/>
          </p:cNvSpPr>
          <p:nvPr/>
        </p:nvSpPr>
        <p:spPr>
          <a:xfrm>
            <a:off x="3162300" y="4953000"/>
            <a:ext cx="3190875" cy="314325"/>
          </a:xfrm>
          <a:prstGeom prst="rect">
            <a:avLst/>
          </a:prstGeom>
          <a:noFill/>
          <a:ln w="0">
            <a:noFill/>
            <a:prstDash val="solid"/>
          </a:ln>
        </p:spPr>
        <p:txBody>
          <a:bodyPr/>
          <a:lstStyle/>
          <a:p>
            <a:pPr algn="l">
              <a:defRPr sz="1275" b="0" i="0">
                <a:solidFill>
                  <a:srgbClr val="0F172A"/>
                </a:solidFill>
              </a:defRPr>
            </a:pPr>
            <a:r>
              <a:rPr sz="1275" b="0" i="0">
                <a:solidFill>
                  <a:srgbClr val="0F172A"/>
                </a:solidFill>
              </a:rPr>
              <a:t>NVIDIA A100-SXM4-80GB</a:t>
            </a:r>
          </a:p>
        </p:txBody>
      </p:sp>
      <p:sp>
        <p:nvSpPr>
          <p:cNvPr id="40" name="矩形 39">
            <a:extLst>
              <a:ext uri="{FF2B5EF4-FFF2-40B4-BE49-F238E27FC236}">
                <a16:creationId xmlns:a16="http://schemas.microsoft.com/office/drawing/2014/main" id="{E3678800-5477-4753-B227-0051BEEDF2B7}"/>
              </a:ext>
            </a:extLst>
          </p:cNvPr>
          <p:cNvSpPr>
            <a:spLocks noGrp="1"/>
          </p:cNvSpPr>
          <p:nvPr/>
        </p:nvSpPr>
        <p:spPr>
          <a:xfrm>
            <a:off x="781050" y="1447800"/>
            <a:ext cx="5667375" cy="3857625"/>
          </a:xfrm>
          <a:prstGeom prst="rect">
            <a:avLst/>
          </a:prstGeom>
          <a:noFill/>
          <a:ln w="9525">
            <a:solidFill>
              <a:srgbClr val="E2E8F0"/>
            </a:solidFill>
            <a:prstDash val="solid"/>
          </a:ln>
        </p:spPr>
        <p:txBody>
          <a:bodyPr/>
          <a:lstStyle/>
          <a:p>
            <a:endParaRPr lang="zh-CN" altLang="en-US"/>
          </a:p>
        </p:txBody>
      </p:sp>
      <p:sp>
        <p:nvSpPr>
          <p:cNvPr id="41" name="矩形: 圆角 40">
            <a:extLst>
              <a:ext uri="{FF2B5EF4-FFF2-40B4-BE49-F238E27FC236}">
                <a16:creationId xmlns:a16="http://schemas.microsoft.com/office/drawing/2014/main" id="{B7F91726-824B-42BF-ABFA-D289BFCDA220}"/>
              </a:ext>
            </a:extLst>
          </p:cNvPr>
          <p:cNvSpPr>
            <a:spLocks noGrp="1"/>
          </p:cNvSpPr>
          <p:nvPr/>
        </p:nvSpPr>
        <p:spPr>
          <a:xfrm>
            <a:off x="6953250" y="1581150"/>
            <a:ext cx="3524250" cy="609600"/>
          </a:xfrm>
          <a:prstGeom prst="roundRect">
            <a:avLst>
              <a:gd name="adj" fmla="val 18750"/>
            </a:avLst>
          </a:prstGeom>
          <a:solidFill>
            <a:srgbClr val="EFF6FF"/>
          </a:solidFill>
          <a:ln w="9525">
            <a:solidFill>
              <a:srgbClr val="2563EB"/>
            </a:solidFill>
            <a:prstDash val="solid"/>
          </a:ln>
        </p:spPr>
        <p:txBody>
          <a:bodyPr/>
          <a:lstStyle/>
          <a:p>
            <a:endParaRPr lang="zh-CN" altLang="en-US"/>
          </a:p>
        </p:txBody>
      </p:sp>
      <p:sp>
        <p:nvSpPr>
          <p:cNvPr id="42" name="矩形 41">
            <a:extLst>
              <a:ext uri="{FF2B5EF4-FFF2-40B4-BE49-F238E27FC236}">
                <a16:creationId xmlns:a16="http://schemas.microsoft.com/office/drawing/2014/main" id="{4E45C6A5-B192-4E0C-9801-09F242C42EE7}"/>
              </a:ext>
            </a:extLst>
          </p:cNvPr>
          <p:cNvSpPr>
            <a:spLocks noGrp="1"/>
          </p:cNvSpPr>
          <p:nvPr/>
        </p:nvSpPr>
        <p:spPr>
          <a:xfrm>
            <a:off x="7200900" y="1752600"/>
            <a:ext cx="1428750" cy="266700"/>
          </a:xfrm>
          <a:prstGeom prst="rect">
            <a:avLst/>
          </a:prstGeom>
          <a:noFill/>
          <a:ln w="0">
            <a:noFill/>
            <a:prstDash val="solid"/>
          </a:ln>
        </p:spPr>
        <p:txBody>
          <a:bodyPr/>
          <a:lstStyle/>
          <a:p>
            <a:pPr algn="l">
              <a:defRPr sz="1800" b="1" i="0">
                <a:solidFill>
                  <a:srgbClr val="1E3A8A"/>
                </a:solidFill>
              </a:defRPr>
            </a:pPr>
            <a:r>
              <a:rPr sz="1800" b="1" i="0">
                <a:solidFill>
                  <a:srgbClr val="1E3A8A"/>
                </a:solidFill>
              </a:rPr>
              <a:t>Tokenizer</a:t>
            </a:r>
          </a:p>
        </p:txBody>
      </p:sp>
      <p:sp>
        <p:nvSpPr>
          <p:cNvPr id="43" name="矩形 42">
            <a:extLst>
              <a:ext uri="{FF2B5EF4-FFF2-40B4-BE49-F238E27FC236}">
                <a16:creationId xmlns:a16="http://schemas.microsoft.com/office/drawing/2014/main" id="{7E1720C6-7B89-487A-B82E-E358C1D6B648}"/>
              </a:ext>
            </a:extLst>
          </p:cNvPr>
          <p:cNvSpPr>
            <a:spLocks noGrp="1"/>
          </p:cNvSpPr>
          <p:nvPr/>
        </p:nvSpPr>
        <p:spPr>
          <a:xfrm>
            <a:off x="8629650" y="1695450"/>
            <a:ext cx="1809750" cy="209550"/>
          </a:xfrm>
          <a:prstGeom prst="rect">
            <a:avLst/>
          </a:prstGeom>
          <a:noFill/>
          <a:ln w="0">
            <a:noFill/>
            <a:prstDash val="solid"/>
          </a:ln>
        </p:spPr>
        <p:txBody>
          <a:bodyPr/>
          <a:lstStyle/>
          <a:p>
            <a:pPr algn="l">
              <a:defRPr sz="1350" b="0" i="0">
                <a:solidFill>
                  <a:srgbClr val="0F172A"/>
                </a:solidFill>
              </a:defRPr>
            </a:pPr>
            <a:r>
              <a:rPr sz="1350" b="0" i="0" dirty="0" err="1">
                <a:solidFill>
                  <a:srgbClr val="0F172A"/>
                </a:solidFill>
              </a:rPr>
              <a:t>文本</a:t>
            </a:r>
            <a:r>
              <a:rPr sz="1350" b="0" i="0" dirty="0">
                <a:solidFill>
                  <a:srgbClr val="0F172A"/>
                </a:solidFill>
              </a:rPr>
              <a:t> → token id / mask / segment id</a:t>
            </a:r>
          </a:p>
        </p:txBody>
      </p:sp>
      <p:sp>
        <p:nvSpPr>
          <p:cNvPr id="44" name="矩形: 圆角 43">
            <a:extLst>
              <a:ext uri="{FF2B5EF4-FFF2-40B4-BE49-F238E27FC236}">
                <a16:creationId xmlns:a16="http://schemas.microsoft.com/office/drawing/2014/main" id="{8340F874-2782-4C1B-829C-9804FD964BD0}"/>
              </a:ext>
            </a:extLst>
          </p:cNvPr>
          <p:cNvSpPr>
            <a:spLocks noGrp="1"/>
          </p:cNvSpPr>
          <p:nvPr/>
        </p:nvSpPr>
        <p:spPr>
          <a:xfrm>
            <a:off x="6953250" y="2533650"/>
            <a:ext cx="3524250" cy="609600"/>
          </a:xfrm>
          <a:prstGeom prst="roundRect">
            <a:avLst>
              <a:gd name="adj" fmla="val 18750"/>
            </a:avLst>
          </a:prstGeom>
          <a:solidFill>
            <a:srgbClr val="F0FDFA"/>
          </a:solidFill>
          <a:ln w="9525">
            <a:solidFill>
              <a:srgbClr val="0F766E"/>
            </a:solidFill>
            <a:prstDash val="solid"/>
          </a:ln>
        </p:spPr>
        <p:txBody>
          <a:bodyPr/>
          <a:lstStyle/>
          <a:p>
            <a:endParaRPr lang="zh-CN" altLang="en-US"/>
          </a:p>
        </p:txBody>
      </p:sp>
      <p:sp>
        <p:nvSpPr>
          <p:cNvPr id="45" name="矩形 44">
            <a:extLst>
              <a:ext uri="{FF2B5EF4-FFF2-40B4-BE49-F238E27FC236}">
                <a16:creationId xmlns:a16="http://schemas.microsoft.com/office/drawing/2014/main" id="{543B070A-DD43-4C14-88FA-2FAEB4E3DEBE}"/>
              </a:ext>
            </a:extLst>
          </p:cNvPr>
          <p:cNvSpPr>
            <a:spLocks noGrp="1"/>
          </p:cNvSpPr>
          <p:nvPr/>
        </p:nvSpPr>
        <p:spPr>
          <a:xfrm>
            <a:off x="7200900" y="2705100"/>
            <a:ext cx="1619250" cy="266700"/>
          </a:xfrm>
          <a:prstGeom prst="rect">
            <a:avLst/>
          </a:prstGeom>
          <a:noFill/>
          <a:ln w="0">
            <a:noFill/>
            <a:prstDash val="solid"/>
          </a:ln>
        </p:spPr>
        <p:txBody>
          <a:bodyPr/>
          <a:lstStyle/>
          <a:p>
            <a:pPr algn="l">
              <a:defRPr sz="1800" b="1" i="0">
                <a:solidFill>
                  <a:srgbClr val="0F766E"/>
                </a:solidFill>
              </a:defRPr>
            </a:pPr>
            <a:r>
              <a:rPr sz="1800" b="1" i="0">
                <a:solidFill>
                  <a:srgbClr val="0F766E"/>
                </a:solidFill>
              </a:rPr>
              <a:t>BERT Encoder</a:t>
            </a:r>
          </a:p>
        </p:txBody>
      </p:sp>
      <p:sp>
        <p:nvSpPr>
          <p:cNvPr id="46" name="矩形 45">
            <a:extLst>
              <a:ext uri="{FF2B5EF4-FFF2-40B4-BE49-F238E27FC236}">
                <a16:creationId xmlns:a16="http://schemas.microsoft.com/office/drawing/2014/main" id="{C59938DB-CCBF-4ACA-B572-095A4040481A}"/>
              </a:ext>
            </a:extLst>
          </p:cNvPr>
          <p:cNvSpPr>
            <a:spLocks noGrp="1"/>
          </p:cNvSpPr>
          <p:nvPr/>
        </p:nvSpPr>
        <p:spPr>
          <a:xfrm>
            <a:off x="8640185" y="2628900"/>
            <a:ext cx="1428750" cy="209550"/>
          </a:xfrm>
          <a:prstGeom prst="rect">
            <a:avLst/>
          </a:prstGeom>
          <a:noFill/>
          <a:ln w="0">
            <a:noFill/>
            <a:prstDash val="solid"/>
          </a:ln>
        </p:spPr>
        <p:txBody>
          <a:bodyPr/>
          <a:lstStyle/>
          <a:p>
            <a:pPr algn="l">
              <a:defRPr sz="1350" b="0" i="0">
                <a:solidFill>
                  <a:srgbClr val="0F172A"/>
                </a:solidFill>
              </a:defRPr>
            </a:pPr>
            <a:r>
              <a:rPr sz="1350" b="0" i="0" dirty="0" err="1">
                <a:solidFill>
                  <a:srgbClr val="0F172A"/>
                </a:solidFill>
              </a:rPr>
              <a:t>多层</a:t>
            </a:r>
            <a:r>
              <a:rPr sz="1350" b="0" i="0" dirty="0">
                <a:solidFill>
                  <a:srgbClr val="0F172A"/>
                </a:solidFill>
              </a:rPr>
              <a:t> Transformer </a:t>
            </a:r>
            <a:r>
              <a:rPr sz="1350" b="0" i="0" dirty="0" err="1">
                <a:solidFill>
                  <a:srgbClr val="0F172A"/>
                </a:solidFill>
              </a:rPr>
              <a:t>建模上下文</a:t>
            </a:r>
            <a:endParaRPr sz="1350" b="0" i="0" dirty="0">
              <a:solidFill>
                <a:srgbClr val="0F172A"/>
              </a:solidFill>
            </a:endParaRPr>
          </a:p>
        </p:txBody>
      </p:sp>
      <p:sp>
        <p:nvSpPr>
          <p:cNvPr id="47" name="矩形: 圆角 46">
            <a:extLst>
              <a:ext uri="{FF2B5EF4-FFF2-40B4-BE49-F238E27FC236}">
                <a16:creationId xmlns:a16="http://schemas.microsoft.com/office/drawing/2014/main" id="{8440C6B7-4AAD-4CE5-BD9A-F75D84BAC109}"/>
              </a:ext>
            </a:extLst>
          </p:cNvPr>
          <p:cNvSpPr>
            <a:spLocks noGrp="1"/>
          </p:cNvSpPr>
          <p:nvPr/>
        </p:nvSpPr>
        <p:spPr>
          <a:xfrm>
            <a:off x="6953250" y="3486150"/>
            <a:ext cx="3524250" cy="609600"/>
          </a:xfrm>
          <a:prstGeom prst="roundRect">
            <a:avLst>
              <a:gd name="adj" fmla="val 18750"/>
            </a:avLst>
          </a:prstGeom>
          <a:solidFill>
            <a:srgbClr val="FFF7ED"/>
          </a:solidFill>
          <a:ln w="9525">
            <a:solidFill>
              <a:srgbClr val="EA580C"/>
            </a:solidFill>
            <a:prstDash val="solid"/>
          </a:ln>
        </p:spPr>
        <p:txBody>
          <a:bodyPr/>
          <a:lstStyle/>
          <a:p>
            <a:endParaRPr lang="zh-CN" altLang="en-US"/>
          </a:p>
        </p:txBody>
      </p:sp>
      <p:sp>
        <p:nvSpPr>
          <p:cNvPr id="48" name="矩形 47">
            <a:extLst>
              <a:ext uri="{FF2B5EF4-FFF2-40B4-BE49-F238E27FC236}">
                <a16:creationId xmlns:a16="http://schemas.microsoft.com/office/drawing/2014/main" id="{31E71BF0-E909-4892-8F92-CA48E1CEBD7A}"/>
              </a:ext>
            </a:extLst>
          </p:cNvPr>
          <p:cNvSpPr>
            <a:spLocks noGrp="1"/>
          </p:cNvSpPr>
          <p:nvPr/>
        </p:nvSpPr>
        <p:spPr>
          <a:xfrm>
            <a:off x="7200900" y="3657600"/>
            <a:ext cx="1428750" cy="266700"/>
          </a:xfrm>
          <a:prstGeom prst="rect">
            <a:avLst/>
          </a:prstGeom>
          <a:noFill/>
          <a:ln w="0">
            <a:noFill/>
            <a:prstDash val="solid"/>
          </a:ln>
        </p:spPr>
        <p:txBody>
          <a:bodyPr/>
          <a:lstStyle/>
          <a:p>
            <a:pPr algn="l">
              <a:defRPr sz="1800" b="1" i="0">
                <a:solidFill>
                  <a:srgbClr val="EA580C"/>
                </a:solidFill>
              </a:defRPr>
            </a:pPr>
            <a:r>
              <a:rPr sz="1800" b="1" i="0">
                <a:solidFill>
                  <a:srgbClr val="EA580C"/>
                </a:solidFill>
              </a:rPr>
              <a:t>[CLS] 向量</a:t>
            </a:r>
          </a:p>
        </p:txBody>
      </p:sp>
      <p:sp>
        <p:nvSpPr>
          <p:cNvPr id="49" name="矩形 48">
            <a:extLst>
              <a:ext uri="{FF2B5EF4-FFF2-40B4-BE49-F238E27FC236}">
                <a16:creationId xmlns:a16="http://schemas.microsoft.com/office/drawing/2014/main" id="{2D2D3CC2-5148-400B-AFD0-13B5C2A2BF94}"/>
              </a:ext>
            </a:extLst>
          </p:cNvPr>
          <p:cNvSpPr>
            <a:spLocks noGrp="1"/>
          </p:cNvSpPr>
          <p:nvPr/>
        </p:nvSpPr>
        <p:spPr>
          <a:xfrm>
            <a:off x="8629650" y="3579668"/>
            <a:ext cx="1476375" cy="209550"/>
          </a:xfrm>
          <a:prstGeom prst="rect">
            <a:avLst/>
          </a:prstGeom>
          <a:noFill/>
          <a:ln w="0">
            <a:noFill/>
            <a:prstDash val="solid"/>
          </a:ln>
        </p:spPr>
        <p:txBody>
          <a:bodyPr/>
          <a:lstStyle/>
          <a:p>
            <a:pPr algn="l">
              <a:defRPr sz="1350" b="0" i="0">
                <a:solidFill>
                  <a:srgbClr val="0F172A"/>
                </a:solidFill>
              </a:defRPr>
            </a:pPr>
            <a:r>
              <a:rPr sz="1350" b="0" i="0" dirty="0" err="1">
                <a:solidFill>
                  <a:srgbClr val="0F172A"/>
                </a:solidFill>
              </a:rPr>
              <a:t>整条输入的聚合表示</a:t>
            </a:r>
            <a:endParaRPr sz="1350" b="0" i="0" dirty="0">
              <a:solidFill>
                <a:srgbClr val="0F172A"/>
              </a:solidFill>
            </a:endParaRPr>
          </a:p>
        </p:txBody>
      </p:sp>
      <p:sp>
        <p:nvSpPr>
          <p:cNvPr id="50" name="矩形: 圆角 49">
            <a:extLst>
              <a:ext uri="{FF2B5EF4-FFF2-40B4-BE49-F238E27FC236}">
                <a16:creationId xmlns:a16="http://schemas.microsoft.com/office/drawing/2014/main" id="{9241EA1B-9EEE-4BDE-953B-0024C7968125}"/>
              </a:ext>
            </a:extLst>
          </p:cNvPr>
          <p:cNvSpPr>
            <a:spLocks noGrp="1"/>
          </p:cNvSpPr>
          <p:nvPr/>
        </p:nvSpPr>
        <p:spPr>
          <a:xfrm>
            <a:off x="6953250" y="4438650"/>
            <a:ext cx="3524250" cy="609600"/>
          </a:xfrm>
          <a:prstGeom prst="roundRect">
            <a:avLst>
              <a:gd name="adj" fmla="val 18750"/>
            </a:avLst>
          </a:prstGeom>
          <a:solidFill>
            <a:srgbClr val="FEF2F2"/>
          </a:solidFill>
          <a:ln w="9525">
            <a:solidFill>
              <a:srgbClr val="DC2626"/>
            </a:solidFill>
            <a:prstDash val="solid"/>
          </a:ln>
        </p:spPr>
        <p:txBody>
          <a:bodyPr/>
          <a:lstStyle/>
          <a:p>
            <a:endParaRPr lang="zh-CN" altLang="en-US"/>
          </a:p>
        </p:txBody>
      </p:sp>
      <p:sp>
        <p:nvSpPr>
          <p:cNvPr id="51" name="矩形 50">
            <a:extLst>
              <a:ext uri="{FF2B5EF4-FFF2-40B4-BE49-F238E27FC236}">
                <a16:creationId xmlns:a16="http://schemas.microsoft.com/office/drawing/2014/main" id="{B397E068-0081-4EB0-94B2-93015C451CF5}"/>
              </a:ext>
            </a:extLst>
          </p:cNvPr>
          <p:cNvSpPr>
            <a:spLocks noGrp="1"/>
          </p:cNvSpPr>
          <p:nvPr/>
        </p:nvSpPr>
        <p:spPr>
          <a:xfrm>
            <a:off x="7200900" y="4610100"/>
            <a:ext cx="1238250" cy="266700"/>
          </a:xfrm>
          <a:prstGeom prst="rect">
            <a:avLst/>
          </a:prstGeom>
          <a:noFill/>
          <a:ln w="0">
            <a:noFill/>
            <a:prstDash val="solid"/>
          </a:ln>
        </p:spPr>
        <p:txBody>
          <a:bodyPr/>
          <a:lstStyle/>
          <a:p>
            <a:pPr algn="l">
              <a:defRPr sz="1800" b="1" i="0">
                <a:solidFill>
                  <a:srgbClr val="DC2626"/>
                </a:solidFill>
              </a:defRPr>
            </a:pPr>
            <a:r>
              <a:rPr sz="1800" b="1" i="0">
                <a:solidFill>
                  <a:srgbClr val="DC2626"/>
                </a:solidFill>
              </a:rPr>
              <a:t>分类层</a:t>
            </a:r>
          </a:p>
        </p:txBody>
      </p:sp>
      <p:sp>
        <p:nvSpPr>
          <p:cNvPr id="52" name="矩形 51">
            <a:extLst>
              <a:ext uri="{FF2B5EF4-FFF2-40B4-BE49-F238E27FC236}">
                <a16:creationId xmlns:a16="http://schemas.microsoft.com/office/drawing/2014/main" id="{5E232190-121C-4BBC-88D3-828945F472CE}"/>
              </a:ext>
            </a:extLst>
          </p:cNvPr>
          <p:cNvSpPr>
            <a:spLocks noGrp="1"/>
          </p:cNvSpPr>
          <p:nvPr/>
        </p:nvSpPr>
        <p:spPr>
          <a:xfrm>
            <a:off x="8596312" y="4522498"/>
            <a:ext cx="1809750" cy="209550"/>
          </a:xfrm>
          <a:prstGeom prst="rect">
            <a:avLst/>
          </a:prstGeom>
          <a:noFill/>
          <a:ln w="0">
            <a:noFill/>
            <a:prstDash val="solid"/>
          </a:ln>
        </p:spPr>
        <p:txBody>
          <a:bodyPr/>
          <a:lstStyle/>
          <a:p>
            <a:pPr algn="l">
              <a:defRPr sz="1350" b="0" i="0">
                <a:solidFill>
                  <a:srgbClr val="0F172A"/>
                </a:solidFill>
              </a:defRPr>
            </a:pPr>
            <a:r>
              <a:rPr sz="1350" b="0" i="0" dirty="0" err="1">
                <a:solidFill>
                  <a:srgbClr val="0F172A"/>
                </a:solidFill>
              </a:rPr>
              <a:t>交叉熵损失，反向传播更新参数</a:t>
            </a:r>
            <a:endParaRPr sz="1350" b="0" i="0" dirty="0">
              <a:solidFill>
                <a:srgbClr val="0F172A"/>
              </a:solidFill>
            </a:endParaRPr>
          </a:p>
        </p:txBody>
      </p:sp>
      <p:sp>
        <p:nvSpPr>
          <p:cNvPr id="53" name="矩形 52">
            <a:extLst>
              <a:ext uri="{FF2B5EF4-FFF2-40B4-BE49-F238E27FC236}">
                <a16:creationId xmlns:a16="http://schemas.microsoft.com/office/drawing/2014/main" id="{06A10AE5-11E3-46A4-B9E7-EA26C88F4794}"/>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54" name="矩形 53">
            <a:extLst>
              <a:ext uri="{FF2B5EF4-FFF2-40B4-BE49-F238E27FC236}">
                <a16:creationId xmlns:a16="http://schemas.microsoft.com/office/drawing/2014/main" id="{7BCE44D6-AE5E-4932-8118-6288B91D0E84}"/>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10</a:t>
            </a:r>
          </a:p>
        </p:txBody>
      </p:sp>
    </p:spTree>
    <p:extLst>
      <p:ext uri="{BB962C8B-B14F-4D97-AF65-F5344CB8AC3E}">
        <p14:creationId xmlns:p14="http://schemas.microsoft.com/office/powerpoint/2010/main" val="2053450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9FBAA76-9A73-42CB-810C-B6B63A25FC86}"/>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实验结果</a:t>
            </a:r>
          </a:p>
        </p:txBody>
      </p:sp>
      <p:sp>
        <p:nvSpPr>
          <p:cNvPr id="2" name="矩形 1">
            <a:extLst>
              <a:ext uri="{FF2B5EF4-FFF2-40B4-BE49-F238E27FC236}">
                <a16:creationId xmlns:a16="http://schemas.microsoft.com/office/drawing/2014/main" id="{2B13C895-8DCE-441E-93C0-E98DB6E395F8}"/>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03C2ADEF-D3BD-4442-B6EC-C3A2C80FC086}"/>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BERT 微调显著优于 TF-IDF 基线</a:t>
            </a:r>
          </a:p>
        </p:txBody>
      </p:sp>
      <p:pic>
        <p:nvPicPr>
          <p:cNvPr id="35" name="图片 34"/>
          <p:cNvPicPr>
            <a:picLocks noChangeAspect="1"/>
          </p:cNvPicPr>
          <p:nvPr/>
        </p:nvPicPr>
        <p:blipFill>
          <a:blip r:embed="rId3"/>
          <a:stretch/>
        </p:blipFill>
        <p:spPr>
          <a:xfrm>
            <a:off x="876300" y="1409700"/>
            <a:ext cx="6400800" cy="4000500"/>
          </a:xfrm>
          <a:prstGeom prst="roundRect">
            <a:avLst>
              <a:gd name="adj" fmla="val 2857"/>
            </a:avLst>
          </a:prstGeom>
        </p:spPr>
      </p:pic>
      <p:sp>
        <p:nvSpPr>
          <p:cNvPr id="5" name="矩形 4">
            <a:extLst>
              <a:ext uri="{FF2B5EF4-FFF2-40B4-BE49-F238E27FC236}">
                <a16:creationId xmlns:a16="http://schemas.microsoft.com/office/drawing/2014/main" id="{27645703-C7EA-45CA-B15A-110A9ABF2F29}"/>
              </a:ext>
            </a:extLst>
          </p:cNvPr>
          <p:cNvSpPr>
            <a:spLocks noGrp="1"/>
          </p:cNvSpPr>
          <p:nvPr/>
        </p:nvSpPr>
        <p:spPr>
          <a:xfrm>
            <a:off x="7905750" y="1695450"/>
            <a:ext cx="1952625" cy="590550"/>
          </a:xfrm>
          <a:prstGeom prst="rect">
            <a:avLst/>
          </a:prstGeom>
          <a:solidFill>
            <a:srgbClr val="1E3A8A"/>
          </a:solidFill>
          <a:ln w="9525">
            <a:solidFill>
              <a:srgbClr val="E2E8F0"/>
            </a:solidFill>
            <a:prstDash val="solid"/>
          </a:ln>
        </p:spPr>
        <p:txBody>
          <a:bodyPr/>
          <a:lstStyle/>
          <a:p>
            <a:endParaRPr lang="zh-CN" altLang="en-US"/>
          </a:p>
        </p:txBody>
      </p:sp>
      <p:sp>
        <p:nvSpPr>
          <p:cNvPr id="6" name="矩形 5">
            <a:extLst>
              <a:ext uri="{FF2B5EF4-FFF2-40B4-BE49-F238E27FC236}">
                <a16:creationId xmlns:a16="http://schemas.microsoft.com/office/drawing/2014/main" id="{47840FCE-0713-490C-9381-C2E3FFF1105D}"/>
              </a:ext>
            </a:extLst>
          </p:cNvPr>
          <p:cNvSpPr>
            <a:spLocks noGrp="1"/>
          </p:cNvSpPr>
          <p:nvPr/>
        </p:nvSpPr>
        <p:spPr>
          <a:xfrm>
            <a:off x="8001000" y="1771650"/>
            <a:ext cx="1762125" cy="476250"/>
          </a:xfrm>
          <a:prstGeom prst="rect">
            <a:avLst/>
          </a:prstGeom>
          <a:noFill/>
          <a:ln w="0">
            <a:noFill/>
            <a:prstDash val="solid"/>
          </a:ln>
        </p:spPr>
        <p:txBody>
          <a:bodyPr/>
          <a:lstStyle/>
          <a:p>
            <a:pPr algn="l">
              <a:defRPr sz="1350" b="1" i="0">
                <a:solidFill>
                  <a:srgbClr val="FFFFFF"/>
                </a:solidFill>
              </a:defRPr>
            </a:pPr>
            <a:r>
              <a:rPr sz="1350" b="1" i="0">
                <a:solidFill>
                  <a:srgbClr val="FFFFFF"/>
                </a:solidFill>
              </a:rPr>
              <a:t>模型</a:t>
            </a:r>
          </a:p>
        </p:txBody>
      </p:sp>
      <p:sp>
        <p:nvSpPr>
          <p:cNvPr id="7" name="矩形 6">
            <a:extLst>
              <a:ext uri="{FF2B5EF4-FFF2-40B4-BE49-F238E27FC236}">
                <a16:creationId xmlns:a16="http://schemas.microsoft.com/office/drawing/2014/main" id="{94A89D1D-4A56-4739-BA5A-DDFB367E10AA}"/>
              </a:ext>
            </a:extLst>
          </p:cNvPr>
          <p:cNvSpPr>
            <a:spLocks noGrp="1"/>
          </p:cNvSpPr>
          <p:nvPr/>
        </p:nvSpPr>
        <p:spPr>
          <a:xfrm>
            <a:off x="9858375" y="1695450"/>
            <a:ext cx="1000125" cy="590550"/>
          </a:xfrm>
          <a:prstGeom prst="rect">
            <a:avLst/>
          </a:prstGeom>
          <a:solidFill>
            <a:srgbClr val="1E3A8A"/>
          </a:solidFill>
          <a:ln w="9525">
            <a:solidFill>
              <a:srgbClr val="E2E8F0"/>
            </a:solidFill>
            <a:prstDash val="solid"/>
          </a:ln>
        </p:spPr>
        <p:txBody>
          <a:bodyPr/>
          <a:lstStyle/>
          <a:p>
            <a:endParaRPr lang="zh-CN" altLang="en-US"/>
          </a:p>
        </p:txBody>
      </p:sp>
      <p:sp>
        <p:nvSpPr>
          <p:cNvPr id="8" name="矩形 7">
            <a:extLst>
              <a:ext uri="{FF2B5EF4-FFF2-40B4-BE49-F238E27FC236}">
                <a16:creationId xmlns:a16="http://schemas.microsoft.com/office/drawing/2014/main" id="{C5E0C48B-52DB-4052-90BF-F2742328E7A6}"/>
              </a:ext>
            </a:extLst>
          </p:cNvPr>
          <p:cNvSpPr>
            <a:spLocks noGrp="1"/>
          </p:cNvSpPr>
          <p:nvPr/>
        </p:nvSpPr>
        <p:spPr>
          <a:xfrm>
            <a:off x="9953625" y="1771650"/>
            <a:ext cx="809625" cy="47625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Acc</a:t>
            </a:r>
          </a:p>
        </p:txBody>
      </p:sp>
      <p:sp>
        <p:nvSpPr>
          <p:cNvPr id="9" name="矩形 8">
            <a:extLst>
              <a:ext uri="{FF2B5EF4-FFF2-40B4-BE49-F238E27FC236}">
                <a16:creationId xmlns:a16="http://schemas.microsoft.com/office/drawing/2014/main" id="{51981D70-5C6C-481F-B669-CEC702B3ACA3}"/>
              </a:ext>
            </a:extLst>
          </p:cNvPr>
          <p:cNvSpPr>
            <a:spLocks noGrp="1"/>
          </p:cNvSpPr>
          <p:nvPr/>
        </p:nvSpPr>
        <p:spPr>
          <a:xfrm>
            <a:off x="10858500" y="1695450"/>
            <a:ext cx="1190625" cy="590550"/>
          </a:xfrm>
          <a:prstGeom prst="rect">
            <a:avLst/>
          </a:prstGeom>
          <a:solidFill>
            <a:srgbClr val="1E3A8A"/>
          </a:solidFill>
          <a:ln w="9525">
            <a:solidFill>
              <a:srgbClr val="E2E8F0"/>
            </a:solidFill>
            <a:prstDash val="solid"/>
          </a:ln>
        </p:spPr>
        <p:txBody>
          <a:bodyPr/>
          <a:lstStyle/>
          <a:p>
            <a:endParaRPr lang="zh-CN" altLang="en-US"/>
          </a:p>
        </p:txBody>
      </p:sp>
      <p:sp>
        <p:nvSpPr>
          <p:cNvPr id="10" name="矩形 9">
            <a:extLst>
              <a:ext uri="{FF2B5EF4-FFF2-40B4-BE49-F238E27FC236}">
                <a16:creationId xmlns:a16="http://schemas.microsoft.com/office/drawing/2014/main" id="{38707F6B-C88B-4F3B-B002-DF07CF2ADD0E}"/>
              </a:ext>
            </a:extLst>
          </p:cNvPr>
          <p:cNvSpPr>
            <a:spLocks noGrp="1"/>
          </p:cNvSpPr>
          <p:nvPr/>
        </p:nvSpPr>
        <p:spPr>
          <a:xfrm>
            <a:off x="10953750" y="1771650"/>
            <a:ext cx="1000125" cy="476250"/>
          </a:xfrm>
          <a:prstGeom prst="rect">
            <a:avLst/>
          </a:prstGeom>
          <a:noFill/>
          <a:ln w="0">
            <a:noFill/>
            <a:prstDash val="solid"/>
          </a:ln>
        </p:spPr>
        <p:txBody>
          <a:bodyPr/>
          <a:lstStyle/>
          <a:p>
            <a:pPr algn="ctr">
              <a:defRPr sz="1350" b="1" i="0">
                <a:solidFill>
                  <a:srgbClr val="FFFFFF"/>
                </a:solidFill>
              </a:defRPr>
            </a:pPr>
            <a:r>
              <a:rPr sz="1350" b="1" i="0">
                <a:solidFill>
                  <a:srgbClr val="FFFFFF"/>
                </a:solidFill>
              </a:rPr>
              <a:t>Macro-F1</a:t>
            </a:r>
          </a:p>
        </p:txBody>
      </p:sp>
      <p:sp>
        <p:nvSpPr>
          <p:cNvPr id="11" name="矩形 10">
            <a:extLst>
              <a:ext uri="{FF2B5EF4-FFF2-40B4-BE49-F238E27FC236}">
                <a16:creationId xmlns:a16="http://schemas.microsoft.com/office/drawing/2014/main" id="{88C1B27C-3597-4669-8842-98A3F4F34FD5}"/>
              </a:ext>
            </a:extLst>
          </p:cNvPr>
          <p:cNvSpPr>
            <a:spLocks noGrp="1"/>
          </p:cNvSpPr>
          <p:nvPr/>
        </p:nvSpPr>
        <p:spPr>
          <a:xfrm>
            <a:off x="7905750" y="2286000"/>
            <a:ext cx="1952625" cy="590550"/>
          </a:xfrm>
          <a:prstGeom prst="rect">
            <a:avLst/>
          </a:prstGeom>
          <a:solidFill>
            <a:srgbClr val="FFFFFF"/>
          </a:solidFill>
          <a:ln w="9525">
            <a:solidFill>
              <a:srgbClr val="E2E8F0"/>
            </a:solidFill>
            <a:prstDash val="solid"/>
          </a:ln>
        </p:spPr>
        <p:txBody>
          <a:bodyPr/>
          <a:lstStyle/>
          <a:p>
            <a:endParaRPr lang="zh-CN" altLang="en-US"/>
          </a:p>
        </p:txBody>
      </p:sp>
      <p:sp>
        <p:nvSpPr>
          <p:cNvPr id="12" name="矩形 11">
            <a:extLst>
              <a:ext uri="{FF2B5EF4-FFF2-40B4-BE49-F238E27FC236}">
                <a16:creationId xmlns:a16="http://schemas.microsoft.com/office/drawing/2014/main" id="{184780DB-C32C-4503-BEB0-26107C786A1E}"/>
              </a:ext>
            </a:extLst>
          </p:cNvPr>
          <p:cNvSpPr>
            <a:spLocks noGrp="1"/>
          </p:cNvSpPr>
          <p:nvPr/>
        </p:nvSpPr>
        <p:spPr>
          <a:xfrm>
            <a:off x="8001000" y="2362200"/>
            <a:ext cx="1762125" cy="476250"/>
          </a:xfrm>
          <a:prstGeom prst="rect">
            <a:avLst/>
          </a:prstGeom>
          <a:noFill/>
          <a:ln w="0">
            <a:noFill/>
            <a:prstDash val="solid"/>
          </a:ln>
        </p:spPr>
        <p:txBody>
          <a:bodyPr/>
          <a:lstStyle/>
          <a:p>
            <a:pPr algn="l">
              <a:defRPr sz="1350" b="0" i="0">
                <a:solidFill>
                  <a:srgbClr val="0F172A"/>
                </a:solidFill>
              </a:defRPr>
            </a:pPr>
            <a:r>
              <a:rPr sz="1350" b="0" i="0">
                <a:solidFill>
                  <a:srgbClr val="0F172A"/>
                </a:solidFill>
              </a:rPr>
              <a:t>TF-IDF + LR</a:t>
            </a:r>
          </a:p>
        </p:txBody>
      </p:sp>
      <p:sp>
        <p:nvSpPr>
          <p:cNvPr id="13" name="矩形 12">
            <a:extLst>
              <a:ext uri="{FF2B5EF4-FFF2-40B4-BE49-F238E27FC236}">
                <a16:creationId xmlns:a16="http://schemas.microsoft.com/office/drawing/2014/main" id="{3881AF46-7ED0-46A2-8715-CC209DD45254}"/>
              </a:ext>
            </a:extLst>
          </p:cNvPr>
          <p:cNvSpPr>
            <a:spLocks noGrp="1"/>
          </p:cNvSpPr>
          <p:nvPr/>
        </p:nvSpPr>
        <p:spPr>
          <a:xfrm>
            <a:off x="9858375" y="2286000"/>
            <a:ext cx="1000125" cy="590550"/>
          </a:xfrm>
          <a:prstGeom prst="rect">
            <a:avLst/>
          </a:prstGeom>
          <a:solidFill>
            <a:srgbClr val="FFFFFF"/>
          </a:solidFill>
          <a:ln w="9525">
            <a:solidFill>
              <a:srgbClr val="E2E8F0"/>
            </a:solidFill>
            <a:prstDash val="solid"/>
          </a:ln>
        </p:spPr>
        <p:txBody>
          <a:bodyPr/>
          <a:lstStyle/>
          <a:p>
            <a:endParaRPr lang="zh-CN" altLang="en-US"/>
          </a:p>
        </p:txBody>
      </p:sp>
      <p:sp>
        <p:nvSpPr>
          <p:cNvPr id="14" name="矩形 13">
            <a:extLst>
              <a:ext uri="{FF2B5EF4-FFF2-40B4-BE49-F238E27FC236}">
                <a16:creationId xmlns:a16="http://schemas.microsoft.com/office/drawing/2014/main" id="{A30C1ECF-822B-49CB-9930-9A6A9E41897D}"/>
              </a:ext>
            </a:extLst>
          </p:cNvPr>
          <p:cNvSpPr>
            <a:spLocks noGrp="1"/>
          </p:cNvSpPr>
          <p:nvPr/>
        </p:nvSpPr>
        <p:spPr>
          <a:xfrm>
            <a:off x="9953625" y="2362200"/>
            <a:ext cx="809625" cy="47625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0.5503</a:t>
            </a:r>
          </a:p>
        </p:txBody>
      </p:sp>
      <p:sp>
        <p:nvSpPr>
          <p:cNvPr id="15" name="矩形 14">
            <a:extLst>
              <a:ext uri="{FF2B5EF4-FFF2-40B4-BE49-F238E27FC236}">
                <a16:creationId xmlns:a16="http://schemas.microsoft.com/office/drawing/2014/main" id="{2E0B106D-FA46-4B66-BE72-675CA251AFCF}"/>
              </a:ext>
            </a:extLst>
          </p:cNvPr>
          <p:cNvSpPr>
            <a:spLocks noGrp="1"/>
          </p:cNvSpPr>
          <p:nvPr/>
        </p:nvSpPr>
        <p:spPr>
          <a:xfrm>
            <a:off x="10858500" y="2286000"/>
            <a:ext cx="1190625" cy="590550"/>
          </a:xfrm>
          <a:prstGeom prst="rect">
            <a:avLst/>
          </a:prstGeom>
          <a:solidFill>
            <a:srgbClr val="FFFFFF"/>
          </a:solidFill>
          <a:ln w="9525">
            <a:solidFill>
              <a:srgbClr val="E2E8F0"/>
            </a:solidFill>
            <a:prstDash val="solid"/>
          </a:ln>
        </p:spPr>
        <p:txBody>
          <a:bodyPr/>
          <a:lstStyle/>
          <a:p>
            <a:endParaRPr lang="zh-CN" altLang="en-US"/>
          </a:p>
        </p:txBody>
      </p:sp>
      <p:sp>
        <p:nvSpPr>
          <p:cNvPr id="16" name="矩形 15">
            <a:extLst>
              <a:ext uri="{FF2B5EF4-FFF2-40B4-BE49-F238E27FC236}">
                <a16:creationId xmlns:a16="http://schemas.microsoft.com/office/drawing/2014/main" id="{F834FB02-92E0-4E30-8F13-A187A2F7885F}"/>
              </a:ext>
            </a:extLst>
          </p:cNvPr>
          <p:cNvSpPr>
            <a:spLocks noGrp="1"/>
          </p:cNvSpPr>
          <p:nvPr/>
        </p:nvSpPr>
        <p:spPr>
          <a:xfrm>
            <a:off x="10953750" y="2362200"/>
            <a:ext cx="1000125" cy="47625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0.5412</a:t>
            </a:r>
          </a:p>
        </p:txBody>
      </p:sp>
      <p:sp>
        <p:nvSpPr>
          <p:cNvPr id="17" name="矩形 16">
            <a:extLst>
              <a:ext uri="{FF2B5EF4-FFF2-40B4-BE49-F238E27FC236}">
                <a16:creationId xmlns:a16="http://schemas.microsoft.com/office/drawing/2014/main" id="{F1C86F03-DFBF-450A-B229-A0C60CA6F4BB}"/>
              </a:ext>
            </a:extLst>
          </p:cNvPr>
          <p:cNvSpPr>
            <a:spLocks noGrp="1"/>
          </p:cNvSpPr>
          <p:nvPr/>
        </p:nvSpPr>
        <p:spPr>
          <a:xfrm>
            <a:off x="7905750" y="2876550"/>
            <a:ext cx="1952625" cy="590550"/>
          </a:xfrm>
          <a:prstGeom prst="rect">
            <a:avLst/>
          </a:prstGeom>
          <a:solidFill>
            <a:srgbClr val="F8FAFC"/>
          </a:solidFill>
          <a:ln w="9525">
            <a:solidFill>
              <a:srgbClr val="E2E8F0"/>
            </a:solidFill>
            <a:prstDash val="solid"/>
          </a:ln>
        </p:spPr>
        <p:txBody>
          <a:bodyPr/>
          <a:lstStyle/>
          <a:p>
            <a:endParaRPr lang="zh-CN" altLang="en-US"/>
          </a:p>
        </p:txBody>
      </p:sp>
      <p:sp>
        <p:nvSpPr>
          <p:cNvPr id="18" name="矩形 17">
            <a:extLst>
              <a:ext uri="{FF2B5EF4-FFF2-40B4-BE49-F238E27FC236}">
                <a16:creationId xmlns:a16="http://schemas.microsoft.com/office/drawing/2014/main" id="{1C128C7F-C679-49BB-836E-CCD851FF15C0}"/>
              </a:ext>
            </a:extLst>
          </p:cNvPr>
          <p:cNvSpPr>
            <a:spLocks noGrp="1"/>
          </p:cNvSpPr>
          <p:nvPr/>
        </p:nvSpPr>
        <p:spPr>
          <a:xfrm>
            <a:off x="8001000" y="2952750"/>
            <a:ext cx="1762125" cy="476250"/>
          </a:xfrm>
          <a:prstGeom prst="rect">
            <a:avLst/>
          </a:prstGeom>
          <a:noFill/>
          <a:ln w="0">
            <a:noFill/>
            <a:prstDash val="solid"/>
          </a:ln>
        </p:spPr>
        <p:txBody>
          <a:bodyPr/>
          <a:lstStyle/>
          <a:p>
            <a:pPr algn="l">
              <a:defRPr sz="1350" b="0" i="0">
                <a:solidFill>
                  <a:srgbClr val="0F172A"/>
                </a:solidFill>
              </a:defRPr>
            </a:pPr>
            <a:r>
              <a:rPr sz="1350" b="0" i="0">
                <a:solidFill>
                  <a:srgbClr val="0F172A"/>
                </a:solidFill>
              </a:rPr>
              <a:t>BERT fine-tuning</a:t>
            </a:r>
          </a:p>
        </p:txBody>
      </p:sp>
      <p:sp>
        <p:nvSpPr>
          <p:cNvPr id="19" name="矩形 18">
            <a:extLst>
              <a:ext uri="{FF2B5EF4-FFF2-40B4-BE49-F238E27FC236}">
                <a16:creationId xmlns:a16="http://schemas.microsoft.com/office/drawing/2014/main" id="{F488F70F-B520-4682-ACC9-3ED67259608A}"/>
              </a:ext>
            </a:extLst>
          </p:cNvPr>
          <p:cNvSpPr>
            <a:spLocks noGrp="1"/>
          </p:cNvSpPr>
          <p:nvPr/>
        </p:nvSpPr>
        <p:spPr>
          <a:xfrm>
            <a:off x="9858375" y="2876550"/>
            <a:ext cx="1000125" cy="590550"/>
          </a:xfrm>
          <a:prstGeom prst="rect">
            <a:avLst/>
          </a:prstGeom>
          <a:solidFill>
            <a:srgbClr val="F8FAFC"/>
          </a:solidFill>
          <a:ln w="9525">
            <a:solidFill>
              <a:srgbClr val="E2E8F0"/>
            </a:solidFill>
            <a:prstDash val="solid"/>
          </a:ln>
        </p:spPr>
        <p:txBody>
          <a:bodyPr/>
          <a:lstStyle/>
          <a:p>
            <a:endParaRPr lang="zh-CN" altLang="en-US"/>
          </a:p>
        </p:txBody>
      </p:sp>
      <p:sp>
        <p:nvSpPr>
          <p:cNvPr id="20" name="矩形 19">
            <a:extLst>
              <a:ext uri="{FF2B5EF4-FFF2-40B4-BE49-F238E27FC236}">
                <a16:creationId xmlns:a16="http://schemas.microsoft.com/office/drawing/2014/main" id="{F69471CC-9CEA-4ADB-AAAD-6CAE7390D5EC}"/>
              </a:ext>
            </a:extLst>
          </p:cNvPr>
          <p:cNvSpPr>
            <a:spLocks noGrp="1"/>
          </p:cNvSpPr>
          <p:nvPr/>
        </p:nvSpPr>
        <p:spPr>
          <a:xfrm>
            <a:off x="9953625" y="2952750"/>
            <a:ext cx="809625" cy="47625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0.8080</a:t>
            </a:r>
          </a:p>
        </p:txBody>
      </p:sp>
      <p:sp>
        <p:nvSpPr>
          <p:cNvPr id="21" name="矩形 20">
            <a:extLst>
              <a:ext uri="{FF2B5EF4-FFF2-40B4-BE49-F238E27FC236}">
                <a16:creationId xmlns:a16="http://schemas.microsoft.com/office/drawing/2014/main" id="{7778B952-2684-4400-9537-2FD2BA7AD213}"/>
              </a:ext>
            </a:extLst>
          </p:cNvPr>
          <p:cNvSpPr>
            <a:spLocks noGrp="1"/>
          </p:cNvSpPr>
          <p:nvPr/>
        </p:nvSpPr>
        <p:spPr>
          <a:xfrm>
            <a:off x="10858500" y="2876550"/>
            <a:ext cx="1190625" cy="590550"/>
          </a:xfrm>
          <a:prstGeom prst="rect">
            <a:avLst/>
          </a:prstGeom>
          <a:solidFill>
            <a:srgbClr val="F8FAFC"/>
          </a:solidFill>
          <a:ln w="9525">
            <a:solidFill>
              <a:srgbClr val="E2E8F0"/>
            </a:solidFill>
            <a:prstDash val="solid"/>
          </a:ln>
        </p:spPr>
        <p:txBody>
          <a:bodyPr/>
          <a:lstStyle/>
          <a:p>
            <a:endParaRPr lang="zh-CN" altLang="en-US"/>
          </a:p>
        </p:txBody>
      </p:sp>
      <p:sp>
        <p:nvSpPr>
          <p:cNvPr id="22" name="矩形 21">
            <a:extLst>
              <a:ext uri="{FF2B5EF4-FFF2-40B4-BE49-F238E27FC236}">
                <a16:creationId xmlns:a16="http://schemas.microsoft.com/office/drawing/2014/main" id="{42827D03-A581-454A-9E6E-AF2AC3FC98EE}"/>
              </a:ext>
            </a:extLst>
          </p:cNvPr>
          <p:cNvSpPr>
            <a:spLocks noGrp="1"/>
          </p:cNvSpPr>
          <p:nvPr/>
        </p:nvSpPr>
        <p:spPr>
          <a:xfrm>
            <a:off x="10953750" y="2952750"/>
            <a:ext cx="1000125" cy="476250"/>
          </a:xfrm>
          <a:prstGeom prst="rect">
            <a:avLst/>
          </a:prstGeom>
          <a:noFill/>
          <a:ln w="0">
            <a:noFill/>
            <a:prstDash val="solid"/>
          </a:ln>
        </p:spPr>
        <p:txBody>
          <a:bodyPr/>
          <a:lstStyle/>
          <a:p>
            <a:pPr algn="ctr">
              <a:defRPr sz="1350" b="0" i="0">
                <a:solidFill>
                  <a:srgbClr val="0F172A"/>
                </a:solidFill>
              </a:defRPr>
            </a:pPr>
            <a:r>
              <a:rPr sz="1350" b="0" i="0">
                <a:solidFill>
                  <a:srgbClr val="0F172A"/>
                </a:solidFill>
              </a:rPr>
              <a:t>0.8077</a:t>
            </a:r>
          </a:p>
        </p:txBody>
      </p:sp>
      <p:sp>
        <p:nvSpPr>
          <p:cNvPr id="23" name="矩形 22">
            <a:extLst>
              <a:ext uri="{FF2B5EF4-FFF2-40B4-BE49-F238E27FC236}">
                <a16:creationId xmlns:a16="http://schemas.microsoft.com/office/drawing/2014/main" id="{8B34FE22-85E9-4C99-A144-DB02954AD3BF}"/>
              </a:ext>
            </a:extLst>
          </p:cNvPr>
          <p:cNvSpPr>
            <a:spLocks noGrp="1"/>
          </p:cNvSpPr>
          <p:nvPr/>
        </p:nvSpPr>
        <p:spPr>
          <a:xfrm>
            <a:off x="7905750" y="1695450"/>
            <a:ext cx="4143375" cy="1771650"/>
          </a:xfrm>
          <a:prstGeom prst="rect">
            <a:avLst/>
          </a:prstGeom>
          <a:noFill/>
          <a:ln w="9525">
            <a:solidFill>
              <a:srgbClr val="E2E8F0"/>
            </a:solidFill>
            <a:prstDash val="solid"/>
          </a:ln>
        </p:spPr>
        <p:txBody>
          <a:bodyPr/>
          <a:lstStyle/>
          <a:p>
            <a:endParaRPr lang="zh-CN" altLang="en-US"/>
          </a:p>
        </p:txBody>
      </p:sp>
      <p:sp>
        <p:nvSpPr>
          <p:cNvPr id="24" name="矩形: 圆角 23">
            <a:extLst>
              <a:ext uri="{FF2B5EF4-FFF2-40B4-BE49-F238E27FC236}">
                <a16:creationId xmlns:a16="http://schemas.microsoft.com/office/drawing/2014/main" id="{1C1BAE85-7CD1-4AE6-B8BE-C9FE7C6232B5}"/>
              </a:ext>
            </a:extLst>
          </p:cNvPr>
          <p:cNvSpPr>
            <a:spLocks noGrp="1"/>
          </p:cNvSpPr>
          <p:nvPr/>
        </p:nvSpPr>
        <p:spPr>
          <a:xfrm>
            <a:off x="8096250" y="3829050"/>
            <a:ext cx="2762250"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80F01512-040F-40BD-A80D-D3F6BC258530}"/>
              </a:ext>
            </a:extLst>
          </p:cNvPr>
          <p:cNvSpPr>
            <a:spLocks noGrp="1"/>
          </p:cNvSpPr>
          <p:nvPr/>
        </p:nvSpPr>
        <p:spPr>
          <a:xfrm>
            <a:off x="8096250" y="3829050"/>
            <a:ext cx="57150" cy="1123950"/>
          </a:xfrm>
          <a:prstGeom prst="rect">
            <a:avLst/>
          </a:prstGeom>
          <a:solidFill>
            <a:srgbClr val="16A34A"/>
          </a:solidFill>
          <a:ln w="0">
            <a:noFill/>
            <a:prstDash val="solid"/>
          </a:ln>
        </p:spPr>
        <p:txBody>
          <a:bodyPr/>
          <a:lstStyle/>
          <a:p>
            <a:endParaRPr lang="zh-CN" altLang="en-US"/>
          </a:p>
        </p:txBody>
      </p:sp>
      <p:sp>
        <p:nvSpPr>
          <p:cNvPr id="26" name="矩形 25">
            <a:extLst>
              <a:ext uri="{FF2B5EF4-FFF2-40B4-BE49-F238E27FC236}">
                <a16:creationId xmlns:a16="http://schemas.microsoft.com/office/drawing/2014/main" id="{CACA83FE-BABB-4F65-B894-B0120D7F08F4}"/>
              </a:ext>
            </a:extLst>
          </p:cNvPr>
          <p:cNvSpPr>
            <a:spLocks noGrp="1"/>
          </p:cNvSpPr>
          <p:nvPr/>
        </p:nvSpPr>
        <p:spPr>
          <a:xfrm>
            <a:off x="8324850" y="4000500"/>
            <a:ext cx="2305050" cy="428625"/>
          </a:xfrm>
          <a:prstGeom prst="rect">
            <a:avLst/>
          </a:prstGeom>
          <a:noFill/>
          <a:ln w="0">
            <a:noFill/>
            <a:prstDash val="solid"/>
          </a:ln>
        </p:spPr>
        <p:txBody>
          <a:bodyPr/>
          <a:lstStyle/>
          <a:p>
            <a:pPr algn="l">
              <a:defRPr sz="2550" b="1" i="0">
                <a:solidFill>
                  <a:srgbClr val="16A34A"/>
                </a:solidFill>
              </a:defRPr>
            </a:pPr>
            <a:r>
              <a:rPr sz="2550" b="1" i="0">
                <a:solidFill>
                  <a:srgbClr val="16A34A"/>
                </a:solidFill>
              </a:rPr>
              <a:t>+0.2665</a:t>
            </a:r>
          </a:p>
        </p:txBody>
      </p:sp>
      <p:sp>
        <p:nvSpPr>
          <p:cNvPr id="27" name="矩形 26">
            <a:extLst>
              <a:ext uri="{FF2B5EF4-FFF2-40B4-BE49-F238E27FC236}">
                <a16:creationId xmlns:a16="http://schemas.microsoft.com/office/drawing/2014/main" id="{CDA2F0F0-D0F1-444E-9AB4-CA83E480C4F2}"/>
              </a:ext>
            </a:extLst>
          </p:cNvPr>
          <p:cNvSpPr>
            <a:spLocks noGrp="1"/>
          </p:cNvSpPr>
          <p:nvPr/>
        </p:nvSpPr>
        <p:spPr>
          <a:xfrm>
            <a:off x="8324850" y="4457700"/>
            <a:ext cx="2305050"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Macro-F1 提升</a:t>
            </a:r>
          </a:p>
        </p:txBody>
      </p:sp>
      <p:sp>
        <p:nvSpPr>
          <p:cNvPr id="28" name="矩形 27">
            <a:extLst>
              <a:ext uri="{FF2B5EF4-FFF2-40B4-BE49-F238E27FC236}">
                <a16:creationId xmlns:a16="http://schemas.microsoft.com/office/drawing/2014/main" id="{22873567-5132-4C48-B0AC-07B938627F73}"/>
              </a:ext>
            </a:extLst>
          </p:cNvPr>
          <p:cNvSpPr>
            <a:spLocks noGrp="1"/>
          </p:cNvSpPr>
          <p:nvPr/>
        </p:nvSpPr>
        <p:spPr>
          <a:xfrm>
            <a:off x="8324850" y="4705350"/>
            <a:ext cx="2305050" cy="19050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BERT - baseline</a:t>
            </a:r>
          </a:p>
        </p:txBody>
      </p:sp>
      <p:sp>
        <p:nvSpPr>
          <p:cNvPr id="29" name="矩形 28">
            <a:extLst>
              <a:ext uri="{FF2B5EF4-FFF2-40B4-BE49-F238E27FC236}">
                <a16:creationId xmlns:a16="http://schemas.microsoft.com/office/drawing/2014/main" id="{A2770833-EEB2-4877-8FA0-616B9BD02804}"/>
              </a:ext>
            </a:extLst>
          </p:cNvPr>
          <p:cNvSpPr>
            <a:spLocks noGrp="1"/>
          </p:cNvSpPr>
          <p:nvPr/>
        </p:nvSpPr>
        <p:spPr>
          <a:xfrm>
            <a:off x="7829549" y="5105400"/>
            <a:ext cx="4219575" cy="742950"/>
          </a:xfrm>
          <a:prstGeom prst="rect">
            <a:avLst/>
          </a:prstGeom>
          <a:noFill/>
          <a:ln w="0">
            <a:noFill/>
            <a:prstDash val="solid"/>
          </a:ln>
        </p:spPr>
        <p:txBody>
          <a:bodyPr/>
          <a:lstStyle/>
          <a:p>
            <a:pPr algn="l">
              <a:defRPr sz="1350" b="0" i="0">
                <a:solidFill>
                  <a:srgbClr val="0F172A"/>
                </a:solidFill>
              </a:defRPr>
            </a:pPr>
            <a:r>
              <a:rPr sz="1350" b="0" i="0" dirty="0" err="1">
                <a:solidFill>
                  <a:srgbClr val="0F172A"/>
                </a:solidFill>
              </a:rPr>
              <a:t>解释：负例关键词通常并非完全无关</a:t>
            </a:r>
            <a:r>
              <a:rPr sz="1350" b="0" i="0" dirty="0">
                <a:solidFill>
                  <a:srgbClr val="0F172A"/>
                </a:solidFill>
              </a:rPr>
              <a:t>，</a:t>
            </a:r>
          </a:p>
          <a:p>
            <a:pPr algn="l">
              <a:defRPr sz="1350" b="0" i="0">
                <a:solidFill>
                  <a:srgbClr val="0F172A"/>
                </a:solidFill>
              </a:defRPr>
            </a:pPr>
            <a:r>
              <a:rPr sz="1350" b="0" i="0" dirty="0">
                <a:solidFill>
                  <a:srgbClr val="0F172A"/>
                </a:solidFill>
              </a:rPr>
              <a:t>BERT </a:t>
            </a:r>
            <a:r>
              <a:rPr sz="1350" b="0" i="0" dirty="0" err="1">
                <a:solidFill>
                  <a:srgbClr val="0F172A"/>
                </a:solidFill>
              </a:rPr>
              <a:t>的上下文语义建模更适合区分</a:t>
            </a:r>
            <a:endParaRPr sz="1350" b="0" i="0" dirty="0">
              <a:solidFill>
                <a:srgbClr val="0F172A"/>
              </a:solidFill>
            </a:endParaRPr>
          </a:p>
          <a:p>
            <a:pPr algn="l">
              <a:defRPr sz="1350" b="0" i="0">
                <a:solidFill>
                  <a:srgbClr val="0F172A"/>
                </a:solidFill>
              </a:defRPr>
            </a:pPr>
            <a:r>
              <a:rPr sz="1350" b="0" i="0" dirty="0">
                <a:solidFill>
                  <a:srgbClr val="0F172A"/>
                </a:solidFill>
              </a:rPr>
              <a:t>“</a:t>
            </a:r>
            <a:r>
              <a:rPr sz="1350" b="0" i="0" dirty="0" err="1">
                <a:solidFill>
                  <a:srgbClr val="0F172A"/>
                </a:solidFill>
              </a:rPr>
              <a:t>相关”与“真实匹配</a:t>
            </a:r>
            <a:r>
              <a:rPr sz="1350" b="0" i="0" dirty="0">
                <a:solidFill>
                  <a:srgbClr val="0F172A"/>
                </a:solidFill>
              </a:rPr>
              <a:t>”。</a:t>
            </a:r>
          </a:p>
        </p:txBody>
      </p:sp>
      <p:sp>
        <p:nvSpPr>
          <p:cNvPr id="30" name="矩形 29">
            <a:extLst>
              <a:ext uri="{FF2B5EF4-FFF2-40B4-BE49-F238E27FC236}">
                <a16:creationId xmlns:a16="http://schemas.microsoft.com/office/drawing/2014/main" id="{1749827B-0EA0-4FE3-9DC5-C25CA3704394}"/>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31" name="矩形 30">
            <a:extLst>
              <a:ext uri="{FF2B5EF4-FFF2-40B4-BE49-F238E27FC236}">
                <a16:creationId xmlns:a16="http://schemas.microsoft.com/office/drawing/2014/main" id="{6988BE3E-A7A1-406B-BC11-31ADED9ADE1A}"/>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11</a:t>
            </a:r>
          </a:p>
        </p:txBody>
      </p:sp>
    </p:spTree>
    <p:extLst>
      <p:ext uri="{BB962C8B-B14F-4D97-AF65-F5344CB8AC3E}">
        <p14:creationId xmlns:p14="http://schemas.microsoft.com/office/powerpoint/2010/main" val="1347660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F851706-0DA9-4C94-96DD-833531E8F130}"/>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混淆矩阵解读</a:t>
            </a:r>
          </a:p>
        </p:txBody>
      </p:sp>
      <p:sp>
        <p:nvSpPr>
          <p:cNvPr id="2" name="矩形 1">
            <a:extLst>
              <a:ext uri="{FF2B5EF4-FFF2-40B4-BE49-F238E27FC236}">
                <a16:creationId xmlns:a16="http://schemas.microsoft.com/office/drawing/2014/main" id="{0C9430B1-9AC7-4E70-AC02-AB119B5AB37D}"/>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35B9DF13-4E23-4E27-B85C-B4290DF097BA}"/>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错误主要来自把高相关伪关键词判为真实关键词</a:t>
            </a:r>
          </a:p>
        </p:txBody>
      </p:sp>
      <p:pic>
        <p:nvPicPr>
          <p:cNvPr id="40" name="图片 39"/>
          <p:cNvPicPr>
            <a:picLocks noChangeAspect="1"/>
          </p:cNvPicPr>
          <p:nvPr/>
        </p:nvPicPr>
        <p:blipFill>
          <a:blip r:embed="rId3"/>
          <a:stretch/>
        </p:blipFill>
        <p:spPr>
          <a:xfrm>
            <a:off x="973931" y="1428750"/>
            <a:ext cx="4643438" cy="3714750"/>
          </a:xfrm>
          <a:prstGeom prst="roundRect">
            <a:avLst>
              <a:gd name="adj" fmla="val 3077"/>
            </a:avLst>
          </a:prstGeom>
        </p:spPr>
      </p:pic>
      <p:sp>
        <p:nvSpPr>
          <p:cNvPr id="5" name="矩形 4">
            <a:extLst>
              <a:ext uri="{FF2B5EF4-FFF2-40B4-BE49-F238E27FC236}">
                <a16:creationId xmlns:a16="http://schemas.microsoft.com/office/drawing/2014/main" id="{EA6B3AE2-3C6A-4A94-B17E-AB8DF08EE844}"/>
              </a:ext>
            </a:extLst>
          </p:cNvPr>
          <p:cNvSpPr>
            <a:spLocks noGrp="1"/>
          </p:cNvSpPr>
          <p:nvPr/>
        </p:nvSpPr>
        <p:spPr>
          <a:xfrm>
            <a:off x="6572250" y="1600200"/>
            <a:ext cx="1809750" cy="590550"/>
          </a:xfrm>
          <a:prstGeom prst="rect">
            <a:avLst/>
          </a:prstGeom>
          <a:solidFill>
            <a:srgbClr val="1E3A8A"/>
          </a:solidFill>
          <a:ln w="9525">
            <a:solidFill>
              <a:srgbClr val="E2E8F0"/>
            </a:solidFill>
            <a:prstDash val="solid"/>
          </a:ln>
        </p:spPr>
        <p:txBody>
          <a:bodyPr/>
          <a:lstStyle/>
          <a:p>
            <a:endParaRPr lang="zh-CN" altLang="en-US"/>
          </a:p>
        </p:txBody>
      </p:sp>
      <p:sp>
        <p:nvSpPr>
          <p:cNvPr id="6" name="矩形 5">
            <a:extLst>
              <a:ext uri="{FF2B5EF4-FFF2-40B4-BE49-F238E27FC236}">
                <a16:creationId xmlns:a16="http://schemas.microsoft.com/office/drawing/2014/main" id="{F1B93EB6-3881-4D00-AAAB-64E19ED7CF7F}"/>
              </a:ext>
            </a:extLst>
          </p:cNvPr>
          <p:cNvSpPr>
            <a:spLocks noGrp="1"/>
          </p:cNvSpPr>
          <p:nvPr/>
        </p:nvSpPr>
        <p:spPr>
          <a:xfrm>
            <a:off x="6667500" y="1676400"/>
            <a:ext cx="1619250" cy="476250"/>
          </a:xfrm>
          <a:prstGeom prst="rect">
            <a:avLst/>
          </a:prstGeom>
          <a:noFill/>
          <a:ln w="0">
            <a:noFill/>
            <a:prstDash val="solid"/>
          </a:ln>
        </p:spPr>
        <p:txBody>
          <a:bodyPr/>
          <a:lstStyle/>
          <a:p>
            <a:pPr algn="l">
              <a:defRPr sz="1425" b="1" i="0">
                <a:solidFill>
                  <a:srgbClr val="FFFFFF"/>
                </a:solidFill>
              </a:defRPr>
            </a:pPr>
            <a:r>
              <a:rPr sz="1425" b="1" i="0">
                <a:solidFill>
                  <a:srgbClr val="FFFFFF"/>
                </a:solidFill>
              </a:rPr>
              <a:t>真实 / 预测</a:t>
            </a:r>
          </a:p>
        </p:txBody>
      </p:sp>
      <p:sp>
        <p:nvSpPr>
          <p:cNvPr id="7" name="矩形 6">
            <a:extLst>
              <a:ext uri="{FF2B5EF4-FFF2-40B4-BE49-F238E27FC236}">
                <a16:creationId xmlns:a16="http://schemas.microsoft.com/office/drawing/2014/main" id="{1D0CDFAE-EA63-4F1D-9C69-BE20EB01AD5E}"/>
              </a:ext>
            </a:extLst>
          </p:cNvPr>
          <p:cNvSpPr>
            <a:spLocks noGrp="1"/>
          </p:cNvSpPr>
          <p:nvPr/>
        </p:nvSpPr>
        <p:spPr>
          <a:xfrm>
            <a:off x="8382000" y="1600200"/>
            <a:ext cx="1333500" cy="590550"/>
          </a:xfrm>
          <a:prstGeom prst="rect">
            <a:avLst/>
          </a:prstGeom>
          <a:solidFill>
            <a:srgbClr val="1E3A8A"/>
          </a:solidFill>
          <a:ln w="9525">
            <a:solidFill>
              <a:srgbClr val="E2E8F0"/>
            </a:solidFill>
            <a:prstDash val="solid"/>
          </a:ln>
        </p:spPr>
        <p:txBody>
          <a:bodyPr/>
          <a:lstStyle/>
          <a:p>
            <a:endParaRPr lang="zh-CN" altLang="en-US"/>
          </a:p>
        </p:txBody>
      </p:sp>
      <p:sp>
        <p:nvSpPr>
          <p:cNvPr id="8" name="矩形 7">
            <a:extLst>
              <a:ext uri="{FF2B5EF4-FFF2-40B4-BE49-F238E27FC236}">
                <a16:creationId xmlns:a16="http://schemas.microsoft.com/office/drawing/2014/main" id="{2569580F-8816-4B11-B104-9EDAE620B2B7}"/>
              </a:ext>
            </a:extLst>
          </p:cNvPr>
          <p:cNvSpPr>
            <a:spLocks noGrp="1"/>
          </p:cNvSpPr>
          <p:nvPr/>
        </p:nvSpPr>
        <p:spPr>
          <a:xfrm>
            <a:off x="8477250" y="1676400"/>
            <a:ext cx="1143000" cy="476250"/>
          </a:xfrm>
          <a:prstGeom prst="rect">
            <a:avLst/>
          </a:prstGeom>
          <a:noFill/>
          <a:ln w="0">
            <a:noFill/>
            <a:prstDash val="solid"/>
          </a:ln>
        </p:spPr>
        <p:txBody>
          <a:bodyPr/>
          <a:lstStyle/>
          <a:p>
            <a:pPr algn="ctr">
              <a:defRPr sz="1425" b="1" i="0">
                <a:solidFill>
                  <a:srgbClr val="FFFFFF"/>
                </a:solidFill>
              </a:defRPr>
            </a:pPr>
            <a:r>
              <a:rPr sz="1425" b="1" i="0">
                <a:solidFill>
                  <a:srgbClr val="FFFFFF"/>
                </a:solidFill>
              </a:rPr>
              <a:t>预测 0</a:t>
            </a:r>
          </a:p>
        </p:txBody>
      </p:sp>
      <p:sp>
        <p:nvSpPr>
          <p:cNvPr id="9" name="矩形 8">
            <a:extLst>
              <a:ext uri="{FF2B5EF4-FFF2-40B4-BE49-F238E27FC236}">
                <a16:creationId xmlns:a16="http://schemas.microsoft.com/office/drawing/2014/main" id="{2E2BAC0B-9C00-48E8-82F6-EC1204856518}"/>
              </a:ext>
            </a:extLst>
          </p:cNvPr>
          <p:cNvSpPr>
            <a:spLocks noGrp="1"/>
          </p:cNvSpPr>
          <p:nvPr/>
        </p:nvSpPr>
        <p:spPr>
          <a:xfrm>
            <a:off x="9715500" y="1600200"/>
            <a:ext cx="1333500" cy="590550"/>
          </a:xfrm>
          <a:prstGeom prst="rect">
            <a:avLst/>
          </a:prstGeom>
          <a:solidFill>
            <a:srgbClr val="1E3A8A"/>
          </a:solidFill>
          <a:ln w="9525">
            <a:solidFill>
              <a:srgbClr val="E2E8F0"/>
            </a:solidFill>
            <a:prstDash val="solid"/>
          </a:ln>
        </p:spPr>
        <p:txBody>
          <a:bodyPr/>
          <a:lstStyle/>
          <a:p>
            <a:endParaRPr lang="zh-CN" altLang="en-US"/>
          </a:p>
        </p:txBody>
      </p:sp>
      <p:sp>
        <p:nvSpPr>
          <p:cNvPr id="10" name="矩形 9">
            <a:extLst>
              <a:ext uri="{FF2B5EF4-FFF2-40B4-BE49-F238E27FC236}">
                <a16:creationId xmlns:a16="http://schemas.microsoft.com/office/drawing/2014/main" id="{6F3F6493-0D67-45A9-B79A-987594097E56}"/>
              </a:ext>
            </a:extLst>
          </p:cNvPr>
          <p:cNvSpPr>
            <a:spLocks noGrp="1"/>
          </p:cNvSpPr>
          <p:nvPr/>
        </p:nvSpPr>
        <p:spPr>
          <a:xfrm>
            <a:off x="9810750" y="1676400"/>
            <a:ext cx="1143000" cy="476250"/>
          </a:xfrm>
          <a:prstGeom prst="rect">
            <a:avLst/>
          </a:prstGeom>
          <a:noFill/>
          <a:ln w="0">
            <a:noFill/>
            <a:prstDash val="solid"/>
          </a:ln>
        </p:spPr>
        <p:txBody>
          <a:bodyPr/>
          <a:lstStyle/>
          <a:p>
            <a:pPr algn="ctr">
              <a:defRPr sz="1425" b="1" i="0">
                <a:solidFill>
                  <a:srgbClr val="FFFFFF"/>
                </a:solidFill>
              </a:defRPr>
            </a:pPr>
            <a:r>
              <a:rPr sz="1425" b="1" i="0">
                <a:solidFill>
                  <a:srgbClr val="FFFFFF"/>
                </a:solidFill>
              </a:rPr>
              <a:t>预测 1</a:t>
            </a:r>
          </a:p>
        </p:txBody>
      </p:sp>
      <p:sp>
        <p:nvSpPr>
          <p:cNvPr id="11" name="矩形 10">
            <a:extLst>
              <a:ext uri="{FF2B5EF4-FFF2-40B4-BE49-F238E27FC236}">
                <a16:creationId xmlns:a16="http://schemas.microsoft.com/office/drawing/2014/main" id="{332AF0DB-FDB3-473D-AD3A-F4EF55A9B763}"/>
              </a:ext>
            </a:extLst>
          </p:cNvPr>
          <p:cNvSpPr>
            <a:spLocks noGrp="1"/>
          </p:cNvSpPr>
          <p:nvPr/>
        </p:nvSpPr>
        <p:spPr>
          <a:xfrm>
            <a:off x="6572250" y="2190750"/>
            <a:ext cx="1809750" cy="590550"/>
          </a:xfrm>
          <a:prstGeom prst="rect">
            <a:avLst/>
          </a:prstGeom>
          <a:solidFill>
            <a:srgbClr val="FFFFFF"/>
          </a:solidFill>
          <a:ln w="9525">
            <a:solidFill>
              <a:srgbClr val="E2E8F0"/>
            </a:solidFill>
            <a:prstDash val="solid"/>
          </a:ln>
        </p:spPr>
        <p:txBody>
          <a:bodyPr/>
          <a:lstStyle/>
          <a:p>
            <a:endParaRPr lang="zh-CN" altLang="en-US"/>
          </a:p>
        </p:txBody>
      </p:sp>
      <p:sp>
        <p:nvSpPr>
          <p:cNvPr id="12" name="矩形 11">
            <a:extLst>
              <a:ext uri="{FF2B5EF4-FFF2-40B4-BE49-F238E27FC236}">
                <a16:creationId xmlns:a16="http://schemas.microsoft.com/office/drawing/2014/main" id="{2B18FFBC-8B2A-40BB-89ED-739213103A6E}"/>
              </a:ext>
            </a:extLst>
          </p:cNvPr>
          <p:cNvSpPr>
            <a:spLocks noGrp="1"/>
          </p:cNvSpPr>
          <p:nvPr/>
        </p:nvSpPr>
        <p:spPr>
          <a:xfrm>
            <a:off x="6667500" y="2266950"/>
            <a:ext cx="1619250" cy="476250"/>
          </a:xfrm>
          <a:prstGeom prst="rect">
            <a:avLst/>
          </a:prstGeom>
          <a:noFill/>
          <a:ln w="0">
            <a:noFill/>
            <a:prstDash val="solid"/>
          </a:ln>
        </p:spPr>
        <p:txBody>
          <a:bodyPr/>
          <a:lstStyle/>
          <a:p>
            <a:pPr algn="l">
              <a:defRPr sz="1425" b="0" i="0">
                <a:solidFill>
                  <a:srgbClr val="0F172A"/>
                </a:solidFill>
              </a:defRPr>
            </a:pPr>
            <a:r>
              <a:rPr sz="1425" b="0" i="0">
                <a:solidFill>
                  <a:srgbClr val="0F172A"/>
                </a:solidFill>
              </a:rPr>
              <a:t>真实 0</a:t>
            </a:r>
          </a:p>
        </p:txBody>
      </p:sp>
      <p:sp>
        <p:nvSpPr>
          <p:cNvPr id="13" name="矩形 12">
            <a:extLst>
              <a:ext uri="{FF2B5EF4-FFF2-40B4-BE49-F238E27FC236}">
                <a16:creationId xmlns:a16="http://schemas.microsoft.com/office/drawing/2014/main" id="{22867101-F51E-46AD-BE24-4C9E1BC9289E}"/>
              </a:ext>
            </a:extLst>
          </p:cNvPr>
          <p:cNvSpPr>
            <a:spLocks noGrp="1"/>
          </p:cNvSpPr>
          <p:nvPr/>
        </p:nvSpPr>
        <p:spPr>
          <a:xfrm>
            <a:off x="8382000" y="2190750"/>
            <a:ext cx="1333500" cy="590550"/>
          </a:xfrm>
          <a:prstGeom prst="rect">
            <a:avLst/>
          </a:prstGeom>
          <a:solidFill>
            <a:srgbClr val="FFFFFF"/>
          </a:solidFill>
          <a:ln w="9525">
            <a:solidFill>
              <a:srgbClr val="E2E8F0"/>
            </a:solidFill>
            <a:prstDash val="solid"/>
          </a:ln>
        </p:spPr>
        <p:txBody>
          <a:bodyPr/>
          <a:lstStyle/>
          <a:p>
            <a:endParaRPr lang="zh-CN" altLang="en-US"/>
          </a:p>
        </p:txBody>
      </p:sp>
      <p:sp>
        <p:nvSpPr>
          <p:cNvPr id="14" name="矩形 13">
            <a:extLst>
              <a:ext uri="{FF2B5EF4-FFF2-40B4-BE49-F238E27FC236}">
                <a16:creationId xmlns:a16="http://schemas.microsoft.com/office/drawing/2014/main" id="{C605678B-3EC6-4B91-9795-CAF0DA71F524}"/>
              </a:ext>
            </a:extLst>
          </p:cNvPr>
          <p:cNvSpPr>
            <a:spLocks noGrp="1"/>
          </p:cNvSpPr>
          <p:nvPr/>
        </p:nvSpPr>
        <p:spPr>
          <a:xfrm>
            <a:off x="8477250" y="2266950"/>
            <a:ext cx="1143000" cy="476250"/>
          </a:xfrm>
          <a:prstGeom prst="rect">
            <a:avLst/>
          </a:prstGeom>
          <a:noFill/>
          <a:ln w="0">
            <a:noFill/>
            <a:prstDash val="solid"/>
          </a:ln>
        </p:spPr>
        <p:txBody>
          <a:bodyPr/>
          <a:lstStyle/>
          <a:p>
            <a:pPr algn="ctr">
              <a:defRPr sz="1425" b="0" i="0">
                <a:solidFill>
                  <a:srgbClr val="0F172A"/>
                </a:solidFill>
              </a:defRPr>
            </a:pPr>
            <a:r>
              <a:rPr sz="1425" b="0" i="0">
                <a:solidFill>
                  <a:srgbClr val="0F172A"/>
                </a:solidFill>
              </a:rPr>
              <a:t>1155</a:t>
            </a:r>
          </a:p>
        </p:txBody>
      </p:sp>
      <p:sp>
        <p:nvSpPr>
          <p:cNvPr id="15" name="矩形 14">
            <a:extLst>
              <a:ext uri="{FF2B5EF4-FFF2-40B4-BE49-F238E27FC236}">
                <a16:creationId xmlns:a16="http://schemas.microsoft.com/office/drawing/2014/main" id="{8B5A9877-615E-4D3F-A021-14B6AB723A17}"/>
              </a:ext>
            </a:extLst>
          </p:cNvPr>
          <p:cNvSpPr>
            <a:spLocks noGrp="1"/>
          </p:cNvSpPr>
          <p:nvPr/>
        </p:nvSpPr>
        <p:spPr>
          <a:xfrm>
            <a:off x="9715500" y="2190750"/>
            <a:ext cx="1333500" cy="590550"/>
          </a:xfrm>
          <a:prstGeom prst="rect">
            <a:avLst/>
          </a:prstGeom>
          <a:solidFill>
            <a:srgbClr val="FFFFFF"/>
          </a:solidFill>
          <a:ln w="9525">
            <a:solidFill>
              <a:srgbClr val="E2E8F0"/>
            </a:solidFill>
            <a:prstDash val="solid"/>
          </a:ln>
        </p:spPr>
        <p:txBody>
          <a:bodyPr/>
          <a:lstStyle/>
          <a:p>
            <a:endParaRPr lang="zh-CN" altLang="en-US"/>
          </a:p>
        </p:txBody>
      </p:sp>
      <p:sp>
        <p:nvSpPr>
          <p:cNvPr id="16" name="矩形 15">
            <a:extLst>
              <a:ext uri="{FF2B5EF4-FFF2-40B4-BE49-F238E27FC236}">
                <a16:creationId xmlns:a16="http://schemas.microsoft.com/office/drawing/2014/main" id="{C45B9C0B-14B6-4059-81C4-55E02C597A3B}"/>
              </a:ext>
            </a:extLst>
          </p:cNvPr>
          <p:cNvSpPr>
            <a:spLocks noGrp="1"/>
          </p:cNvSpPr>
          <p:nvPr/>
        </p:nvSpPr>
        <p:spPr>
          <a:xfrm>
            <a:off x="9810750" y="2266950"/>
            <a:ext cx="1143000" cy="476250"/>
          </a:xfrm>
          <a:prstGeom prst="rect">
            <a:avLst/>
          </a:prstGeom>
          <a:noFill/>
          <a:ln w="0">
            <a:noFill/>
            <a:prstDash val="solid"/>
          </a:ln>
        </p:spPr>
        <p:txBody>
          <a:bodyPr/>
          <a:lstStyle/>
          <a:p>
            <a:pPr algn="ctr">
              <a:defRPr sz="1425" b="0" i="0">
                <a:solidFill>
                  <a:srgbClr val="0F172A"/>
                </a:solidFill>
              </a:defRPr>
            </a:pPr>
            <a:r>
              <a:rPr sz="1425" b="0" i="0">
                <a:solidFill>
                  <a:srgbClr val="0F172A"/>
                </a:solidFill>
              </a:rPr>
              <a:t>345</a:t>
            </a:r>
          </a:p>
        </p:txBody>
      </p:sp>
      <p:sp>
        <p:nvSpPr>
          <p:cNvPr id="17" name="矩形 16">
            <a:extLst>
              <a:ext uri="{FF2B5EF4-FFF2-40B4-BE49-F238E27FC236}">
                <a16:creationId xmlns:a16="http://schemas.microsoft.com/office/drawing/2014/main" id="{8F5B6BA7-2069-4706-A458-360E9BD30E85}"/>
              </a:ext>
            </a:extLst>
          </p:cNvPr>
          <p:cNvSpPr>
            <a:spLocks noGrp="1"/>
          </p:cNvSpPr>
          <p:nvPr/>
        </p:nvSpPr>
        <p:spPr>
          <a:xfrm>
            <a:off x="6572250" y="2781300"/>
            <a:ext cx="1809750" cy="590550"/>
          </a:xfrm>
          <a:prstGeom prst="rect">
            <a:avLst/>
          </a:prstGeom>
          <a:solidFill>
            <a:srgbClr val="F8FAFC"/>
          </a:solidFill>
          <a:ln w="9525">
            <a:solidFill>
              <a:srgbClr val="E2E8F0"/>
            </a:solidFill>
            <a:prstDash val="solid"/>
          </a:ln>
        </p:spPr>
        <p:txBody>
          <a:bodyPr/>
          <a:lstStyle/>
          <a:p>
            <a:endParaRPr lang="zh-CN" altLang="en-US"/>
          </a:p>
        </p:txBody>
      </p:sp>
      <p:sp>
        <p:nvSpPr>
          <p:cNvPr id="18" name="矩形 17">
            <a:extLst>
              <a:ext uri="{FF2B5EF4-FFF2-40B4-BE49-F238E27FC236}">
                <a16:creationId xmlns:a16="http://schemas.microsoft.com/office/drawing/2014/main" id="{EF04B1D4-D7BF-432B-9343-7756CAFD7A66}"/>
              </a:ext>
            </a:extLst>
          </p:cNvPr>
          <p:cNvSpPr>
            <a:spLocks noGrp="1"/>
          </p:cNvSpPr>
          <p:nvPr/>
        </p:nvSpPr>
        <p:spPr>
          <a:xfrm>
            <a:off x="6667500" y="2857500"/>
            <a:ext cx="1619250" cy="476250"/>
          </a:xfrm>
          <a:prstGeom prst="rect">
            <a:avLst/>
          </a:prstGeom>
          <a:noFill/>
          <a:ln w="0">
            <a:noFill/>
            <a:prstDash val="solid"/>
          </a:ln>
        </p:spPr>
        <p:txBody>
          <a:bodyPr/>
          <a:lstStyle/>
          <a:p>
            <a:pPr algn="l">
              <a:defRPr sz="1425" b="0" i="0">
                <a:solidFill>
                  <a:srgbClr val="0F172A"/>
                </a:solidFill>
              </a:defRPr>
            </a:pPr>
            <a:r>
              <a:rPr sz="1425" b="0" i="0">
                <a:solidFill>
                  <a:srgbClr val="0F172A"/>
                </a:solidFill>
              </a:rPr>
              <a:t>真实 1</a:t>
            </a:r>
          </a:p>
        </p:txBody>
      </p:sp>
      <p:sp>
        <p:nvSpPr>
          <p:cNvPr id="19" name="矩形 18">
            <a:extLst>
              <a:ext uri="{FF2B5EF4-FFF2-40B4-BE49-F238E27FC236}">
                <a16:creationId xmlns:a16="http://schemas.microsoft.com/office/drawing/2014/main" id="{74001227-A6D0-4B12-A53D-6235F0FB443F}"/>
              </a:ext>
            </a:extLst>
          </p:cNvPr>
          <p:cNvSpPr>
            <a:spLocks noGrp="1"/>
          </p:cNvSpPr>
          <p:nvPr/>
        </p:nvSpPr>
        <p:spPr>
          <a:xfrm>
            <a:off x="8382000" y="2781300"/>
            <a:ext cx="1333500" cy="590550"/>
          </a:xfrm>
          <a:prstGeom prst="rect">
            <a:avLst/>
          </a:prstGeom>
          <a:solidFill>
            <a:srgbClr val="F8FAFC"/>
          </a:solidFill>
          <a:ln w="9525">
            <a:solidFill>
              <a:srgbClr val="E2E8F0"/>
            </a:solidFill>
            <a:prstDash val="solid"/>
          </a:ln>
        </p:spPr>
        <p:txBody>
          <a:bodyPr/>
          <a:lstStyle/>
          <a:p>
            <a:endParaRPr lang="zh-CN" altLang="en-US"/>
          </a:p>
        </p:txBody>
      </p:sp>
      <p:sp>
        <p:nvSpPr>
          <p:cNvPr id="20" name="矩形 19">
            <a:extLst>
              <a:ext uri="{FF2B5EF4-FFF2-40B4-BE49-F238E27FC236}">
                <a16:creationId xmlns:a16="http://schemas.microsoft.com/office/drawing/2014/main" id="{0DC3C730-FC24-4620-BF92-8040CC10FE3F}"/>
              </a:ext>
            </a:extLst>
          </p:cNvPr>
          <p:cNvSpPr>
            <a:spLocks noGrp="1"/>
          </p:cNvSpPr>
          <p:nvPr/>
        </p:nvSpPr>
        <p:spPr>
          <a:xfrm>
            <a:off x="8477250" y="2857500"/>
            <a:ext cx="1143000" cy="476250"/>
          </a:xfrm>
          <a:prstGeom prst="rect">
            <a:avLst/>
          </a:prstGeom>
          <a:noFill/>
          <a:ln w="0">
            <a:noFill/>
            <a:prstDash val="solid"/>
          </a:ln>
        </p:spPr>
        <p:txBody>
          <a:bodyPr/>
          <a:lstStyle/>
          <a:p>
            <a:pPr algn="ctr">
              <a:defRPr sz="1425" b="0" i="0">
                <a:solidFill>
                  <a:srgbClr val="0F172A"/>
                </a:solidFill>
              </a:defRPr>
            </a:pPr>
            <a:r>
              <a:rPr sz="1425" b="0" i="0">
                <a:solidFill>
                  <a:srgbClr val="0F172A"/>
                </a:solidFill>
              </a:rPr>
              <a:t>231</a:t>
            </a:r>
          </a:p>
        </p:txBody>
      </p:sp>
      <p:sp>
        <p:nvSpPr>
          <p:cNvPr id="21" name="矩形 20">
            <a:extLst>
              <a:ext uri="{FF2B5EF4-FFF2-40B4-BE49-F238E27FC236}">
                <a16:creationId xmlns:a16="http://schemas.microsoft.com/office/drawing/2014/main" id="{4F8E4F02-B949-4634-9E2A-5CD5FEEA37A4}"/>
              </a:ext>
            </a:extLst>
          </p:cNvPr>
          <p:cNvSpPr>
            <a:spLocks noGrp="1"/>
          </p:cNvSpPr>
          <p:nvPr/>
        </p:nvSpPr>
        <p:spPr>
          <a:xfrm>
            <a:off x="9715500" y="2781300"/>
            <a:ext cx="1333500" cy="590550"/>
          </a:xfrm>
          <a:prstGeom prst="rect">
            <a:avLst/>
          </a:prstGeom>
          <a:solidFill>
            <a:srgbClr val="F8FAFC"/>
          </a:solidFill>
          <a:ln w="9525">
            <a:solidFill>
              <a:srgbClr val="E2E8F0"/>
            </a:solidFill>
            <a:prstDash val="solid"/>
          </a:ln>
        </p:spPr>
        <p:txBody>
          <a:bodyPr/>
          <a:lstStyle/>
          <a:p>
            <a:endParaRPr lang="zh-CN" altLang="en-US"/>
          </a:p>
        </p:txBody>
      </p:sp>
      <p:sp>
        <p:nvSpPr>
          <p:cNvPr id="22" name="矩形 21">
            <a:extLst>
              <a:ext uri="{FF2B5EF4-FFF2-40B4-BE49-F238E27FC236}">
                <a16:creationId xmlns:a16="http://schemas.microsoft.com/office/drawing/2014/main" id="{3D5AA4D3-01BA-4CB4-978A-3424A9D9BE6E}"/>
              </a:ext>
            </a:extLst>
          </p:cNvPr>
          <p:cNvSpPr>
            <a:spLocks noGrp="1"/>
          </p:cNvSpPr>
          <p:nvPr/>
        </p:nvSpPr>
        <p:spPr>
          <a:xfrm>
            <a:off x="9810750" y="2857500"/>
            <a:ext cx="1143000" cy="476250"/>
          </a:xfrm>
          <a:prstGeom prst="rect">
            <a:avLst/>
          </a:prstGeom>
          <a:noFill/>
          <a:ln w="0">
            <a:noFill/>
            <a:prstDash val="solid"/>
          </a:ln>
        </p:spPr>
        <p:txBody>
          <a:bodyPr/>
          <a:lstStyle/>
          <a:p>
            <a:pPr algn="ctr">
              <a:defRPr sz="1425" b="0" i="0">
                <a:solidFill>
                  <a:srgbClr val="0F172A"/>
                </a:solidFill>
              </a:defRPr>
            </a:pPr>
            <a:r>
              <a:rPr sz="1425" b="0" i="0">
                <a:solidFill>
                  <a:srgbClr val="0F172A"/>
                </a:solidFill>
              </a:rPr>
              <a:t>1269</a:t>
            </a:r>
          </a:p>
        </p:txBody>
      </p:sp>
      <p:sp>
        <p:nvSpPr>
          <p:cNvPr id="23" name="矩形 22">
            <a:extLst>
              <a:ext uri="{FF2B5EF4-FFF2-40B4-BE49-F238E27FC236}">
                <a16:creationId xmlns:a16="http://schemas.microsoft.com/office/drawing/2014/main" id="{22A4E232-B66F-4BEF-A24C-EF18464D3A21}"/>
              </a:ext>
            </a:extLst>
          </p:cNvPr>
          <p:cNvSpPr>
            <a:spLocks noGrp="1"/>
          </p:cNvSpPr>
          <p:nvPr/>
        </p:nvSpPr>
        <p:spPr>
          <a:xfrm>
            <a:off x="6572250" y="1600200"/>
            <a:ext cx="4476750" cy="1771650"/>
          </a:xfrm>
          <a:prstGeom prst="rect">
            <a:avLst/>
          </a:prstGeom>
          <a:noFill/>
          <a:ln w="9525">
            <a:solidFill>
              <a:srgbClr val="E2E8F0"/>
            </a:solidFill>
            <a:prstDash val="solid"/>
          </a:ln>
        </p:spPr>
        <p:txBody>
          <a:bodyPr/>
          <a:lstStyle/>
          <a:p>
            <a:endParaRPr lang="zh-CN" altLang="en-US"/>
          </a:p>
        </p:txBody>
      </p:sp>
      <p:sp>
        <p:nvSpPr>
          <p:cNvPr id="24" name="矩形: 圆角 23">
            <a:extLst>
              <a:ext uri="{FF2B5EF4-FFF2-40B4-BE49-F238E27FC236}">
                <a16:creationId xmlns:a16="http://schemas.microsoft.com/office/drawing/2014/main" id="{D3FB3EC8-FE64-42A1-845E-5D9F3B6AFB6C}"/>
              </a:ext>
            </a:extLst>
          </p:cNvPr>
          <p:cNvSpPr>
            <a:spLocks noGrp="1"/>
          </p:cNvSpPr>
          <p:nvPr/>
        </p:nvSpPr>
        <p:spPr>
          <a:xfrm>
            <a:off x="6591300" y="4000500"/>
            <a:ext cx="2190750"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EA4DCFF0-FFA1-491D-8D84-BE29AC8316AF}"/>
              </a:ext>
            </a:extLst>
          </p:cNvPr>
          <p:cNvSpPr>
            <a:spLocks noGrp="1"/>
          </p:cNvSpPr>
          <p:nvPr/>
        </p:nvSpPr>
        <p:spPr>
          <a:xfrm>
            <a:off x="6591300" y="4000500"/>
            <a:ext cx="57150" cy="1123950"/>
          </a:xfrm>
          <a:prstGeom prst="rect">
            <a:avLst/>
          </a:prstGeom>
          <a:solidFill>
            <a:srgbClr val="16A34A"/>
          </a:solidFill>
          <a:ln w="0">
            <a:noFill/>
            <a:prstDash val="solid"/>
          </a:ln>
        </p:spPr>
        <p:txBody>
          <a:bodyPr/>
          <a:lstStyle/>
          <a:p>
            <a:endParaRPr lang="zh-CN" altLang="en-US"/>
          </a:p>
        </p:txBody>
      </p:sp>
      <p:sp>
        <p:nvSpPr>
          <p:cNvPr id="26" name="矩形 25">
            <a:extLst>
              <a:ext uri="{FF2B5EF4-FFF2-40B4-BE49-F238E27FC236}">
                <a16:creationId xmlns:a16="http://schemas.microsoft.com/office/drawing/2014/main" id="{74DA334C-7177-4F3C-90DE-C0AD665D5B4D}"/>
              </a:ext>
            </a:extLst>
          </p:cNvPr>
          <p:cNvSpPr>
            <a:spLocks noGrp="1"/>
          </p:cNvSpPr>
          <p:nvPr/>
        </p:nvSpPr>
        <p:spPr>
          <a:xfrm>
            <a:off x="6819900" y="4171950"/>
            <a:ext cx="1733550" cy="428625"/>
          </a:xfrm>
          <a:prstGeom prst="rect">
            <a:avLst/>
          </a:prstGeom>
          <a:noFill/>
          <a:ln w="0">
            <a:noFill/>
            <a:prstDash val="solid"/>
          </a:ln>
        </p:spPr>
        <p:txBody>
          <a:bodyPr/>
          <a:lstStyle/>
          <a:p>
            <a:pPr algn="l">
              <a:defRPr sz="2550" b="1" i="0">
                <a:solidFill>
                  <a:srgbClr val="16A34A"/>
                </a:solidFill>
              </a:defRPr>
            </a:pPr>
            <a:r>
              <a:rPr sz="2550" b="1" i="0">
                <a:solidFill>
                  <a:srgbClr val="16A34A"/>
                </a:solidFill>
              </a:rPr>
              <a:t>2,424</a:t>
            </a:r>
          </a:p>
        </p:txBody>
      </p:sp>
      <p:sp>
        <p:nvSpPr>
          <p:cNvPr id="27" name="矩形 26">
            <a:extLst>
              <a:ext uri="{FF2B5EF4-FFF2-40B4-BE49-F238E27FC236}">
                <a16:creationId xmlns:a16="http://schemas.microsoft.com/office/drawing/2014/main" id="{A0880E98-ACBE-4BF1-9474-B2BC661DB6BA}"/>
              </a:ext>
            </a:extLst>
          </p:cNvPr>
          <p:cNvSpPr>
            <a:spLocks noGrp="1"/>
          </p:cNvSpPr>
          <p:nvPr/>
        </p:nvSpPr>
        <p:spPr>
          <a:xfrm>
            <a:off x="6819900" y="4629150"/>
            <a:ext cx="1733550"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正确预测</a:t>
            </a:r>
          </a:p>
        </p:txBody>
      </p:sp>
      <p:sp>
        <p:nvSpPr>
          <p:cNvPr id="28" name="矩形 27">
            <a:extLst>
              <a:ext uri="{FF2B5EF4-FFF2-40B4-BE49-F238E27FC236}">
                <a16:creationId xmlns:a16="http://schemas.microsoft.com/office/drawing/2014/main" id="{252B1ABB-7441-49DA-B2EF-F6B14D889647}"/>
              </a:ext>
            </a:extLst>
          </p:cNvPr>
          <p:cNvSpPr>
            <a:spLocks noGrp="1"/>
          </p:cNvSpPr>
          <p:nvPr/>
        </p:nvSpPr>
        <p:spPr>
          <a:xfrm>
            <a:off x="6819900" y="4876800"/>
            <a:ext cx="1733550" cy="19050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共 3,000 条</a:t>
            </a:r>
          </a:p>
        </p:txBody>
      </p:sp>
      <p:sp>
        <p:nvSpPr>
          <p:cNvPr id="29" name="矩形: 圆角 28">
            <a:extLst>
              <a:ext uri="{FF2B5EF4-FFF2-40B4-BE49-F238E27FC236}">
                <a16:creationId xmlns:a16="http://schemas.microsoft.com/office/drawing/2014/main" id="{BBE5A127-C555-43BF-9990-561C4931AE33}"/>
              </a:ext>
            </a:extLst>
          </p:cNvPr>
          <p:cNvSpPr>
            <a:spLocks noGrp="1"/>
          </p:cNvSpPr>
          <p:nvPr/>
        </p:nvSpPr>
        <p:spPr>
          <a:xfrm>
            <a:off x="9105900" y="4000500"/>
            <a:ext cx="2190750" cy="1123950"/>
          </a:xfrm>
          <a:prstGeom prst="roundRect">
            <a:avLst>
              <a:gd name="adj" fmla="val 10169"/>
            </a:avLst>
          </a:prstGeom>
          <a:solidFill>
            <a:srgbClr val="FFFFFF"/>
          </a:solidFill>
          <a:ln w="9525">
            <a:solidFill>
              <a:srgbClr val="E2E8F0"/>
            </a:solidFill>
            <a:prstDash val="solid"/>
          </a:ln>
        </p:spPr>
        <p:txBody>
          <a:bodyPr/>
          <a:lstStyle/>
          <a:p>
            <a:endParaRPr lang="zh-CN" altLang="en-US"/>
          </a:p>
        </p:txBody>
      </p:sp>
      <p:sp>
        <p:nvSpPr>
          <p:cNvPr id="30" name="矩形 29">
            <a:extLst>
              <a:ext uri="{FF2B5EF4-FFF2-40B4-BE49-F238E27FC236}">
                <a16:creationId xmlns:a16="http://schemas.microsoft.com/office/drawing/2014/main" id="{EF8C383D-0688-47B7-82E6-D7B079F60A33}"/>
              </a:ext>
            </a:extLst>
          </p:cNvPr>
          <p:cNvSpPr>
            <a:spLocks noGrp="1"/>
          </p:cNvSpPr>
          <p:nvPr/>
        </p:nvSpPr>
        <p:spPr>
          <a:xfrm>
            <a:off x="9105900" y="4000500"/>
            <a:ext cx="57150" cy="1123950"/>
          </a:xfrm>
          <a:prstGeom prst="rect">
            <a:avLst/>
          </a:prstGeom>
          <a:solidFill>
            <a:srgbClr val="DC2626"/>
          </a:solidFill>
          <a:ln w="0">
            <a:noFill/>
            <a:prstDash val="solid"/>
          </a:ln>
        </p:spPr>
        <p:txBody>
          <a:bodyPr/>
          <a:lstStyle/>
          <a:p>
            <a:endParaRPr lang="zh-CN" altLang="en-US"/>
          </a:p>
        </p:txBody>
      </p:sp>
      <p:sp>
        <p:nvSpPr>
          <p:cNvPr id="31" name="矩形 30">
            <a:extLst>
              <a:ext uri="{FF2B5EF4-FFF2-40B4-BE49-F238E27FC236}">
                <a16:creationId xmlns:a16="http://schemas.microsoft.com/office/drawing/2014/main" id="{5C43DFE4-8F6D-4041-B08F-9B2FB926A45C}"/>
              </a:ext>
            </a:extLst>
          </p:cNvPr>
          <p:cNvSpPr>
            <a:spLocks noGrp="1"/>
          </p:cNvSpPr>
          <p:nvPr/>
        </p:nvSpPr>
        <p:spPr>
          <a:xfrm>
            <a:off x="9334500" y="4171950"/>
            <a:ext cx="1733550" cy="428625"/>
          </a:xfrm>
          <a:prstGeom prst="rect">
            <a:avLst/>
          </a:prstGeom>
          <a:noFill/>
          <a:ln w="0">
            <a:noFill/>
            <a:prstDash val="solid"/>
          </a:ln>
        </p:spPr>
        <p:txBody>
          <a:bodyPr/>
          <a:lstStyle/>
          <a:p>
            <a:pPr algn="l">
              <a:defRPr sz="2550" b="1" i="0">
                <a:solidFill>
                  <a:srgbClr val="DC2626"/>
                </a:solidFill>
              </a:defRPr>
            </a:pPr>
            <a:r>
              <a:rPr sz="2550" b="1" i="0">
                <a:solidFill>
                  <a:srgbClr val="DC2626"/>
                </a:solidFill>
              </a:rPr>
              <a:t>576</a:t>
            </a:r>
          </a:p>
        </p:txBody>
      </p:sp>
      <p:sp>
        <p:nvSpPr>
          <p:cNvPr id="32" name="矩形 31">
            <a:extLst>
              <a:ext uri="{FF2B5EF4-FFF2-40B4-BE49-F238E27FC236}">
                <a16:creationId xmlns:a16="http://schemas.microsoft.com/office/drawing/2014/main" id="{499418E3-6DC7-4248-938E-5F5EB0E15DD5}"/>
              </a:ext>
            </a:extLst>
          </p:cNvPr>
          <p:cNvSpPr>
            <a:spLocks noGrp="1"/>
          </p:cNvSpPr>
          <p:nvPr/>
        </p:nvSpPr>
        <p:spPr>
          <a:xfrm>
            <a:off x="9334500" y="4629150"/>
            <a:ext cx="1733550" cy="266700"/>
          </a:xfrm>
          <a:prstGeom prst="rect">
            <a:avLst/>
          </a:prstGeom>
          <a:noFill/>
          <a:ln w="0">
            <a:noFill/>
            <a:prstDash val="solid"/>
          </a:ln>
        </p:spPr>
        <p:txBody>
          <a:bodyPr/>
          <a:lstStyle/>
          <a:p>
            <a:pPr algn="l">
              <a:defRPr sz="1350" b="1" i="0">
                <a:solidFill>
                  <a:srgbClr val="0F172A"/>
                </a:solidFill>
              </a:defRPr>
            </a:pPr>
            <a:r>
              <a:rPr sz="1350" b="1" i="0">
                <a:solidFill>
                  <a:srgbClr val="0F172A"/>
                </a:solidFill>
              </a:rPr>
              <a:t>错误预测</a:t>
            </a:r>
          </a:p>
        </p:txBody>
      </p:sp>
      <p:sp>
        <p:nvSpPr>
          <p:cNvPr id="33" name="矩形 32">
            <a:extLst>
              <a:ext uri="{FF2B5EF4-FFF2-40B4-BE49-F238E27FC236}">
                <a16:creationId xmlns:a16="http://schemas.microsoft.com/office/drawing/2014/main" id="{55357EF6-9D36-4C7F-A49A-DE0E388581AF}"/>
              </a:ext>
            </a:extLst>
          </p:cNvPr>
          <p:cNvSpPr>
            <a:spLocks noGrp="1"/>
          </p:cNvSpPr>
          <p:nvPr/>
        </p:nvSpPr>
        <p:spPr>
          <a:xfrm>
            <a:off x="9334500" y="4876800"/>
            <a:ext cx="1733550" cy="190500"/>
          </a:xfrm>
          <a:prstGeom prst="rect">
            <a:avLst/>
          </a:prstGeom>
          <a:noFill/>
          <a:ln w="0">
            <a:noFill/>
            <a:prstDash val="solid"/>
          </a:ln>
        </p:spPr>
        <p:txBody>
          <a:bodyPr/>
          <a:lstStyle/>
          <a:p>
            <a:pPr algn="l">
              <a:defRPr sz="1200" b="0" i="0">
                <a:solidFill>
                  <a:srgbClr val="475569"/>
                </a:solidFill>
              </a:defRPr>
            </a:pPr>
            <a:r>
              <a:rPr sz="1200" b="0" i="0">
                <a:solidFill>
                  <a:srgbClr val="475569"/>
                </a:solidFill>
              </a:rPr>
              <a:t>FP 345 / FN 231</a:t>
            </a:r>
          </a:p>
        </p:txBody>
      </p:sp>
      <p:sp>
        <p:nvSpPr>
          <p:cNvPr id="34" name="矩形 33">
            <a:extLst>
              <a:ext uri="{FF2B5EF4-FFF2-40B4-BE49-F238E27FC236}">
                <a16:creationId xmlns:a16="http://schemas.microsoft.com/office/drawing/2014/main" id="{6FE833AF-AF63-4D91-AF07-3A1BEAE1F98A}"/>
              </a:ext>
            </a:extLst>
          </p:cNvPr>
          <p:cNvSpPr>
            <a:spLocks noGrp="1"/>
          </p:cNvSpPr>
          <p:nvPr/>
        </p:nvSpPr>
        <p:spPr>
          <a:xfrm>
            <a:off x="6610350" y="5410200"/>
            <a:ext cx="4619625" cy="3429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模型对正例召回较好，但仍会被主题高度相近的伪关键词干扰。</a:t>
            </a:r>
          </a:p>
        </p:txBody>
      </p:sp>
      <p:sp>
        <p:nvSpPr>
          <p:cNvPr id="35" name="矩形 34">
            <a:extLst>
              <a:ext uri="{FF2B5EF4-FFF2-40B4-BE49-F238E27FC236}">
                <a16:creationId xmlns:a16="http://schemas.microsoft.com/office/drawing/2014/main" id="{C3F8C481-3AB2-4000-97D6-8B125A05A502}"/>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36" name="矩形 35">
            <a:extLst>
              <a:ext uri="{FF2B5EF4-FFF2-40B4-BE49-F238E27FC236}">
                <a16:creationId xmlns:a16="http://schemas.microsoft.com/office/drawing/2014/main" id="{8926F068-8C8B-4A2D-8A39-005C00010B36}"/>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12</a:t>
            </a:r>
          </a:p>
        </p:txBody>
      </p:sp>
    </p:spTree>
    <p:extLst>
      <p:ext uri="{BB962C8B-B14F-4D97-AF65-F5344CB8AC3E}">
        <p14:creationId xmlns:p14="http://schemas.microsoft.com/office/powerpoint/2010/main" val="1640220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ABB917A4-5772-44E9-902F-BD926061F752}"/>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错误分析：Type I 与 Type II</a:t>
            </a:r>
          </a:p>
        </p:txBody>
      </p:sp>
      <p:sp>
        <p:nvSpPr>
          <p:cNvPr id="2" name="矩形 1">
            <a:extLst>
              <a:ext uri="{FF2B5EF4-FFF2-40B4-BE49-F238E27FC236}">
                <a16:creationId xmlns:a16="http://schemas.microsoft.com/office/drawing/2014/main" id="{808FAF9E-9E92-4405-A4ED-447E1EFA7661}"/>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C80C7F5F-D6BC-4C12-AA44-ABE3EE7675CB}"/>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定位模型优势和短板，比单看总分更重要</a:t>
            </a:r>
          </a:p>
        </p:txBody>
      </p:sp>
      <p:sp>
        <p:nvSpPr>
          <p:cNvPr id="4" name="矩形: 圆角 3">
            <a:extLst>
              <a:ext uri="{FF2B5EF4-FFF2-40B4-BE49-F238E27FC236}">
                <a16:creationId xmlns:a16="http://schemas.microsoft.com/office/drawing/2014/main" id="{5BF8B073-9FF4-472D-9EAC-E1DE7B530EAC}"/>
              </a:ext>
            </a:extLst>
          </p:cNvPr>
          <p:cNvSpPr>
            <a:spLocks noGrp="1"/>
          </p:cNvSpPr>
          <p:nvPr/>
        </p:nvSpPr>
        <p:spPr>
          <a:xfrm>
            <a:off x="762000" y="1428750"/>
            <a:ext cx="4762500" cy="3524250"/>
          </a:xfrm>
          <a:prstGeom prst="roundRect">
            <a:avLst>
              <a:gd name="adj" fmla="val 3243"/>
            </a:avLst>
          </a:prstGeom>
          <a:solidFill>
            <a:srgbClr val="FFFFFF"/>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FFA6E151-89A0-4816-ADB3-83134835B419}"/>
              </a:ext>
            </a:extLst>
          </p:cNvPr>
          <p:cNvSpPr>
            <a:spLocks noGrp="1"/>
          </p:cNvSpPr>
          <p:nvPr/>
        </p:nvSpPr>
        <p:spPr>
          <a:xfrm>
            <a:off x="762000" y="1428750"/>
            <a:ext cx="4762500" cy="95250"/>
          </a:xfrm>
          <a:prstGeom prst="rect">
            <a:avLst/>
          </a:prstGeom>
          <a:solidFill>
            <a:srgbClr val="DC2626"/>
          </a:solidFill>
          <a:ln w="0">
            <a:noFill/>
            <a:prstDash val="solid"/>
          </a:ln>
        </p:spPr>
        <p:txBody>
          <a:bodyPr/>
          <a:lstStyle/>
          <a:p>
            <a:endParaRPr lang="zh-CN" altLang="en-US"/>
          </a:p>
        </p:txBody>
      </p:sp>
      <p:sp>
        <p:nvSpPr>
          <p:cNvPr id="6" name="矩形 5">
            <a:extLst>
              <a:ext uri="{FF2B5EF4-FFF2-40B4-BE49-F238E27FC236}">
                <a16:creationId xmlns:a16="http://schemas.microsoft.com/office/drawing/2014/main" id="{45A9C79A-0926-468C-91A9-71CFD2F85B49}"/>
              </a:ext>
            </a:extLst>
          </p:cNvPr>
          <p:cNvSpPr>
            <a:spLocks noGrp="1"/>
          </p:cNvSpPr>
          <p:nvPr/>
        </p:nvSpPr>
        <p:spPr>
          <a:xfrm>
            <a:off x="1047750" y="1809750"/>
            <a:ext cx="3714750" cy="304800"/>
          </a:xfrm>
          <a:prstGeom prst="rect">
            <a:avLst/>
          </a:prstGeom>
          <a:noFill/>
          <a:ln w="0">
            <a:noFill/>
            <a:prstDash val="solid"/>
          </a:ln>
        </p:spPr>
        <p:txBody>
          <a:bodyPr/>
          <a:lstStyle/>
          <a:p>
            <a:pPr algn="l">
              <a:defRPr sz="1800" b="1" i="0">
                <a:solidFill>
                  <a:srgbClr val="DC2626"/>
                </a:solidFill>
              </a:defRPr>
            </a:pPr>
            <a:r>
              <a:rPr sz="1800" b="1" i="0">
                <a:solidFill>
                  <a:srgbClr val="DC2626"/>
                </a:solidFill>
              </a:rPr>
              <a:t>Type I / False Positive：345</a:t>
            </a:r>
          </a:p>
        </p:txBody>
      </p:sp>
      <p:sp>
        <p:nvSpPr>
          <p:cNvPr id="7" name="矩形 6">
            <a:extLst>
              <a:ext uri="{FF2B5EF4-FFF2-40B4-BE49-F238E27FC236}">
                <a16:creationId xmlns:a16="http://schemas.microsoft.com/office/drawing/2014/main" id="{345A8397-66AE-4BAA-896B-C77DFF8714EC}"/>
              </a:ext>
            </a:extLst>
          </p:cNvPr>
          <p:cNvSpPr>
            <a:spLocks noGrp="1"/>
          </p:cNvSpPr>
          <p:nvPr/>
        </p:nvSpPr>
        <p:spPr>
          <a:xfrm>
            <a:off x="1047750" y="2343150"/>
            <a:ext cx="3905250" cy="609600"/>
          </a:xfrm>
          <a:prstGeom prst="rect">
            <a:avLst/>
          </a:prstGeom>
          <a:noFill/>
          <a:ln w="0">
            <a:noFill/>
            <a:prstDash val="solid"/>
          </a:ln>
        </p:spPr>
        <p:txBody>
          <a:bodyPr/>
          <a:lstStyle/>
          <a:p>
            <a:pPr algn="l">
              <a:defRPr sz="1500" b="0" i="0">
                <a:solidFill>
                  <a:srgbClr val="0F172A"/>
                </a:solidFill>
              </a:defRPr>
            </a:pPr>
            <a:r>
              <a:rPr sz="1500" b="0" i="0" dirty="0" err="1">
                <a:solidFill>
                  <a:srgbClr val="0F172A"/>
                </a:solidFill>
              </a:rPr>
              <a:t>真实为</a:t>
            </a:r>
            <a:r>
              <a:rPr sz="1500" b="0" i="0" dirty="0">
                <a:solidFill>
                  <a:srgbClr val="0F172A"/>
                </a:solidFill>
              </a:rPr>
              <a:t> 0，模型预测为 1。常见原因是伪关键词与摘要主题高度相关，但不是该论文真实关键词。</a:t>
            </a:r>
          </a:p>
        </p:txBody>
      </p:sp>
      <p:sp>
        <p:nvSpPr>
          <p:cNvPr id="8" name="矩形 7">
            <a:extLst>
              <a:ext uri="{FF2B5EF4-FFF2-40B4-BE49-F238E27FC236}">
                <a16:creationId xmlns:a16="http://schemas.microsoft.com/office/drawing/2014/main" id="{A7500A91-6CAC-402B-93A1-03568AAC37CC}"/>
              </a:ext>
            </a:extLst>
          </p:cNvPr>
          <p:cNvSpPr>
            <a:spLocks noGrp="1"/>
          </p:cNvSpPr>
          <p:nvPr/>
        </p:nvSpPr>
        <p:spPr>
          <a:xfrm>
            <a:off x="1047750" y="3238500"/>
            <a:ext cx="3857625" cy="723900"/>
          </a:xfrm>
          <a:prstGeom prst="rect">
            <a:avLst/>
          </a:prstGeom>
          <a:noFill/>
          <a:ln w="0">
            <a:noFill/>
            <a:prstDash val="solid"/>
          </a:ln>
        </p:spPr>
        <p:txBody>
          <a:bodyPr/>
          <a:lstStyle/>
          <a:p>
            <a:pPr algn="l">
              <a:defRPr sz="1425" b="0" i="0">
                <a:solidFill>
                  <a:srgbClr val="475569"/>
                </a:solidFill>
              </a:defRPr>
            </a:pPr>
            <a:r>
              <a:rPr sz="1425" b="0" i="0" dirty="0" err="1">
                <a:solidFill>
                  <a:srgbClr val="475569"/>
                </a:solidFill>
              </a:rPr>
              <a:t>例：气候变化</a:t>
            </a:r>
            <a:r>
              <a:rPr sz="1425" b="0" i="0" dirty="0">
                <a:solidFill>
                  <a:srgbClr val="475569"/>
                </a:solidFill>
              </a:rPr>
              <a:t> / </a:t>
            </a:r>
            <a:r>
              <a:rPr sz="1425" b="0" i="0" dirty="0" err="1">
                <a:solidFill>
                  <a:srgbClr val="475569"/>
                </a:solidFill>
              </a:rPr>
              <a:t>贵州</a:t>
            </a:r>
            <a:r>
              <a:rPr sz="1425" b="0" i="0" dirty="0">
                <a:solidFill>
                  <a:srgbClr val="475569"/>
                </a:solidFill>
              </a:rPr>
              <a:t> / </a:t>
            </a:r>
            <a:r>
              <a:rPr sz="1425" b="0" i="0" dirty="0" err="1">
                <a:solidFill>
                  <a:srgbClr val="475569"/>
                </a:solidFill>
              </a:rPr>
              <a:t>水资源</a:t>
            </a:r>
            <a:endParaRPr sz="1425" b="0" i="0" dirty="0">
              <a:solidFill>
                <a:srgbClr val="475569"/>
              </a:solidFill>
            </a:endParaRPr>
          </a:p>
          <a:p>
            <a:pPr algn="l">
              <a:defRPr sz="1425" b="0" i="0">
                <a:solidFill>
                  <a:srgbClr val="475569"/>
                </a:solidFill>
              </a:defRPr>
            </a:pPr>
            <a:r>
              <a:rPr sz="1425" b="0" i="0" dirty="0">
                <a:solidFill>
                  <a:srgbClr val="475569"/>
                </a:solidFill>
              </a:rPr>
              <a:t>例：1-氨基乙内酰脲 / </a:t>
            </a:r>
            <a:r>
              <a:rPr sz="1425" b="0" i="0" dirty="0" err="1">
                <a:solidFill>
                  <a:srgbClr val="475569"/>
                </a:solidFill>
              </a:rPr>
              <a:t>合成</a:t>
            </a:r>
            <a:r>
              <a:rPr sz="1425" b="0" i="0" dirty="0">
                <a:solidFill>
                  <a:srgbClr val="475569"/>
                </a:solidFill>
              </a:rPr>
              <a:t> / </a:t>
            </a:r>
            <a:r>
              <a:rPr sz="1425" b="0" i="0" dirty="0" err="1">
                <a:solidFill>
                  <a:srgbClr val="475569"/>
                </a:solidFill>
              </a:rPr>
              <a:t>席夫碱</a:t>
            </a:r>
            <a:endParaRPr sz="1425" b="0" i="0" dirty="0">
              <a:solidFill>
                <a:srgbClr val="475569"/>
              </a:solidFill>
            </a:endParaRPr>
          </a:p>
        </p:txBody>
      </p:sp>
      <p:sp>
        <p:nvSpPr>
          <p:cNvPr id="9" name="矩形: 圆角 8">
            <a:extLst>
              <a:ext uri="{FF2B5EF4-FFF2-40B4-BE49-F238E27FC236}">
                <a16:creationId xmlns:a16="http://schemas.microsoft.com/office/drawing/2014/main" id="{7ED71DBC-DDC9-4884-90E9-5A353E7924A3}"/>
              </a:ext>
            </a:extLst>
          </p:cNvPr>
          <p:cNvSpPr>
            <a:spLocks noGrp="1"/>
          </p:cNvSpPr>
          <p:nvPr/>
        </p:nvSpPr>
        <p:spPr>
          <a:xfrm>
            <a:off x="6667500" y="1428750"/>
            <a:ext cx="4762500" cy="3524250"/>
          </a:xfrm>
          <a:prstGeom prst="roundRect">
            <a:avLst>
              <a:gd name="adj" fmla="val 3243"/>
            </a:avLst>
          </a:prstGeom>
          <a:solidFill>
            <a:srgbClr val="FFFFFF"/>
          </a:solidFill>
          <a:ln w="9525">
            <a:solidFill>
              <a:srgbClr val="E2E8F0"/>
            </a:solidFill>
            <a:prstDash val="solid"/>
          </a:ln>
        </p:spPr>
        <p:txBody>
          <a:bodyPr/>
          <a:lstStyle/>
          <a:p>
            <a:endParaRPr lang="zh-CN" altLang="en-US"/>
          </a:p>
        </p:txBody>
      </p:sp>
      <p:sp>
        <p:nvSpPr>
          <p:cNvPr id="10" name="矩形 9">
            <a:extLst>
              <a:ext uri="{FF2B5EF4-FFF2-40B4-BE49-F238E27FC236}">
                <a16:creationId xmlns:a16="http://schemas.microsoft.com/office/drawing/2014/main" id="{002F67EF-24A2-43E2-9167-5A9B40770C8C}"/>
              </a:ext>
            </a:extLst>
          </p:cNvPr>
          <p:cNvSpPr>
            <a:spLocks noGrp="1"/>
          </p:cNvSpPr>
          <p:nvPr/>
        </p:nvSpPr>
        <p:spPr>
          <a:xfrm>
            <a:off x="6667500" y="1428750"/>
            <a:ext cx="4762500" cy="95250"/>
          </a:xfrm>
          <a:prstGeom prst="rect">
            <a:avLst/>
          </a:prstGeom>
          <a:solidFill>
            <a:srgbClr val="EA580C"/>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91DDD9CE-B883-4462-9AC2-E26C85146F6C}"/>
              </a:ext>
            </a:extLst>
          </p:cNvPr>
          <p:cNvSpPr>
            <a:spLocks noGrp="1"/>
          </p:cNvSpPr>
          <p:nvPr/>
        </p:nvSpPr>
        <p:spPr>
          <a:xfrm>
            <a:off x="6953250" y="1809750"/>
            <a:ext cx="3714750" cy="304800"/>
          </a:xfrm>
          <a:prstGeom prst="rect">
            <a:avLst/>
          </a:prstGeom>
          <a:noFill/>
          <a:ln w="0">
            <a:noFill/>
            <a:prstDash val="solid"/>
          </a:ln>
        </p:spPr>
        <p:txBody>
          <a:bodyPr/>
          <a:lstStyle/>
          <a:p>
            <a:pPr algn="l">
              <a:defRPr sz="1800" b="1" i="0">
                <a:solidFill>
                  <a:srgbClr val="EA580C"/>
                </a:solidFill>
              </a:defRPr>
            </a:pPr>
            <a:r>
              <a:rPr sz="1800" b="1" i="0">
                <a:solidFill>
                  <a:srgbClr val="EA580C"/>
                </a:solidFill>
              </a:rPr>
              <a:t>Type II / False Negative：231</a:t>
            </a:r>
          </a:p>
        </p:txBody>
      </p:sp>
      <p:sp>
        <p:nvSpPr>
          <p:cNvPr id="12" name="矩形 11">
            <a:extLst>
              <a:ext uri="{FF2B5EF4-FFF2-40B4-BE49-F238E27FC236}">
                <a16:creationId xmlns:a16="http://schemas.microsoft.com/office/drawing/2014/main" id="{3F92C3B4-B0EE-49E1-97C0-06F783788648}"/>
              </a:ext>
            </a:extLst>
          </p:cNvPr>
          <p:cNvSpPr>
            <a:spLocks noGrp="1"/>
          </p:cNvSpPr>
          <p:nvPr/>
        </p:nvSpPr>
        <p:spPr>
          <a:xfrm>
            <a:off x="6953250" y="2343150"/>
            <a:ext cx="3905250" cy="609600"/>
          </a:xfrm>
          <a:prstGeom prst="rect">
            <a:avLst/>
          </a:prstGeom>
          <a:noFill/>
          <a:ln w="0">
            <a:noFill/>
            <a:prstDash val="solid"/>
          </a:ln>
        </p:spPr>
        <p:txBody>
          <a:bodyPr/>
          <a:lstStyle/>
          <a:p>
            <a:pPr algn="l">
              <a:defRPr sz="1500" b="0" i="0">
                <a:solidFill>
                  <a:srgbClr val="0F172A"/>
                </a:solidFill>
              </a:defRPr>
            </a:pPr>
            <a:r>
              <a:rPr sz="1500" b="0" i="0" dirty="0" err="1">
                <a:solidFill>
                  <a:srgbClr val="0F172A"/>
                </a:solidFill>
              </a:rPr>
              <a:t>真实为</a:t>
            </a:r>
            <a:r>
              <a:rPr sz="1500" b="0" i="0" dirty="0">
                <a:solidFill>
                  <a:srgbClr val="0F172A"/>
                </a:solidFill>
              </a:rPr>
              <a:t> 1，模型预测为 0。常见原因是关键词较专业、较抽象，或摘要中没有明显词面线索。</a:t>
            </a:r>
          </a:p>
        </p:txBody>
      </p:sp>
      <p:sp>
        <p:nvSpPr>
          <p:cNvPr id="13" name="矩形 12">
            <a:extLst>
              <a:ext uri="{FF2B5EF4-FFF2-40B4-BE49-F238E27FC236}">
                <a16:creationId xmlns:a16="http://schemas.microsoft.com/office/drawing/2014/main" id="{07C61AB6-206B-4C0D-A7D4-2E5FD155983E}"/>
              </a:ext>
            </a:extLst>
          </p:cNvPr>
          <p:cNvSpPr>
            <a:spLocks noGrp="1"/>
          </p:cNvSpPr>
          <p:nvPr/>
        </p:nvSpPr>
        <p:spPr>
          <a:xfrm>
            <a:off x="6953250" y="3238500"/>
            <a:ext cx="3857625" cy="723900"/>
          </a:xfrm>
          <a:prstGeom prst="rect">
            <a:avLst/>
          </a:prstGeom>
          <a:noFill/>
          <a:ln w="0">
            <a:noFill/>
            <a:prstDash val="solid"/>
          </a:ln>
        </p:spPr>
        <p:txBody>
          <a:bodyPr/>
          <a:lstStyle/>
          <a:p>
            <a:pPr algn="l">
              <a:defRPr sz="1425" b="0" i="0">
                <a:solidFill>
                  <a:srgbClr val="475569"/>
                </a:solidFill>
              </a:defRPr>
            </a:pPr>
            <a:r>
              <a:rPr sz="1425" b="0" i="0">
                <a:solidFill>
                  <a:srgbClr val="475569"/>
                </a:solidFill>
              </a:rPr>
              <a:t>例：结构参数优化 / 对流换热 / 数值模拟</a:t>
            </a:r>
          </a:p>
          <a:p>
            <a:pPr algn="l">
              <a:defRPr sz="1425" b="0" i="0">
                <a:solidFill>
                  <a:srgbClr val="475569"/>
                </a:solidFill>
              </a:defRPr>
            </a:pPr>
            <a:r>
              <a:rPr sz="1425" b="0" i="0">
                <a:solidFill>
                  <a:srgbClr val="475569"/>
                </a:solidFill>
              </a:rPr>
              <a:t>例：安全监控 / USB设备 / 设备ID</a:t>
            </a:r>
          </a:p>
        </p:txBody>
      </p:sp>
      <p:sp>
        <p:nvSpPr>
          <p:cNvPr id="14" name="矩形: 圆角 13">
            <a:extLst>
              <a:ext uri="{FF2B5EF4-FFF2-40B4-BE49-F238E27FC236}">
                <a16:creationId xmlns:a16="http://schemas.microsoft.com/office/drawing/2014/main" id="{61A5F6CA-557E-4662-88E1-5F05D4089D6F}"/>
              </a:ext>
            </a:extLst>
          </p:cNvPr>
          <p:cNvSpPr>
            <a:spLocks noGrp="1"/>
          </p:cNvSpPr>
          <p:nvPr/>
        </p:nvSpPr>
        <p:spPr>
          <a:xfrm>
            <a:off x="3619500" y="5143500"/>
            <a:ext cx="2362200" cy="685800"/>
          </a:xfrm>
          <a:prstGeom prst="roundRect">
            <a:avLst>
              <a:gd name="adj" fmla="val 16667"/>
            </a:avLst>
          </a:prstGeom>
          <a:solidFill>
            <a:srgbClr val="FEF2F2"/>
          </a:solidFill>
          <a:ln w="9525">
            <a:solidFill>
              <a:srgbClr val="DC2626"/>
            </a:solidFill>
            <a:prstDash val="solid"/>
          </a:ln>
        </p:spPr>
        <p:txBody>
          <a:bodyPr/>
          <a:lstStyle/>
          <a:p>
            <a:endParaRPr lang="zh-CN" altLang="en-US"/>
          </a:p>
        </p:txBody>
      </p:sp>
      <p:sp>
        <p:nvSpPr>
          <p:cNvPr id="15" name="矩形 14">
            <a:extLst>
              <a:ext uri="{FF2B5EF4-FFF2-40B4-BE49-F238E27FC236}">
                <a16:creationId xmlns:a16="http://schemas.microsoft.com/office/drawing/2014/main" id="{9B0FF655-8360-4C12-B67C-04ECBC62146A}"/>
              </a:ext>
            </a:extLst>
          </p:cNvPr>
          <p:cNvSpPr>
            <a:spLocks noGrp="1"/>
          </p:cNvSpPr>
          <p:nvPr/>
        </p:nvSpPr>
        <p:spPr>
          <a:xfrm>
            <a:off x="3905250" y="5257800"/>
            <a:ext cx="742950" cy="285750"/>
          </a:xfrm>
          <a:prstGeom prst="rect">
            <a:avLst/>
          </a:prstGeom>
          <a:noFill/>
          <a:ln w="0">
            <a:noFill/>
            <a:prstDash val="solid"/>
          </a:ln>
        </p:spPr>
        <p:txBody>
          <a:bodyPr/>
          <a:lstStyle/>
          <a:p>
            <a:pPr algn="l">
              <a:defRPr sz="2100" b="1" i="0">
                <a:solidFill>
                  <a:srgbClr val="DC2626"/>
                </a:solidFill>
              </a:defRPr>
            </a:pPr>
            <a:r>
              <a:rPr sz="2100" b="1" i="0">
                <a:solidFill>
                  <a:srgbClr val="DC2626"/>
                </a:solidFill>
              </a:rPr>
              <a:t>345</a:t>
            </a:r>
          </a:p>
        </p:txBody>
      </p:sp>
      <p:sp>
        <p:nvSpPr>
          <p:cNvPr id="16" name="矩形 15">
            <a:extLst>
              <a:ext uri="{FF2B5EF4-FFF2-40B4-BE49-F238E27FC236}">
                <a16:creationId xmlns:a16="http://schemas.microsoft.com/office/drawing/2014/main" id="{FF2C1AEA-3783-4615-9765-95FB3441EA1A}"/>
              </a:ext>
            </a:extLst>
          </p:cNvPr>
          <p:cNvSpPr>
            <a:spLocks noGrp="1"/>
          </p:cNvSpPr>
          <p:nvPr/>
        </p:nvSpPr>
        <p:spPr>
          <a:xfrm>
            <a:off x="4819650" y="5276850"/>
            <a:ext cx="1000125" cy="209550"/>
          </a:xfrm>
          <a:prstGeom prst="rect">
            <a:avLst/>
          </a:prstGeom>
          <a:noFill/>
          <a:ln w="0">
            <a:noFill/>
            <a:prstDash val="solid"/>
          </a:ln>
        </p:spPr>
        <p:txBody>
          <a:bodyPr/>
          <a:lstStyle/>
          <a:p>
            <a:pPr algn="l">
              <a:defRPr sz="1275" b="1" i="0">
                <a:solidFill>
                  <a:srgbClr val="0F172A"/>
                </a:solidFill>
              </a:defRPr>
            </a:pPr>
            <a:r>
              <a:rPr sz="1275" b="1" i="0">
                <a:solidFill>
                  <a:srgbClr val="0F172A"/>
                </a:solidFill>
              </a:rPr>
              <a:t>FP / Type I</a:t>
            </a:r>
          </a:p>
        </p:txBody>
      </p:sp>
      <p:sp>
        <p:nvSpPr>
          <p:cNvPr id="17" name="矩形 16">
            <a:extLst>
              <a:ext uri="{FF2B5EF4-FFF2-40B4-BE49-F238E27FC236}">
                <a16:creationId xmlns:a16="http://schemas.microsoft.com/office/drawing/2014/main" id="{BEBF5A23-CF61-4388-A95D-1DEB58CB4FC4}"/>
              </a:ext>
            </a:extLst>
          </p:cNvPr>
          <p:cNvSpPr>
            <a:spLocks noGrp="1"/>
          </p:cNvSpPr>
          <p:nvPr/>
        </p:nvSpPr>
        <p:spPr>
          <a:xfrm>
            <a:off x="4819650" y="5543550"/>
            <a:ext cx="838200" cy="171450"/>
          </a:xfrm>
          <a:prstGeom prst="rect">
            <a:avLst/>
          </a:prstGeom>
          <a:noFill/>
          <a:ln w="0">
            <a:noFill/>
            <a:prstDash val="solid"/>
          </a:ln>
        </p:spPr>
        <p:txBody>
          <a:bodyPr/>
          <a:lstStyle/>
          <a:p>
            <a:pPr algn="l">
              <a:defRPr sz="1125" b="0" i="0">
                <a:solidFill>
                  <a:srgbClr val="475569"/>
                </a:solidFill>
              </a:defRPr>
            </a:pPr>
            <a:r>
              <a:rPr sz="1125" b="0" i="0">
                <a:solidFill>
                  <a:srgbClr val="475569"/>
                </a:solidFill>
              </a:rPr>
              <a:t>误判为真</a:t>
            </a:r>
          </a:p>
        </p:txBody>
      </p:sp>
      <p:sp>
        <p:nvSpPr>
          <p:cNvPr id="18" name="矩形: 圆角 17">
            <a:extLst>
              <a:ext uri="{FF2B5EF4-FFF2-40B4-BE49-F238E27FC236}">
                <a16:creationId xmlns:a16="http://schemas.microsoft.com/office/drawing/2014/main" id="{33B7BEC0-BCA0-420B-AEFD-7D0071278FE3}"/>
              </a:ext>
            </a:extLst>
          </p:cNvPr>
          <p:cNvSpPr>
            <a:spLocks noGrp="1"/>
          </p:cNvSpPr>
          <p:nvPr/>
        </p:nvSpPr>
        <p:spPr>
          <a:xfrm>
            <a:off x="6210300" y="5143500"/>
            <a:ext cx="2362200" cy="685800"/>
          </a:xfrm>
          <a:prstGeom prst="roundRect">
            <a:avLst>
              <a:gd name="adj" fmla="val 16667"/>
            </a:avLst>
          </a:prstGeom>
          <a:solidFill>
            <a:srgbClr val="FFF7ED"/>
          </a:solidFill>
          <a:ln w="9525">
            <a:solidFill>
              <a:srgbClr val="EA580C"/>
            </a:solidFill>
            <a:prstDash val="solid"/>
          </a:ln>
        </p:spPr>
        <p:txBody>
          <a:bodyPr/>
          <a:lstStyle/>
          <a:p>
            <a:endParaRPr lang="zh-CN" altLang="en-US"/>
          </a:p>
        </p:txBody>
      </p:sp>
      <p:sp>
        <p:nvSpPr>
          <p:cNvPr id="19" name="矩形 18">
            <a:extLst>
              <a:ext uri="{FF2B5EF4-FFF2-40B4-BE49-F238E27FC236}">
                <a16:creationId xmlns:a16="http://schemas.microsoft.com/office/drawing/2014/main" id="{F0C52554-0D81-42FD-9D11-D2D5E4B15D63}"/>
              </a:ext>
            </a:extLst>
          </p:cNvPr>
          <p:cNvSpPr>
            <a:spLocks noGrp="1"/>
          </p:cNvSpPr>
          <p:nvPr/>
        </p:nvSpPr>
        <p:spPr>
          <a:xfrm>
            <a:off x="6496050" y="5257800"/>
            <a:ext cx="742950" cy="285750"/>
          </a:xfrm>
          <a:prstGeom prst="rect">
            <a:avLst/>
          </a:prstGeom>
          <a:noFill/>
          <a:ln w="0">
            <a:noFill/>
            <a:prstDash val="solid"/>
          </a:ln>
        </p:spPr>
        <p:txBody>
          <a:bodyPr/>
          <a:lstStyle/>
          <a:p>
            <a:pPr algn="l">
              <a:defRPr sz="2100" b="1" i="0">
                <a:solidFill>
                  <a:srgbClr val="EA580C"/>
                </a:solidFill>
              </a:defRPr>
            </a:pPr>
            <a:r>
              <a:rPr sz="2100" b="1" i="0">
                <a:solidFill>
                  <a:srgbClr val="EA580C"/>
                </a:solidFill>
              </a:rPr>
              <a:t>231</a:t>
            </a:r>
          </a:p>
        </p:txBody>
      </p:sp>
      <p:sp>
        <p:nvSpPr>
          <p:cNvPr id="20" name="矩形 19">
            <a:extLst>
              <a:ext uri="{FF2B5EF4-FFF2-40B4-BE49-F238E27FC236}">
                <a16:creationId xmlns:a16="http://schemas.microsoft.com/office/drawing/2014/main" id="{96534004-8A3F-4529-83B6-67959650EC37}"/>
              </a:ext>
            </a:extLst>
          </p:cNvPr>
          <p:cNvSpPr>
            <a:spLocks noGrp="1"/>
          </p:cNvSpPr>
          <p:nvPr/>
        </p:nvSpPr>
        <p:spPr>
          <a:xfrm>
            <a:off x="7410450" y="5276850"/>
            <a:ext cx="1028700" cy="209550"/>
          </a:xfrm>
          <a:prstGeom prst="rect">
            <a:avLst/>
          </a:prstGeom>
          <a:noFill/>
          <a:ln w="0">
            <a:noFill/>
            <a:prstDash val="solid"/>
          </a:ln>
        </p:spPr>
        <p:txBody>
          <a:bodyPr/>
          <a:lstStyle/>
          <a:p>
            <a:pPr algn="l">
              <a:defRPr sz="1275" b="1" i="0">
                <a:solidFill>
                  <a:srgbClr val="0F172A"/>
                </a:solidFill>
              </a:defRPr>
            </a:pPr>
            <a:r>
              <a:rPr sz="1275" b="1" i="0">
                <a:solidFill>
                  <a:srgbClr val="0F172A"/>
                </a:solidFill>
              </a:rPr>
              <a:t>FN / Type II</a:t>
            </a:r>
          </a:p>
        </p:txBody>
      </p:sp>
      <p:sp>
        <p:nvSpPr>
          <p:cNvPr id="21" name="矩形 20">
            <a:extLst>
              <a:ext uri="{FF2B5EF4-FFF2-40B4-BE49-F238E27FC236}">
                <a16:creationId xmlns:a16="http://schemas.microsoft.com/office/drawing/2014/main" id="{BA2B8A56-5336-4827-B80C-AC700CA541D4}"/>
              </a:ext>
            </a:extLst>
          </p:cNvPr>
          <p:cNvSpPr>
            <a:spLocks noGrp="1"/>
          </p:cNvSpPr>
          <p:nvPr/>
        </p:nvSpPr>
        <p:spPr>
          <a:xfrm>
            <a:off x="7410450" y="5543550"/>
            <a:ext cx="838200" cy="171450"/>
          </a:xfrm>
          <a:prstGeom prst="rect">
            <a:avLst/>
          </a:prstGeom>
          <a:noFill/>
          <a:ln w="0">
            <a:noFill/>
            <a:prstDash val="solid"/>
          </a:ln>
        </p:spPr>
        <p:txBody>
          <a:bodyPr/>
          <a:lstStyle/>
          <a:p>
            <a:pPr algn="l">
              <a:defRPr sz="1125" b="0" i="0">
                <a:solidFill>
                  <a:srgbClr val="475569"/>
                </a:solidFill>
              </a:defRPr>
            </a:pPr>
            <a:r>
              <a:rPr sz="1125" b="0" i="0">
                <a:solidFill>
                  <a:srgbClr val="475569"/>
                </a:solidFill>
              </a:rPr>
              <a:t>误判为伪</a:t>
            </a:r>
          </a:p>
        </p:txBody>
      </p:sp>
      <p:sp>
        <p:nvSpPr>
          <p:cNvPr id="22" name="矩形 21">
            <a:extLst>
              <a:ext uri="{FF2B5EF4-FFF2-40B4-BE49-F238E27FC236}">
                <a16:creationId xmlns:a16="http://schemas.microsoft.com/office/drawing/2014/main" id="{C997127A-C92A-4B38-B8A6-A2CE8C63F515}"/>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23" name="矩形 22">
            <a:extLst>
              <a:ext uri="{FF2B5EF4-FFF2-40B4-BE49-F238E27FC236}">
                <a16:creationId xmlns:a16="http://schemas.microsoft.com/office/drawing/2014/main" id="{FC80ABCB-E35D-4CC1-8E5B-AAA540AEB393}"/>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13</a:t>
            </a:r>
          </a:p>
        </p:txBody>
      </p:sp>
    </p:spTree>
    <p:extLst>
      <p:ext uri="{BB962C8B-B14F-4D97-AF65-F5344CB8AC3E}">
        <p14:creationId xmlns:p14="http://schemas.microsoft.com/office/powerpoint/2010/main" val="300137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7878E1DB-5318-462C-9DA1-35A965F9B804}"/>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总结与小组分工</a:t>
            </a:r>
          </a:p>
        </p:txBody>
      </p:sp>
      <p:sp>
        <p:nvSpPr>
          <p:cNvPr id="2" name="矩形 1">
            <a:extLst>
              <a:ext uri="{FF2B5EF4-FFF2-40B4-BE49-F238E27FC236}">
                <a16:creationId xmlns:a16="http://schemas.microsoft.com/office/drawing/2014/main" id="{985B43A6-E590-4548-BB16-A97B3C9EF491}"/>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FEFA3EED-F824-457B-8798-FB3505577A75}"/>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完成了从数据到模型再到错误分析的完整闭环</a:t>
            </a:r>
          </a:p>
        </p:txBody>
      </p:sp>
      <p:sp>
        <p:nvSpPr>
          <p:cNvPr id="4" name="矩形: 圆角 3">
            <a:extLst>
              <a:ext uri="{FF2B5EF4-FFF2-40B4-BE49-F238E27FC236}">
                <a16:creationId xmlns:a16="http://schemas.microsoft.com/office/drawing/2014/main" id="{548802F5-EEAE-423A-B000-3C1EAB868797}"/>
              </a:ext>
            </a:extLst>
          </p:cNvPr>
          <p:cNvSpPr>
            <a:spLocks noGrp="1"/>
          </p:cNvSpPr>
          <p:nvPr/>
        </p:nvSpPr>
        <p:spPr>
          <a:xfrm>
            <a:off x="781050" y="1428750"/>
            <a:ext cx="4953000" cy="2552700"/>
          </a:xfrm>
          <a:prstGeom prst="roundRect">
            <a:avLst>
              <a:gd name="adj" fmla="val 4478"/>
            </a:avLst>
          </a:prstGeom>
          <a:solidFill>
            <a:srgbClr val="FFFFFF"/>
          </a:solidFill>
          <a:ln w="9525">
            <a:solidFill>
              <a:srgbClr val="E2E8F0"/>
            </a:solidFill>
            <a:prstDash val="solid"/>
          </a:ln>
        </p:spPr>
        <p:txBody>
          <a:bodyPr/>
          <a:lstStyle/>
          <a:p>
            <a:endParaRPr lang="zh-CN" altLang="en-US"/>
          </a:p>
        </p:txBody>
      </p:sp>
      <p:sp>
        <p:nvSpPr>
          <p:cNvPr id="5" name="矩形 4">
            <a:extLst>
              <a:ext uri="{FF2B5EF4-FFF2-40B4-BE49-F238E27FC236}">
                <a16:creationId xmlns:a16="http://schemas.microsoft.com/office/drawing/2014/main" id="{E947EB6F-6C02-4C93-824B-C1BE02C0EDA2}"/>
              </a:ext>
            </a:extLst>
          </p:cNvPr>
          <p:cNvSpPr>
            <a:spLocks noGrp="1"/>
          </p:cNvSpPr>
          <p:nvPr/>
        </p:nvSpPr>
        <p:spPr>
          <a:xfrm>
            <a:off x="1066800" y="1752600"/>
            <a:ext cx="1714500" cy="323850"/>
          </a:xfrm>
          <a:prstGeom prst="rect">
            <a:avLst/>
          </a:prstGeom>
          <a:noFill/>
          <a:ln w="0">
            <a:noFill/>
            <a:prstDash val="solid"/>
          </a:ln>
        </p:spPr>
        <p:txBody>
          <a:bodyPr/>
          <a:lstStyle/>
          <a:p>
            <a:pPr algn="l">
              <a:defRPr sz="1950" b="1" i="0">
                <a:solidFill>
                  <a:srgbClr val="1E3A8A"/>
                </a:solidFill>
              </a:defRPr>
            </a:pPr>
            <a:r>
              <a:rPr sz="1950" b="1" i="0">
                <a:solidFill>
                  <a:srgbClr val="1E3A8A"/>
                </a:solidFill>
              </a:rPr>
              <a:t>工作总结</a:t>
            </a:r>
          </a:p>
        </p:txBody>
      </p:sp>
      <p:sp>
        <p:nvSpPr>
          <p:cNvPr id="6" name="矩形 5">
            <a:extLst>
              <a:ext uri="{FF2B5EF4-FFF2-40B4-BE49-F238E27FC236}">
                <a16:creationId xmlns:a16="http://schemas.microsoft.com/office/drawing/2014/main" id="{9038EA36-4576-41DC-9091-233019AB6A63}"/>
              </a:ext>
            </a:extLst>
          </p:cNvPr>
          <p:cNvSpPr>
            <a:spLocks noGrp="1"/>
          </p:cNvSpPr>
          <p:nvPr/>
        </p:nvSpPr>
        <p:spPr>
          <a:xfrm>
            <a:off x="1066800" y="2362200"/>
            <a:ext cx="85725" cy="85725"/>
          </a:xfrm>
          <a:prstGeom prst="rect">
            <a:avLst/>
          </a:prstGeom>
          <a:solidFill>
            <a:srgbClr val="2563EB"/>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4426B7C0-795E-4109-ADB0-0595F47B25CF}"/>
              </a:ext>
            </a:extLst>
          </p:cNvPr>
          <p:cNvSpPr>
            <a:spLocks noGrp="1"/>
          </p:cNvSpPr>
          <p:nvPr/>
        </p:nvSpPr>
        <p:spPr>
          <a:xfrm>
            <a:off x="1295400" y="2266950"/>
            <a:ext cx="3867150" cy="5143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完成 CSL 数据统计、分词去停用词、N-Gram TF-IDF 特征提取。</a:t>
            </a:r>
          </a:p>
        </p:txBody>
      </p:sp>
      <p:sp>
        <p:nvSpPr>
          <p:cNvPr id="8" name="矩形 7">
            <a:extLst>
              <a:ext uri="{FF2B5EF4-FFF2-40B4-BE49-F238E27FC236}">
                <a16:creationId xmlns:a16="http://schemas.microsoft.com/office/drawing/2014/main" id="{3C833898-D4F7-44B7-B792-BC0DB46D652C}"/>
              </a:ext>
            </a:extLst>
          </p:cNvPr>
          <p:cNvSpPr>
            <a:spLocks noGrp="1"/>
          </p:cNvSpPr>
          <p:nvPr/>
        </p:nvSpPr>
        <p:spPr>
          <a:xfrm>
            <a:off x="1066800" y="2800350"/>
            <a:ext cx="85725" cy="85725"/>
          </a:xfrm>
          <a:prstGeom prst="rect">
            <a:avLst/>
          </a:prstGeom>
          <a:solidFill>
            <a:srgbClr val="2563EB"/>
          </a:soli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DD0EF9C4-DCCF-4275-862A-E28A681B896F}"/>
              </a:ext>
            </a:extLst>
          </p:cNvPr>
          <p:cNvSpPr>
            <a:spLocks noGrp="1"/>
          </p:cNvSpPr>
          <p:nvPr/>
        </p:nvSpPr>
        <p:spPr>
          <a:xfrm>
            <a:off x="1295400" y="2705100"/>
            <a:ext cx="3997036" cy="514350"/>
          </a:xfrm>
          <a:prstGeom prst="rect">
            <a:avLst/>
          </a:prstGeom>
          <a:noFill/>
          <a:ln w="0">
            <a:noFill/>
            <a:prstDash val="solid"/>
          </a:ln>
        </p:spPr>
        <p:txBody>
          <a:bodyPr/>
          <a:lstStyle/>
          <a:p>
            <a:pPr algn="l">
              <a:defRPr sz="1275" b="0" i="0">
                <a:solidFill>
                  <a:srgbClr val="0F172A"/>
                </a:solidFill>
              </a:defRPr>
            </a:pPr>
            <a:r>
              <a:rPr sz="1275" b="0" i="0" dirty="0" err="1">
                <a:solidFill>
                  <a:srgbClr val="0F172A"/>
                </a:solidFill>
              </a:rPr>
              <a:t>训练</a:t>
            </a:r>
            <a:r>
              <a:rPr sz="1275" b="0" i="0" dirty="0">
                <a:solidFill>
                  <a:srgbClr val="0F172A"/>
                </a:solidFill>
              </a:rPr>
              <a:t> TF-IDF + LR </a:t>
            </a:r>
            <a:r>
              <a:rPr sz="1275" b="0" i="0" dirty="0" err="1">
                <a:solidFill>
                  <a:srgbClr val="0F172A"/>
                </a:solidFill>
              </a:rPr>
              <a:t>基线与</a:t>
            </a:r>
            <a:r>
              <a:rPr sz="1275" b="0" i="0" dirty="0">
                <a:solidFill>
                  <a:srgbClr val="0F172A"/>
                </a:solidFill>
              </a:rPr>
              <a:t> BERT-base-Chinese </a:t>
            </a:r>
            <a:r>
              <a:rPr sz="1275" b="0" i="0" dirty="0" err="1">
                <a:solidFill>
                  <a:srgbClr val="0F172A"/>
                </a:solidFill>
              </a:rPr>
              <a:t>微调模型</a:t>
            </a:r>
            <a:r>
              <a:rPr sz="1275" b="0" i="0" dirty="0">
                <a:solidFill>
                  <a:srgbClr val="0F172A"/>
                </a:solidFill>
              </a:rPr>
              <a:t>。</a:t>
            </a:r>
          </a:p>
        </p:txBody>
      </p:sp>
      <p:sp>
        <p:nvSpPr>
          <p:cNvPr id="10" name="矩形 9">
            <a:extLst>
              <a:ext uri="{FF2B5EF4-FFF2-40B4-BE49-F238E27FC236}">
                <a16:creationId xmlns:a16="http://schemas.microsoft.com/office/drawing/2014/main" id="{C285BDA3-3946-47BA-96B4-F97B3DDE5C4B}"/>
              </a:ext>
            </a:extLst>
          </p:cNvPr>
          <p:cNvSpPr>
            <a:spLocks noGrp="1"/>
          </p:cNvSpPr>
          <p:nvPr/>
        </p:nvSpPr>
        <p:spPr>
          <a:xfrm>
            <a:off x="1066800" y="3238500"/>
            <a:ext cx="85725" cy="85725"/>
          </a:xfrm>
          <a:prstGeom prst="rect">
            <a:avLst/>
          </a:prstGeom>
          <a:solidFill>
            <a:srgbClr val="2563EB"/>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7EBD0A69-0546-4B83-AC38-F80CF6079F57}"/>
              </a:ext>
            </a:extLst>
          </p:cNvPr>
          <p:cNvSpPr>
            <a:spLocks noGrp="1"/>
          </p:cNvSpPr>
          <p:nvPr/>
        </p:nvSpPr>
        <p:spPr>
          <a:xfrm>
            <a:off x="1295400" y="3143250"/>
            <a:ext cx="3867150" cy="5143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BERT 验证集 Macro-F1 = 0.8077，明显优于基线 0.5412。</a:t>
            </a:r>
          </a:p>
        </p:txBody>
      </p:sp>
      <p:sp>
        <p:nvSpPr>
          <p:cNvPr id="12" name="矩形 11">
            <a:extLst>
              <a:ext uri="{FF2B5EF4-FFF2-40B4-BE49-F238E27FC236}">
                <a16:creationId xmlns:a16="http://schemas.microsoft.com/office/drawing/2014/main" id="{D3407724-D292-4AA0-9429-990F3CA2B0E4}"/>
              </a:ext>
            </a:extLst>
          </p:cNvPr>
          <p:cNvSpPr>
            <a:spLocks noGrp="1"/>
          </p:cNvSpPr>
          <p:nvPr/>
        </p:nvSpPr>
        <p:spPr>
          <a:xfrm>
            <a:off x="1066800" y="3676650"/>
            <a:ext cx="85725" cy="85725"/>
          </a:xfrm>
          <a:prstGeom prst="rect">
            <a:avLst/>
          </a:prstGeom>
          <a:solidFill>
            <a:srgbClr val="2563EB"/>
          </a:solidFill>
          <a:ln w="0">
            <a:noFill/>
            <a:prstDash val="solid"/>
          </a:ln>
        </p:spPr>
        <p:txBody>
          <a:bodyPr/>
          <a:lstStyle/>
          <a:p>
            <a:endParaRPr lang="zh-CN" altLang="en-US"/>
          </a:p>
        </p:txBody>
      </p:sp>
      <p:sp>
        <p:nvSpPr>
          <p:cNvPr id="13" name="矩形 12">
            <a:extLst>
              <a:ext uri="{FF2B5EF4-FFF2-40B4-BE49-F238E27FC236}">
                <a16:creationId xmlns:a16="http://schemas.microsoft.com/office/drawing/2014/main" id="{D9CA9130-3095-413D-98C9-F4C70B498EE3}"/>
              </a:ext>
            </a:extLst>
          </p:cNvPr>
          <p:cNvSpPr>
            <a:spLocks noGrp="1"/>
          </p:cNvSpPr>
          <p:nvPr/>
        </p:nvSpPr>
        <p:spPr>
          <a:xfrm>
            <a:off x="1295400" y="3581400"/>
            <a:ext cx="3867150" cy="5143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通过 FP/FN 样例解释错误来源和任务难点。</a:t>
            </a:r>
          </a:p>
        </p:txBody>
      </p:sp>
      <p:sp>
        <p:nvSpPr>
          <p:cNvPr id="14" name="矩形 13">
            <a:extLst>
              <a:ext uri="{FF2B5EF4-FFF2-40B4-BE49-F238E27FC236}">
                <a16:creationId xmlns:a16="http://schemas.microsoft.com/office/drawing/2014/main" id="{1F92D46D-AE8F-4645-9297-BF850F5B7883}"/>
              </a:ext>
            </a:extLst>
          </p:cNvPr>
          <p:cNvSpPr>
            <a:spLocks noGrp="1"/>
          </p:cNvSpPr>
          <p:nvPr/>
        </p:nvSpPr>
        <p:spPr>
          <a:xfrm>
            <a:off x="6362700" y="1428750"/>
            <a:ext cx="1428750" cy="552450"/>
          </a:xfrm>
          <a:prstGeom prst="rect">
            <a:avLst/>
          </a:prstGeom>
          <a:solidFill>
            <a:srgbClr val="1E3A8A"/>
          </a:solidFill>
          <a:ln w="9525">
            <a:solidFill>
              <a:srgbClr val="E2E8F0"/>
            </a:solidFill>
            <a:prstDash val="solid"/>
          </a:ln>
        </p:spPr>
        <p:txBody>
          <a:bodyPr/>
          <a:lstStyle/>
          <a:p>
            <a:endParaRPr lang="zh-CN" altLang="en-US"/>
          </a:p>
        </p:txBody>
      </p:sp>
      <p:sp>
        <p:nvSpPr>
          <p:cNvPr id="15" name="矩形 14">
            <a:extLst>
              <a:ext uri="{FF2B5EF4-FFF2-40B4-BE49-F238E27FC236}">
                <a16:creationId xmlns:a16="http://schemas.microsoft.com/office/drawing/2014/main" id="{247A3BDA-27BB-47D6-B69F-A89E44BA7A6B}"/>
              </a:ext>
            </a:extLst>
          </p:cNvPr>
          <p:cNvSpPr>
            <a:spLocks noGrp="1"/>
          </p:cNvSpPr>
          <p:nvPr/>
        </p:nvSpPr>
        <p:spPr>
          <a:xfrm>
            <a:off x="6457950" y="1504950"/>
            <a:ext cx="1238250" cy="438150"/>
          </a:xfrm>
          <a:prstGeom prst="rect">
            <a:avLst/>
          </a:prstGeom>
          <a:noFill/>
          <a:ln w="0">
            <a:noFill/>
            <a:prstDash val="solid"/>
          </a:ln>
        </p:spPr>
        <p:txBody>
          <a:bodyPr/>
          <a:lstStyle/>
          <a:p>
            <a:pPr algn="l">
              <a:defRPr sz="1275" b="1" i="0">
                <a:solidFill>
                  <a:srgbClr val="FFFFFF"/>
                </a:solidFill>
              </a:defRPr>
            </a:pPr>
            <a:r>
              <a:rPr sz="1275" b="1" i="0">
                <a:solidFill>
                  <a:srgbClr val="FFFFFF"/>
                </a:solidFill>
              </a:rPr>
              <a:t>成员</a:t>
            </a:r>
          </a:p>
        </p:txBody>
      </p:sp>
      <p:sp>
        <p:nvSpPr>
          <p:cNvPr id="16" name="矩形 15">
            <a:extLst>
              <a:ext uri="{FF2B5EF4-FFF2-40B4-BE49-F238E27FC236}">
                <a16:creationId xmlns:a16="http://schemas.microsoft.com/office/drawing/2014/main" id="{EF2F78E0-3F16-4016-97D3-C75A9A3790DC}"/>
              </a:ext>
            </a:extLst>
          </p:cNvPr>
          <p:cNvSpPr>
            <a:spLocks noGrp="1"/>
          </p:cNvSpPr>
          <p:nvPr/>
        </p:nvSpPr>
        <p:spPr>
          <a:xfrm>
            <a:off x="7791450" y="1428750"/>
            <a:ext cx="4095750" cy="552450"/>
          </a:xfrm>
          <a:prstGeom prst="rect">
            <a:avLst/>
          </a:prstGeom>
          <a:solidFill>
            <a:srgbClr val="1E3A8A"/>
          </a:solidFill>
          <a:ln w="9525">
            <a:solidFill>
              <a:srgbClr val="E2E8F0"/>
            </a:solidFill>
            <a:prstDash val="solid"/>
          </a:ln>
        </p:spPr>
        <p:txBody>
          <a:bodyPr/>
          <a:lstStyle/>
          <a:p>
            <a:endParaRPr lang="zh-CN" altLang="en-US"/>
          </a:p>
        </p:txBody>
      </p:sp>
      <p:sp>
        <p:nvSpPr>
          <p:cNvPr id="17" name="矩形 16">
            <a:extLst>
              <a:ext uri="{FF2B5EF4-FFF2-40B4-BE49-F238E27FC236}">
                <a16:creationId xmlns:a16="http://schemas.microsoft.com/office/drawing/2014/main" id="{B0846480-636E-4C89-A9B2-CB819E5FA68A}"/>
              </a:ext>
            </a:extLst>
          </p:cNvPr>
          <p:cNvSpPr>
            <a:spLocks noGrp="1"/>
          </p:cNvSpPr>
          <p:nvPr/>
        </p:nvSpPr>
        <p:spPr>
          <a:xfrm>
            <a:off x="7886700" y="1504950"/>
            <a:ext cx="3905250" cy="438150"/>
          </a:xfrm>
          <a:prstGeom prst="rect">
            <a:avLst/>
          </a:prstGeom>
          <a:noFill/>
          <a:ln w="0">
            <a:noFill/>
            <a:prstDash val="solid"/>
          </a:ln>
        </p:spPr>
        <p:txBody>
          <a:bodyPr/>
          <a:lstStyle/>
          <a:p>
            <a:pPr algn="l">
              <a:defRPr sz="1275" b="1" i="0">
                <a:solidFill>
                  <a:srgbClr val="FFFFFF"/>
                </a:solidFill>
              </a:defRPr>
            </a:pPr>
            <a:r>
              <a:rPr sz="1275" b="1" i="0">
                <a:solidFill>
                  <a:srgbClr val="FFFFFF"/>
                </a:solidFill>
              </a:rPr>
              <a:t>主要分工</a:t>
            </a:r>
          </a:p>
        </p:txBody>
      </p:sp>
      <p:sp>
        <p:nvSpPr>
          <p:cNvPr id="18" name="矩形 17">
            <a:extLst>
              <a:ext uri="{FF2B5EF4-FFF2-40B4-BE49-F238E27FC236}">
                <a16:creationId xmlns:a16="http://schemas.microsoft.com/office/drawing/2014/main" id="{407151B4-D9A6-4C72-BFC2-C45213DCE048}"/>
              </a:ext>
            </a:extLst>
          </p:cNvPr>
          <p:cNvSpPr>
            <a:spLocks noGrp="1"/>
          </p:cNvSpPr>
          <p:nvPr/>
        </p:nvSpPr>
        <p:spPr>
          <a:xfrm>
            <a:off x="6362700" y="1981200"/>
            <a:ext cx="1428750" cy="552450"/>
          </a:xfrm>
          <a:prstGeom prst="rect">
            <a:avLst/>
          </a:prstGeom>
          <a:solidFill>
            <a:srgbClr val="FFFFFF"/>
          </a:solidFill>
          <a:ln w="9525">
            <a:solidFill>
              <a:srgbClr val="E2E8F0"/>
            </a:solidFill>
            <a:prstDash val="solid"/>
          </a:ln>
        </p:spPr>
        <p:txBody>
          <a:bodyPr/>
          <a:lstStyle/>
          <a:p>
            <a:endParaRPr lang="zh-CN" altLang="en-US"/>
          </a:p>
        </p:txBody>
      </p:sp>
      <p:sp>
        <p:nvSpPr>
          <p:cNvPr id="19" name="矩形 18">
            <a:extLst>
              <a:ext uri="{FF2B5EF4-FFF2-40B4-BE49-F238E27FC236}">
                <a16:creationId xmlns:a16="http://schemas.microsoft.com/office/drawing/2014/main" id="{10D5BF79-3915-4AA0-B99A-8A26EC5C07DE}"/>
              </a:ext>
            </a:extLst>
          </p:cNvPr>
          <p:cNvSpPr>
            <a:spLocks noGrp="1"/>
          </p:cNvSpPr>
          <p:nvPr/>
        </p:nvSpPr>
        <p:spPr>
          <a:xfrm>
            <a:off x="6457950" y="2057400"/>
            <a:ext cx="1238250" cy="438150"/>
          </a:xfrm>
          <a:prstGeom prst="rect">
            <a:avLst/>
          </a:prstGeom>
          <a:noFill/>
          <a:ln w="0">
            <a:noFill/>
            <a:prstDash val="solid"/>
          </a:ln>
        </p:spPr>
        <p:txBody>
          <a:bodyPr/>
          <a:lstStyle/>
          <a:p>
            <a:pPr algn="l">
              <a:defRPr sz="1275" b="0" i="0">
                <a:solidFill>
                  <a:srgbClr val="0F172A"/>
                </a:solidFill>
              </a:defRPr>
            </a:pPr>
            <a:r>
              <a:rPr lang="zh-CN" altLang="en-US" sz="1275" dirty="0">
                <a:solidFill>
                  <a:srgbClr val="0F172A"/>
                </a:solidFill>
              </a:rPr>
              <a:t>陈明军</a:t>
            </a:r>
            <a:endParaRPr sz="1275" b="0" i="0" dirty="0">
              <a:solidFill>
                <a:srgbClr val="0F172A"/>
              </a:solidFill>
            </a:endParaRPr>
          </a:p>
        </p:txBody>
      </p:sp>
      <p:sp>
        <p:nvSpPr>
          <p:cNvPr id="20" name="矩形 19">
            <a:extLst>
              <a:ext uri="{FF2B5EF4-FFF2-40B4-BE49-F238E27FC236}">
                <a16:creationId xmlns:a16="http://schemas.microsoft.com/office/drawing/2014/main" id="{4C7D2CD3-0E23-49A4-A0E3-3D0F5954ADB5}"/>
              </a:ext>
            </a:extLst>
          </p:cNvPr>
          <p:cNvSpPr>
            <a:spLocks noGrp="1"/>
          </p:cNvSpPr>
          <p:nvPr/>
        </p:nvSpPr>
        <p:spPr>
          <a:xfrm>
            <a:off x="7791450" y="1981200"/>
            <a:ext cx="4095750" cy="552450"/>
          </a:xfrm>
          <a:prstGeom prst="rect">
            <a:avLst/>
          </a:prstGeom>
          <a:solidFill>
            <a:srgbClr val="FFFFFF"/>
          </a:solidFill>
          <a:ln w="9525">
            <a:solidFill>
              <a:srgbClr val="E2E8F0"/>
            </a:solidFill>
            <a:prstDash val="solid"/>
          </a:ln>
        </p:spPr>
        <p:txBody>
          <a:bodyPr/>
          <a:lstStyle/>
          <a:p>
            <a:endParaRPr lang="zh-CN" altLang="en-US"/>
          </a:p>
        </p:txBody>
      </p:sp>
      <p:sp>
        <p:nvSpPr>
          <p:cNvPr id="21" name="矩形 20">
            <a:extLst>
              <a:ext uri="{FF2B5EF4-FFF2-40B4-BE49-F238E27FC236}">
                <a16:creationId xmlns:a16="http://schemas.microsoft.com/office/drawing/2014/main" id="{DD089FB3-0A98-4755-B118-8FB6ECF7E766}"/>
              </a:ext>
            </a:extLst>
          </p:cNvPr>
          <p:cNvSpPr>
            <a:spLocks noGrp="1"/>
          </p:cNvSpPr>
          <p:nvPr/>
        </p:nvSpPr>
        <p:spPr>
          <a:xfrm>
            <a:off x="7886700" y="2057400"/>
            <a:ext cx="3905250" cy="4381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任务背景调研、任务介绍、相关工作整理</a:t>
            </a:r>
          </a:p>
        </p:txBody>
      </p:sp>
      <p:sp>
        <p:nvSpPr>
          <p:cNvPr id="22" name="矩形 21">
            <a:extLst>
              <a:ext uri="{FF2B5EF4-FFF2-40B4-BE49-F238E27FC236}">
                <a16:creationId xmlns:a16="http://schemas.microsoft.com/office/drawing/2014/main" id="{F46EC84F-E67D-423C-8B9B-886FE6142328}"/>
              </a:ext>
            </a:extLst>
          </p:cNvPr>
          <p:cNvSpPr>
            <a:spLocks noGrp="1"/>
          </p:cNvSpPr>
          <p:nvPr/>
        </p:nvSpPr>
        <p:spPr>
          <a:xfrm>
            <a:off x="6362700" y="2533650"/>
            <a:ext cx="1428750" cy="552450"/>
          </a:xfrm>
          <a:prstGeom prst="rect">
            <a:avLst/>
          </a:prstGeom>
          <a:solidFill>
            <a:srgbClr val="F8FAFC"/>
          </a:solidFill>
          <a:ln w="9525">
            <a:solidFill>
              <a:srgbClr val="E2E8F0"/>
            </a:solidFill>
            <a:prstDash val="solid"/>
          </a:ln>
        </p:spPr>
        <p:txBody>
          <a:bodyPr/>
          <a:lstStyle/>
          <a:p>
            <a:endParaRPr lang="zh-CN" altLang="en-US"/>
          </a:p>
        </p:txBody>
      </p:sp>
      <p:sp>
        <p:nvSpPr>
          <p:cNvPr id="23" name="矩形 22">
            <a:extLst>
              <a:ext uri="{FF2B5EF4-FFF2-40B4-BE49-F238E27FC236}">
                <a16:creationId xmlns:a16="http://schemas.microsoft.com/office/drawing/2014/main" id="{71EE4D0E-016F-4BFA-8227-0E2111A28FAC}"/>
              </a:ext>
            </a:extLst>
          </p:cNvPr>
          <p:cNvSpPr>
            <a:spLocks noGrp="1"/>
          </p:cNvSpPr>
          <p:nvPr/>
        </p:nvSpPr>
        <p:spPr>
          <a:xfrm>
            <a:off x="6457950" y="2609850"/>
            <a:ext cx="1238250" cy="438150"/>
          </a:xfrm>
          <a:prstGeom prst="rect">
            <a:avLst/>
          </a:prstGeom>
          <a:noFill/>
          <a:ln w="0">
            <a:noFill/>
            <a:prstDash val="solid"/>
          </a:ln>
        </p:spPr>
        <p:txBody>
          <a:bodyPr/>
          <a:lstStyle/>
          <a:p>
            <a:pPr algn="l">
              <a:defRPr sz="1275" b="0" i="0">
                <a:solidFill>
                  <a:srgbClr val="0F172A"/>
                </a:solidFill>
              </a:defRPr>
            </a:pPr>
            <a:r>
              <a:rPr lang="zh-CN" altLang="en-US" sz="1275" b="0" i="0" dirty="0">
                <a:solidFill>
                  <a:srgbClr val="0F172A"/>
                </a:solidFill>
              </a:rPr>
              <a:t>陈明军</a:t>
            </a:r>
            <a:endParaRPr sz="1275" b="0" i="0" dirty="0">
              <a:solidFill>
                <a:srgbClr val="0F172A"/>
              </a:solidFill>
            </a:endParaRPr>
          </a:p>
        </p:txBody>
      </p:sp>
      <p:sp>
        <p:nvSpPr>
          <p:cNvPr id="24" name="矩形 23">
            <a:extLst>
              <a:ext uri="{FF2B5EF4-FFF2-40B4-BE49-F238E27FC236}">
                <a16:creationId xmlns:a16="http://schemas.microsoft.com/office/drawing/2014/main" id="{5A6ADCAA-A346-4965-B755-721AFD10235A}"/>
              </a:ext>
            </a:extLst>
          </p:cNvPr>
          <p:cNvSpPr>
            <a:spLocks noGrp="1"/>
          </p:cNvSpPr>
          <p:nvPr/>
        </p:nvSpPr>
        <p:spPr>
          <a:xfrm>
            <a:off x="7791450" y="2533650"/>
            <a:ext cx="4095750" cy="552450"/>
          </a:xfrm>
          <a:prstGeom prst="rect">
            <a:avLst/>
          </a:prstGeom>
          <a:solidFill>
            <a:srgbClr val="F8FAFC"/>
          </a:solidFill>
          <a:ln w="9525">
            <a:solidFill>
              <a:srgbClr val="E2E8F0"/>
            </a:solidFill>
            <a:prstDash val="solid"/>
          </a:ln>
        </p:spPr>
        <p:txBody>
          <a:bodyPr/>
          <a:lstStyle/>
          <a:p>
            <a:endParaRPr lang="zh-CN" altLang="en-US"/>
          </a:p>
        </p:txBody>
      </p:sp>
      <p:sp>
        <p:nvSpPr>
          <p:cNvPr id="25" name="矩形 24">
            <a:extLst>
              <a:ext uri="{FF2B5EF4-FFF2-40B4-BE49-F238E27FC236}">
                <a16:creationId xmlns:a16="http://schemas.microsoft.com/office/drawing/2014/main" id="{E974A829-2E36-48A8-94FE-8BBA2292E6FB}"/>
              </a:ext>
            </a:extLst>
          </p:cNvPr>
          <p:cNvSpPr>
            <a:spLocks noGrp="1"/>
          </p:cNvSpPr>
          <p:nvPr/>
        </p:nvSpPr>
        <p:spPr>
          <a:xfrm>
            <a:off x="7886700" y="2609850"/>
            <a:ext cx="3905250" cy="4381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数据下载、统计分析、分词与去停用词、特征提取</a:t>
            </a:r>
          </a:p>
        </p:txBody>
      </p:sp>
      <p:sp>
        <p:nvSpPr>
          <p:cNvPr id="26" name="矩形 25">
            <a:extLst>
              <a:ext uri="{FF2B5EF4-FFF2-40B4-BE49-F238E27FC236}">
                <a16:creationId xmlns:a16="http://schemas.microsoft.com/office/drawing/2014/main" id="{CA93A6F3-BFC1-4616-AE46-908DAD5999DC}"/>
              </a:ext>
            </a:extLst>
          </p:cNvPr>
          <p:cNvSpPr>
            <a:spLocks noGrp="1"/>
          </p:cNvSpPr>
          <p:nvPr/>
        </p:nvSpPr>
        <p:spPr>
          <a:xfrm>
            <a:off x="6362700" y="3086100"/>
            <a:ext cx="1428750" cy="552450"/>
          </a:xfrm>
          <a:prstGeom prst="rect">
            <a:avLst/>
          </a:prstGeom>
          <a:solidFill>
            <a:srgbClr val="FFFFFF"/>
          </a:solidFill>
          <a:ln w="9525">
            <a:solidFill>
              <a:srgbClr val="E2E8F0"/>
            </a:solidFill>
            <a:prstDash val="solid"/>
          </a:ln>
        </p:spPr>
        <p:txBody>
          <a:bodyPr/>
          <a:lstStyle/>
          <a:p>
            <a:endParaRPr lang="zh-CN" altLang="en-US"/>
          </a:p>
        </p:txBody>
      </p:sp>
      <p:sp>
        <p:nvSpPr>
          <p:cNvPr id="27" name="矩形 26">
            <a:extLst>
              <a:ext uri="{FF2B5EF4-FFF2-40B4-BE49-F238E27FC236}">
                <a16:creationId xmlns:a16="http://schemas.microsoft.com/office/drawing/2014/main" id="{96BFA1B3-97D7-41DD-B15D-5AECFFC08360}"/>
              </a:ext>
            </a:extLst>
          </p:cNvPr>
          <p:cNvSpPr>
            <a:spLocks noGrp="1"/>
          </p:cNvSpPr>
          <p:nvPr/>
        </p:nvSpPr>
        <p:spPr>
          <a:xfrm>
            <a:off x="6457950" y="3162300"/>
            <a:ext cx="1238250" cy="438150"/>
          </a:xfrm>
          <a:prstGeom prst="rect">
            <a:avLst/>
          </a:prstGeom>
          <a:noFill/>
          <a:ln w="0">
            <a:noFill/>
            <a:prstDash val="solid"/>
          </a:ln>
        </p:spPr>
        <p:txBody>
          <a:bodyPr/>
          <a:lstStyle/>
          <a:p>
            <a:pPr algn="l">
              <a:defRPr sz="1275" b="0" i="0">
                <a:solidFill>
                  <a:srgbClr val="0F172A"/>
                </a:solidFill>
              </a:defRPr>
            </a:pPr>
            <a:r>
              <a:rPr lang="zh-CN" altLang="en-US" sz="1275" b="0" i="0" dirty="0">
                <a:solidFill>
                  <a:srgbClr val="0F172A"/>
                </a:solidFill>
              </a:rPr>
              <a:t>吕继明</a:t>
            </a:r>
            <a:endParaRPr sz="1275" b="0" i="0" dirty="0">
              <a:solidFill>
                <a:srgbClr val="0F172A"/>
              </a:solidFill>
            </a:endParaRPr>
          </a:p>
        </p:txBody>
      </p:sp>
      <p:sp>
        <p:nvSpPr>
          <p:cNvPr id="28" name="矩形 27">
            <a:extLst>
              <a:ext uri="{FF2B5EF4-FFF2-40B4-BE49-F238E27FC236}">
                <a16:creationId xmlns:a16="http://schemas.microsoft.com/office/drawing/2014/main" id="{59E6D451-8121-46AD-8280-FD215245938A}"/>
              </a:ext>
            </a:extLst>
          </p:cNvPr>
          <p:cNvSpPr>
            <a:spLocks noGrp="1"/>
          </p:cNvSpPr>
          <p:nvPr/>
        </p:nvSpPr>
        <p:spPr>
          <a:xfrm>
            <a:off x="7791450" y="3086100"/>
            <a:ext cx="4095750" cy="552450"/>
          </a:xfrm>
          <a:prstGeom prst="rect">
            <a:avLst/>
          </a:prstGeom>
          <a:solidFill>
            <a:srgbClr val="FFFFFF"/>
          </a:solidFill>
          <a:ln w="9525">
            <a:solidFill>
              <a:srgbClr val="E2E8F0"/>
            </a:solidFill>
            <a:prstDash val="solid"/>
          </a:ln>
        </p:spPr>
        <p:txBody>
          <a:bodyPr/>
          <a:lstStyle/>
          <a:p>
            <a:endParaRPr lang="zh-CN" altLang="en-US"/>
          </a:p>
        </p:txBody>
      </p:sp>
      <p:sp>
        <p:nvSpPr>
          <p:cNvPr id="29" name="矩形 28">
            <a:extLst>
              <a:ext uri="{FF2B5EF4-FFF2-40B4-BE49-F238E27FC236}">
                <a16:creationId xmlns:a16="http://schemas.microsoft.com/office/drawing/2014/main" id="{85E40879-B2E1-4734-AEA9-BBAAFE78EE4F}"/>
              </a:ext>
            </a:extLst>
          </p:cNvPr>
          <p:cNvSpPr>
            <a:spLocks noGrp="1"/>
          </p:cNvSpPr>
          <p:nvPr/>
        </p:nvSpPr>
        <p:spPr>
          <a:xfrm>
            <a:off x="7886700" y="3162300"/>
            <a:ext cx="3905250" cy="438150"/>
          </a:xfrm>
          <a:prstGeom prst="rect">
            <a:avLst/>
          </a:prstGeom>
          <a:noFill/>
          <a:ln w="0">
            <a:noFill/>
            <a:prstDash val="solid"/>
          </a:ln>
        </p:spPr>
        <p:txBody>
          <a:bodyPr/>
          <a:lstStyle/>
          <a:p>
            <a:pPr algn="l">
              <a:defRPr sz="1275" b="0" i="0">
                <a:solidFill>
                  <a:srgbClr val="0F172A"/>
                </a:solidFill>
              </a:defRPr>
            </a:pPr>
            <a:r>
              <a:rPr sz="1275" b="0" i="0">
                <a:solidFill>
                  <a:srgbClr val="0F172A"/>
                </a:solidFill>
              </a:rPr>
              <a:t>模型训练、BERT 微调、实验日志和指标汇总</a:t>
            </a:r>
          </a:p>
        </p:txBody>
      </p:sp>
      <p:sp>
        <p:nvSpPr>
          <p:cNvPr id="30" name="矩形 29">
            <a:extLst>
              <a:ext uri="{FF2B5EF4-FFF2-40B4-BE49-F238E27FC236}">
                <a16:creationId xmlns:a16="http://schemas.microsoft.com/office/drawing/2014/main" id="{F7C4EE67-7190-47BE-B1C6-B145FC36F574}"/>
              </a:ext>
            </a:extLst>
          </p:cNvPr>
          <p:cNvSpPr>
            <a:spLocks noGrp="1"/>
          </p:cNvSpPr>
          <p:nvPr/>
        </p:nvSpPr>
        <p:spPr>
          <a:xfrm>
            <a:off x="6362700" y="3638550"/>
            <a:ext cx="1428750" cy="552450"/>
          </a:xfrm>
          <a:prstGeom prst="rect">
            <a:avLst/>
          </a:prstGeom>
          <a:solidFill>
            <a:srgbClr val="F8FAFC"/>
          </a:solidFill>
          <a:ln w="9525">
            <a:solidFill>
              <a:srgbClr val="E2E8F0"/>
            </a:solidFill>
            <a:prstDash val="solid"/>
          </a:ln>
        </p:spPr>
        <p:txBody>
          <a:bodyPr/>
          <a:lstStyle/>
          <a:p>
            <a:endParaRPr lang="zh-CN" altLang="en-US"/>
          </a:p>
        </p:txBody>
      </p:sp>
      <p:sp>
        <p:nvSpPr>
          <p:cNvPr id="31" name="矩形 30">
            <a:extLst>
              <a:ext uri="{FF2B5EF4-FFF2-40B4-BE49-F238E27FC236}">
                <a16:creationId xmlns:a16="http://schemas.microsoft.com/office/drawing/2014/main" id="{934C17CB-EE5B-4C16-B8EA-63711CC320D1}"/>
              </a:ext>
            </a:extLst>
          </p:cNvPr>
          <p:cNvSpPr>
            <a:spLocks noGrp="1"/>
          </p:cNvSpPr>
          <p:nvPr/>
        </p:nvSpPr>
        <p:spPr>
          <a:xfrm>
            <a:off x="6457950" y="3714750"/>
            <a:ext cx="1238250" cy="438150"/>
          </a:xfrm>
          <a:prstGeom prst="rect">
            <a:avLst/>
          </a:prstGeom>
          <a:noFill/>
          <a:ln w="0">
            <a:noFill/>
            <a:prstDash val="solid"/>
          </a:ln>
        </p:spPr>
        <p:txBody>
          <a:bodyPr/>
          <a:lstStyle/>
          <a:p>
            <a:pPr algn="l">
              <a:defRPr sz="1275" b="0" i="0">
                <a:solidFill>
                  <a:srgbClr val="0F172A"/>
                </a:solidFill>
              </a:defRPr>
            </a:pPr>
            <a:r>
              <a:rPr lang="zh-CN" altLang="en-US" sz="1275" dirty="0">
                <a:solidFill>
                  <a:srgbClr val="0F172A"/>
                </a:solidFill>
              </a:rPr>
              <a:t>吕继明</a:t>
            </a:r>
            <a:endParaRPr sz="1275" b="0" i="0" dirty="0">
              <a:solidFill>
                <a:srgbClr val="0F172A"/>
              </a:solidFill>
            </a:endParaRPr>
          </a:p>
        </p:txBody>
      </p:sp>
      <p:sp>
        <p:nvSpPr>
          <p:cNvPr id="32" name="矩形 31">
            <a:extLst>
              <a:ext uri="{FF2B5EF4-FFF2-40B4-BE49-F238E27FC236}">
                <a16:creationId xmlns:a16="http://schemas.microsoft.com/office/drawing/2014/main" id="{744FAF0C-1732-49BB-889B-FFFAD0FCB7FC}"/>
              </a:ext>
            </a:extLst>
          </p:cNvPr>
          <p:cNvSpPr>
            <a:spLocks noGrp="1"/>
          </p:cNvSpPr>
          <p:nvPr/>
        </p:nvSpPr>
        <p:spPr>
          <a:xfrm>
            <a:off x="7791450" y="3638550"/>
            <a:ext cx="4095750" cy="552450"/>
          </a:xfrm>
          <a:prstGeom prst="rect">
            <a:avLst/>
          </a:prstGeom>
          <a:solidFill>
            <a:srgbClr val="F8FAFC"/>
          </a:solidFill>
          <a:ln w="9525">
            <a:solidFill>
              <a:srgbClr val="E2E8F0"/>
            </a:solidFill>
            <a:prstDash val="solid"/>
          </a:ln>
        </p:spPr>
        <p:txBody>
          <a:bodyPr/>
          <a:lstStyle/>
          <a:p>
            <a:endParaRPr lang="zh-CN" altLang="en-US"/>
          </a:p>
        </p:txBody>
      </p:sp>
      <p:sp>
        <p:nvSpPr>
          <p:cNvPr id="33" name="矩形 32">
            <a:extLst>
              <a:ext uri="{FF2B5EF4-FFF2-40B4-BE49-F238E27FC236}">
                <a16:creationId xmlns:a16="http://schemas.microsoft.com/office/drawing/2014/main" id="{8A95B425-2B11-4DE6-948A-61B571E1FFD5}"/>
              </a:ext>
            </a:extLst>
          </p:cNvPr>
          <p:cNvSpPr>
            <a:spLocks noGrp="1"/>
          </p:cNvSpPr>
          <p:nvPr/>
        </p:nvSpPr>
        <p:spPr>
          <a:xfrm>
            <a:off x="7886700" y="3714750"/>
            <a:ext cx="3905250" cy="438150"/>
          </a:xfrm>
          <a:prstGeom prst="rect">
            <a:avLst/>
          </a:prstGeom>
          <a:noFill/>
          <a:ln w="0">
            <a:noFill/>
            <a:prstDash val="solid"/>
          </a:ln>
        </p:spPr>
        <p:txBody>
          <a:bodyPr/>
          <a:lstStyle/>
          <a:p>
            <a:pPr algn="l">
              <a:defRPr sz="1275" b="0" i="0">
                <a:solidFill>
                  <a:srgbClr val="0F172A"/>
                </a:solidFill>
              </a:defRPr>
            </a:pPr>
            <a:r>
              <a:rPr sz="1275" b="0" i="0" dirty="0" err="1">
                <a:solidFill>
                  <a:srgbClr val="0F172A"/>
                </a:solidFill>
              </a:rPr>
              <a:t>错误分析、论文整合、图表制作、PPT</a:t>
            </a:r>
            <a:r>
              <a:rPr sz="1275" b="0" i="0" dirty="0">
                <a:solidFill>
                  <a:srgbClr val="0F172A"/>
                </a:solidFill>
              </a:rPr>
              <a:t> </a:t>
            </a:r>
            <a:r>
              <a:rPr sz="1275" b="0" i="0" dirty="0" err="1">
                <a:solidFill>
                  <a:srgbClr val="0F172A"/>
                </a:solidFill>
              </a:rPr>
              <a:t>汇报</a:t>
            </a:r>
            <a:endParaRPr sz="1275" b="0" i="0" dirty="0">
              <a:solidFill>
                <a:srgbClr val="0F172A"/>
              </a:solidFill>
            </a:endParaRPr>
          </a:p>
        </p:txBody>
      </p:sp>
      <p:sp>
        <p:nvSpPr>
          <p:cNvPr id="34" name="矩形 33">
            <a:extLst>
              <a:ext uri="{FF2B5EF4-FFF2-40B4-BE49-F238E27FC236}">
                <a16:creationId xmlns:a16="http://schemas.microsoft.com/office/drawing/2014/main" id="{EED50BA8-3919-44F2-BE0A-1CC7A1589539}"/>
              </a:ext>
            </a:extLst>
          </p:cNvPr>
          <p:cNvSpPr>
            <a:spLocks noGrp="1"/>
          </p:cNvSpPr>
          <p:nvPr/>
        </p:nvSpPr>
        <p:spPr>
          <a:xfrm>
            <a:off x="6362700" y="1428750"/>
            <a:ext cx="5524500" cy="2762250"/>
          </a:xfrm>
          <a:prstGeom prst="rect">
            <a:avLst/>
          </a:prstGeom>
          <a:noFill/>
          <a:ln w="9525">
            <a:solidFill>
              <a:srgbClr val="E2E8F0"/>
            </a:solidFill>
            <a:prstDash val="solid"/>
          </a:ln>
        </p:spPr>
        <p:txBody>
          <a:bodyPr/>
          <a:lstStyle/>
          <a:p>
            <a:endParaRPr lang="zh-CN" altLang="en-US"/>
          </a:p>
        </p:txBody>
      </p:sp>
      <p:sp>
        <p:nvSpPr>
          <p:cNvPr id="36" name="矩形: 圆角 35">
            <a:extLst>
              <a:ext uri="{FF2B5EF4-FFF2-40B4-BE49-F238E27FC236}">
                <a16:creationId xmlns:a16="http://schemas.microsoft.com/office/drawing/2014/main" id="{FE5942C9-040E-4CB5-8E19-F004EDD9473A}"/>
              </a:ext>
            </a:extLst>
          </p:cNvPr>
          <p:cNvSpPr>
            <a:spLocks noGrp="1"/>
          </p:cNvSpPr>
          <p:nvPr/>
        </p:nvSpPr>
        <p:spPr>
          <a:xfrm>
            <a:off x="2800350" y="5524500"/>
            <a:ext cx="6591300" cy="438150"/>
          </a:xfrm>
          <a:prstGeom prst="roundRect">
            <a:avLst>
              <a:gd name="adj" fmla="val 26087"/>
            </a:avLst>
          </a:prstGeom>
          <a:solidFill>
            <a:srgbClr val="DBEAFE"/>
          </a:solidFill>
          <a:ln w="9525">
            <a:solidFill>
              <a:srgbClr val="2563EB"/>
            </a:solidFill>
            <a:prstDash val="solid"/>
          </a:ln>
        </p:spPr>
        <p:txBody>
          <a:bodyPr/>
          <a:lstStyle/>
          <a:p>
            <a:endParaRPr lang="zh-CN" altLang="en-US"/>
          </a:p>
        </p:txBody>
      </p:sp>
      <p:sp>
        <p:nvSpPr>
          <p:cNvPr id="37" name="矩形 36">
            <a:extLst>
              <a:ext uri="{FF2B5EF4-FFF2-40B4-BE49-F238E27FC236}">
                <a16:creationId xmlns:a16="http://schemas.microsoft.com/office/drawing/2014/main" id="{C5487094-F0AA-43A8-9294-EE0ED88DDC5F}"/>
              </a:ext>
            </a:extLst>
          </p:cNvPr>
          <p:cNvSpPr>
            <a:spLocks noGrp="1"/>
          </p:cNvSpPr>
          <p:nvPr/>
        </p:nvSpPr>
        <p:spPr>
          <a:xfrm>
            <a:off x="3429000" y="5619750"/>
            <a:ext cx="5334000" cy="247650"/>
          </a:xfrm>
          <a:prstGeom prst="rect">
            <a:avLst/>
          </a:prstGeom>
          <a:noFill/>
          <a:ln w="0">
            <a:noFill/>
            <a:prstDash val="solid"/>
          </a:ln>
        </p:spPr>
        <p:txBody>
          <a:bodyPr/>
          <a:lstStyle/>
          <a:p>
            <a:pPr algn="ctr">
              <a:defRPr sz="1800" b="1" i="0">
                <a:solidFill>
                  <a:srgbClr val="1E3A8A"/>
                </a:solidFill>
              </a:defRPr>
            </a:pPr>
            <a:r>
              <a:rPr sz="1800" b="1" i="0" dirty="0" err="1">
                <a:solidFill>
                  <a:srgbClr val="1E3A8A"/>
                </a:solidFill>
              </a:rPr>
              <a:t>谢谢大家，欢迎提问</a:t>
            </a:r>
            <a:endParaRPr sz="1800" b="1" i="0" dirty="0">
              <a:solidFill>
                <a:srgbClr val="1E3A8A"/>
              </a:solidFill>
            </a:endParaRPr>
          </a:p>
        </p:txBody>
      </p:sp>
      <p:sp>
        <p:nvSpPr>
          <p:cNvPr id="38" name="矩形 37">
            <a:extLst>
              <a:ext uri="{FF2B5EF4-FFF2-40B4-BE49-F238E27FC236}">
                <a16:creationId xmlns:a16="http://schemas.microsoft.com/office/drawing/2014/main" id="{A4E08A36-C9A4-49DB-833A-A9DC3481B335}"/>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39" name="矩形 38">
            <a:extLst>
              <a:ext uri="{FF2B5EF4-FFF2-40B4-BE49-F238E27FC236}">
                <a16:creationId xmlns:a16="http://schemas.microsoft.com/office/drawing/2014/main" id="{BC603CFE-4F97-42A7-BCF1-34A8BBDB2A39}"/>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15</a:t>
            </a:r>
          </a:p>
        </p:txBody>
      </p:sp>
    </p:spTree>
    <p:extLst>
      <p:ext uri="{BB962C8B-B14F-4D97-AF65-F5344CB8AC3E}">
        <p14:creationId xmlns:p14="http://schemas.microsoft.com/office/powerpoint/2010/main" val="242763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0818A87-E6C6-4301-BC2C-CD8A2DA40BCF}"/>
              </a:ext>
            </a:extLst>
          </p:cNvPr>
          <p:cNvSpPr>
            <a:spLocks noGrp="1"/>
          </p:cNvSpPr>
          <p:nvPr/>
        </p:nvSpPr>
        <p:spPr>
          <a:xfrm>
            <a:off x="685800" y="438150"/>
            <a:ext cx="8858250" cy="495300"/>
          </a:xfrm>
          <a:prstGeom prst="rect">
            <a:avLst/>
          </a:prstGeom>
          <a:noFill/>
          <a:ln w="0">
            <a:noFill/>
            <a:prstDash val="solid"/>
          </a:ln>
        </p:spPr>
        <p:txBody>
          <a:bodyPr/>
          <a:lstStyle/>
          <a:p>
            <a:pPr algn="l">
              <a:defRPr sz="2850" b="1" i="0">
                <a:solidFill>
                  <a:srgbClr val="0F172A"/>
                </a:solidFill>
              </a:defRPr>
            </a:pPr>
            <a:r>
              <a:rPr sz="2850" b="1" i="0">
                <a:solidFill>
                  <a:srgbClr val="0F172A"/>
                </a:solidFill>
              </a:rPr>
              <a:t>参考资料</a:t>
            </a:r>
          </a:p>
        </p:txBody>
      </p:sp>
      <p:sp>
        <p:nvSpPr>
          <p:cNvPr id="2" name="矩形 1">
            <a:extLst>
              <a:ext uri="{FF2B5EF4-FFF2-40B4-BE49-F238E27FC236}">
                <a16:creationId xmlns:a16="http://schemas.microsoft.com/office/drawing/2014/main" id="{ED6ABF9B-D284-45B8-AF7E-A62CA97D6D43}"/>
              </a:ext>
            </a:extLst>
          </p:cNvPr>
          <p:cNvSpPr>
            <a:spLocks noGrp="1"/>
          </p:cNvSpPr>
          <p:nvPr/>
        </p:nvSpPr>
        <p:spPr>
          <a:xfrm>
            <a:off x="685800" y="1028700"/>
            <a:ext cx="781050" cy="47625"/>
          </a:xfrm>
          <a:prstGeom prst="rect">
            <a:avLst/>
          </a:prstGeom>
          <a:solidFill>
            <a:srgbClr val="2563EB"/>
          </a:solidFill>
          <a:ln w="0">
            <a:noFill/>
            <a:prstDash val="solid"/>
          </a:ln>
        </p:spPr>
        <p:txBody>
          <a:bodyPr/>
          <a:lstStyle/>
          <a:p>
            <a:endParaRPr lang="zh-CN" altLang="en-US"/>
          </a:p>
        </p:txBody>
      </p:sp>
      <p:sp>
        <p:nvSpPr>
          <p:cNvPr id="3" name="矩形 2">
            <a:extLst>
              <a:ext uri="{FF2B5EF4-FFF2-40B4-BE49-F238E27FC236}">
                <a16:creationId xmlns:a16="http://schemas.microsoft.com/office/drawing/2014/main" id="{5C95981F-D388-4962-A9DD-26DDE1EFF843}"/>
              </a:ext>
            </a:extLst>
          </p:cNvPr>
          <p:cNvSpPr>
            <a:spLocks noGrp="1"/>
          </p:cNvSpPr>
          <p:nvPr/>
        </p:nvSpPr>
        <p:spPr>
          <a:xfrm>
            <a:off x="1638300" y="895350"/>
            <a:ext cx="7810500" cy="323850"/>
          </a:xfrm>
          <a:prstGeom prst="rect">
            <a:avLst/>
          </a:prstGeom>
          <a:noFill/>
          <a:ln w="0">
            <a:noFill/>
            <a:prstDash val="solid"/>
          </a:ln>
        </p:spPr>
        <p:txBody>
          <a:bodyPr/>
          <a:lstStyle/>
          <a:p>
            <a:pPr algn="l">
              <a:defRPr sz="1350" b="0" i="0">
                <a:solidFill>
                  <a:srgbClr val="475569"/>
                </a:solidFill>
              </a:defRPr>
            </a:pPr>
            <a:r>
              <a:rPr sz="1350" b="0" i="0">
                <a:solidFill>
                  <a:srgbClr val="475569"/>
                </a:solidFill>
              </a:rPr>
              <a:t>任务说明、基线结果与预训练模型论文</a:t>
            </a:r>
          </a:p>
        </p:txBody>
      </p:sp>
      <p:sp>
        <p:nvSpPr>
          <p:cNvPr id="4" name="矩形 3">
            <a:extLst>
              <a:ext uri="{FF2B5EF4-FFF2-40B4-BE49-F238E27FC236}">
                <a16:creationId xmlns:a16="http://schemas.microsoft.com/office/drawing/2014/main" id="{7C34FC81-7B6F-4FF5-9770-831F30F3467E}"/>
              </a:ext>
            </a:extLst>
          </p:cNvPr>
          <p:cNvSpPr>
            <a:spLocks noGrp="1"/>
          </p:cNvSpPr>
          <p:nvPr/>
        </p:nvSpPr>
        <p:spPr>
          <a:xfrm>
            <a:off x="895350" y="1504950"/>
            <a:ext cx="10287000" cy="4572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[1] CLUEbenchmark/CLUE. 中文语言理解测评基准与 CSL 任务说明. https://github.com/CLUEbenchmark/CLUE</a:t>
            </a:r>
          </a:p>
        </p:txBody>
      </p:sp>
      <p:sp>
        <p:nvSpPr>
          <p:cNvPr id="5" name="矩形 4">
            <a:extLst>
              <a:ext uri="{FF2B5EF4-FFF2-40B4-BE49-F238E27FC236}">
                <a16:creationId xmlns:a16="http://schemas.microsoft.com/office/drawing/2014/main" id="{247D53FB-AD12-42E4-B07F-242B559F7DE1}"/>
              </a:ext>
            </a:extLst>
          </p:cNvPr>
          <p:cNvSpPr>
            <a:spLocks noGrp="1"/>
          </p:cNvSpPr>
          <p:nvPr/>
        </p:nvSpPr>
        <p:spPr>
          <a:xfrm>
            <a:off x="895350" y="2228850"/>
            <a:ext cx="10287000" cy="4572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[2] Devlin et al. BERT: Pre-training of Deep Bidirectional Transformers for Language Understanding. arXiv:1810.04805.</a:t>
            </a:r>
          </a:p>
        </p:txBody>
      </p:sp>
      <p:sp>
        <p:nvSpPr>
          <p:cNvPr id="6" name="矩形 5">
            <a:extLst>
              <a:ext uri="{FF2B5EF4-FFF2-40B4-BE49-F238E27FC236}">
                <a16:creationId xmlns:a16="http://schemas.microsoft.com/office/drawing/2014/main" id="{C4867B37-A1BB-43C9-BB1A-03C2769FB08F}"/>
              </a:ext>
            </a:extLst>
          </p:cNvPr>
          <p:cNvSpPr>
            <a:spLocks noGrp="1"/>
          </p:cNvSpPr>
          <p:nvPr/>
        </p:nvSpPr>
        <p:spPr>
          <a:xfrm>
            <a:off x="895350" y="2952750"/>
            <a:ext cx="10287000" cy="4572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[3] Cui et al. Pre-Training with Whole Word Masking for Chinese BERT. arXiv:1906.08101.</a:t>
            </a:r>
          </a:p>
        </p:txBody>
      </p:sp>
      <p:sp>
        <p:nvSpPr>
          <p:cNvPr id="7" name="矩形 6">
            <a:extLst>
              <a:ext uri="{FF2B5EF4-FFF2-40B4-BE49-F238E27FC236}">
                <a16:creationId xmlns:a16="http://schemas.microsoft.com/office/drawing/2014/main" id="{28CEC789-ADAF-445B-9FEB-C8307AA436F0}"/>
              </a:ext>
            </a:extLst>
          </p:cNvPr>
          <p:cNvSpPr>
            <a:spLocks noGrp="1"/>
          </p:cNvSpPr>
          <p:nvPr/>
        </p:nvSpPr>
        <p:spPr>
          <a:xfrm>
            <a:off x="895350" y="3676650"/>
            <a:ext cx="10287000" cy="4572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[4] Cui et al. Revisiting Pre-Trained Models for Chinese Natural Language Processing. Findings of EMNLP 2020.</a:t>
            </a:r>
          </a:p>
        </p:txBody>
      </p:sp>
      <p:sp>
        <p:nvSpPr>
          <p:cNvPr id="8" name="矩形 7">
            <a:extLst>
              <a:ext uri="{FF2B5EF4-FFF2-40B4-BE49-F238E27FC236}">
                <a16:creationId xmlns:a16="http://schemas.microsoft.com/office/drawing/2014/main" id="{2D151815-183E-4110-9A4C-88A8536D461D}"/>
              </a:ext>
            </a:extLst>
          </p:cNvPr>
          <p:cNvSpPr>
            <a:spLocks noGrp="1"/>
          </p:cNvSpPr>
          <p:nvPr/>
        </p:nvSpPr>
        <p:spPr>
          <a:xfrm>
            <a:off x="895350" y="4400550"/>
            <a:ext cx="10287000" cy="457200"/>
          </a:xfrm>
          <a:prstGeom prst="rect">
            <a:avLst/>
          </a:prstGeom>
          <a:noFill/>
          <a:ln w="0">
            <a:noFill/>
            <a:prstDash val="solid"/>
          </a:ln>
        </p:spPr>
        <p:txBody>
          <a:bodyPr/>
          <a:lstStyle/>
          <a:p>
            <a:pPr algn="l">
              <a:defRPr sz="1500" b="0" i="0">
                <a:solidFill>
                  <a:srgbClr val="0F172A"/>
                </a:solidFill>
              </a:defRPr>
            </a:pPr>
            <a:r>
              <a:rPr sz="1500" b="0" i="0">
                <a:solidFill>
                  <a:srgbClr val="0F172A"/>
                </a:solidFill>
              </a:rPr>
              <a:t>[5] 本项目输出：assignment_bert_metrics.json、bert_error_summary.json、数据统计和图表文件。</a:t>
            </a:r>
          </a:p>
        </p:txBody>
      </p:sp>
      <p:sp>
        <p:nvSpPr>
          <p:cNvPr id="11" name="矩形 10">
            <a:extLst>
              <a:ext uri="{FF2B5EF4-FFF2-40B4-BE49-F238E27FC236}">
                <a16:creationId xmlns:a16="http://schemas.microsoft.com/office/drawing/2014/main" id="{A4FD1F05-3D40-4129-9E56-07486E8A775B}"/>
              </a:ext>
            </a:extLst>
          </p:cNvPr>
          <p:cNvSpPr>
            <a:spLocks noGrp="1"/>
          </p:cNvSpPr>
          <p:nvPr/>
        </p:nvSpPr>
        <p:spPr>
          <a:xfrm>
            <a:off x="685800" y="6343650"/>
            <a:ext cx="3429000" cy="266700"/>
          </a:xfrm>
          <a:prstGeom prst="rect">
            <a:avLst/>
          </a:prstGeom>
          <a:noFill/>
          <a:ln w="0">
            <a:noFill/>
            <a:prstDash val="solid"/>
          </a:ln>
        </p:spPr>
        <p:txBody>
          <a:bodyPr/>
          <a:lstStyle/>
          <a:p>
            <a:pPr algn="l">
              <a:defRPr sz="1200" b="0" i="0">
                <a:solidFill>
                  <a:srgbClr val="64748B"/>
                </a:solidFill>
              </a:defRPr>
            </a:pPr>
            <a:r>
              <a:rPr sz="1200" b="0" i="0">
                <a:solidFill>
                  <a:srgbClr val="64748B"/>
                </a:solidFill>
              </a:rPr>
              <a:t>CLUE-CSL 论文关键词识别</a:t>
            </a:r>
          </a:p>
        </p:txBody>
      </p:sp>
      <p:sp>
        <p:nvSpPr>
          <p:cNvPr id="12" name="矩形 11">
            <a:extLst>
              <a:ext uri="{FF2B5EF4-FFF2-40B4-BE49-F238E27FC236}">
                <a16:creationId xmlns:a16="http://schemas.microsoft.com/office/drawing/2014/main" id="{D37BEC92-265D-4932-BE85-6053246C2350}"/>
              </a:ext>
            </a:extLst>
          </p:cNvPr>
          <p:cNvSpPr>
            <a:spLocks noGrp="1"/>
          </p:cNvSpPr>
          <p:nvPr/>
        </p:nvSpPr>
        <p:spPr>
          <a:xfrm>
            <a:off x="11106150" y="6343650"/>
            <a:ext cx="400050" cy="266700"/>
          </a:xfrm>
          <a:prstGeom prst="rect">
            <a:avLst/>
          </a:prstGeom>
          <a:noFill/>
          <a:ln w="0">
            <a:noFill/>
            <a:prstDash val="solid"/>
          </a:ln>
        </p:spPr>
        <p:txBody>
          <a:bodyPr/>
          <a:lstStyle/>
          <a:p>
            <a:pPr algn="r">
              <a:defRPr sz="1200" b="0" i="0">
                <a:solidFill>
                  <a:srgbClr val="64748B"/>
                </a:solidFill>
              </a:defRPr>
            </a:pPr>
            <a:r>
              <a:rPr sz="1200" b="0" i="0">
                <a:solidFill>
                  <a:srgbClr val="64748B"/>
                </a:solidFill>
              </a:rPr>
              <a:t>16</a:t>
            </a:r>
          </a:p>
        </p:txBody>
      </p:sp>
    </p:spTree>
    <p:extLst>
      <p:ext uri="{BB962C8B-B14F-4D97-AF65-F5344CB8AC3E}">
        <p14:creationId xmlns:p14="http://schemas.microsoft.com/office/powerpoint/2010/main" val="1198594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3E404BC-F64F-DBAC-B127-AE45CFE24A4A}"/>
              </a:ext>
            </a:extLst>
          </p:cNvPr>
          <p:cNvPicPr>
            <a:picLocks noChangeAspect="1"/>
          </p:cNvPicPr>
          <p:nvPr/>
        </p:nvPicPr>
        <p:blipFill>
          <a:blip r:embed="rId2"/>
          <a:stretch>
            <a:fillRect/>
          </a:stretch>
        </p:blipFill>
        <p:spPr>
          <a:xfrm>
            <a:off x="876946" y="0"/>
            <a:ext cx="10438108" cy="6858000"/>
          </a:xfrm>
          <a:prstGeom prst="rect">
            <a:avLst/>
          </a:prstGeom>
        </p:spPr>
      </p:pic>
    </p:spTree>
    <p:extLst>
      <p:ext uri="{BB962C8B-B14F-4D97-AF65-F5344CB8AC3E}">
        <p14:creationId xmlns:p14="http://schemas.microsoft.com/office/powerpoint/2010/main" val="1247330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B676A82-CF78-C745-114F-9C3CDC7E80BF}"/>
              </a:ext>
            </a:extLst>
          </p:cNvPr>
          <p:cNvPicPr>
            <a:picLocks noChangeAspect="1"/>
          </p:cNvPicPr>
          <p:nvPr/>
        </p:nvPicPr>
        <p:blipFill>
          <a:blip r:embed="rId2"/>
          <a:stretch>
            <a:fillRect/>
          </a:stretch>
        </p:blipFill>
        <p:spPr>
          <a:xfrm>
            <a:off x="0" y="1576877"/>
            <a:ext cx="12192000" cy="3704246"/>
          </a:xfrm>
          <a:prstGeom prst="rect">
            <a:avLst/>
          </a:prstGeom>
        </p:spPr>
      </p:pic>
    </p:spTree>
    <p:extLst>
      <p:ext uri="{BB962C8B-B14F-4D97-AF65-F5344CB8AC3E}">
        <p14:creationId xmlns:p14="http://schemas.microsoft.com/office/powerpoint/2010/main" val="3774665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FBE183C-CA02-3FFE-6B9E-5C0E33B80B0E}"/>
              </a:ext>
            </a:extLst>
          </p:cNvPr>
          <p:cNvPicPr>
            <a:picLocks noChangeAspect="1"/>
          </p:cNvPicPr>
          <p:nvPr/>
        </p:nvPicPr>
        <p:blipFill>
          <a:blip r:embed="rId2"/>
          <a:stretch>
            <a:fillRect/>
          </a:stretch>
        </p:blipFill>
        <p:spPr>
          <a:xfrm>
            <a:off x="2004441" y="2252498"/>
            <a:ext cx="8183117" cy="2353003"/>
          </a:xfrm>
          <a:prstGeom prst="rect">
            <a:avLst/>
          </a:prstGeom>
        </p:spPr>
      </p:pic>
    </p:spTree>
    <p:extLst>
      <p:ext uri="{BB962C8B-B14F-4D97-AF65-F5344CB8AC3E}">
        <p14:creationId xmlns:p14="http://schemas.microsoft.com/office/powerpoint/2010/main" val="24174999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1619</Words>
  <Application>Microsoft Office PowerPoint</Application>
  <DocSecurity>0</DocSecurity>
  <PresentationFormat>宽屏</PresentationFormat>
  <Paragraphs>315</Paragraphs>
  <Slides>18</Slides>
  <Notes>15</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18</vt:i4>
      </vt:variant>
    </vt:vector>
  </HeadingPairs>
  <TitlesOfParts>
    <vt:vector size="20"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继明 吕</cp:lastModifiedBy>
  <cp:revision>6</cp:revision>
  <dcterms:created xsi:type="dcterms:W3CDTF">2026-06-23T12:30:05Z</dcterms:created>
  <dcterms:modified xsi:type="dcterms:W3CDTF">2026-06-24T05:14:26Z</dcterms:modified>
</cp:coreProperties>
</file>