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464870589c4bec" /><Relationship Type="http://schemas.openxmlformats.org/officeDocument/2006/relationships/extended-properties" Target="/docProps/app.xml" Id="R02d80c55c25d448f" /><Relationship Type="http://schemas.openxmlformats.org/officeDocument/2006/relationships/officeDocument" Target="/ppt/presentation.xml" Id="Rdf04839cd47749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38f7cc36754ffc"/>
  </p:sldMasterIdLst>
  <p:notesMasterIdLst>
    <p:notesMasterId xmlns:r="http://schemas.openxmlformats.org/officeDocument/2006/relationships" r:id="Rb96d80a32def4e1d"/>
  </p:notesMasterIdLst>
  <p:sldIdLst>
    <p:sldId xmlns:r="http://schemas.openxmlformats.org/officeDocument/2006/relationships" id="256" r:id="Rc64b64b6e41a4fbf"/>
    <p:sldId xmlns:r="http://schemas.openxmlformats.org/officeDocument/2006/relationships" id="257" r:id="Rad394f31c6ee4f75"/>
    <p:sldId xmlns:r="http://schemas.openxmlformats.org/officeDocument/2006/relationships" id="258" r:id="R953dd80868e849b7"/>
    <p:sldId xmlns:r="http://schemas.openxmlformats.org/officeDocument/2006/relationships" id="259" r:id="R04eba2b9943f479c"/>
    <p:sldId xmlns:r="http://schemas.openxmlformats.org/officeDocument/2006/relationships" id="260" r:id="R7b895b06403a408f"/>
    <p:sldId xmlns:r="http://schemas.openxmlformats.org/officeDocument/2006/relationships" id="261" r:id="R519ec62297924f4f"/>
    <p:sldId xmlns:r="http://schemas.openxmlformats.org/officeDocument/2006/relationships" id="262" r:id="R68f669c080fe40bc"/>
    <p:sldId xmlns:r="http://schemas.openxmlformats.org/officeDocument/2006/relationships" id="263" r:id="Rf115deda8f2541bd"/>
    <p:sldId xmlns:r="http://schemas.openxmlformats.org/officeDocument/2006/relationships" id="264" r:id="Rf0843bb9dfed4f6a"/>
    <p:sldId xmlns:r="http://schemas.openxmlformats.org/officeDocument/2006/relationships" id="265" r:id="R4ed3bee446f34421"/>
    <p:sldId xmlns:r="http://schemas.openxmlformats.org/officeDocument/2006/relationships" id="266" r:id="Raf7864787796448f"/>
    <p:sldId xmlns:r="http://schemas.openxmlformats.org/officeDocument/2006/relationships" id="267" r:id="R2420c9c219ab4038"/>
    <p:sldId xmlns:r="http://schemas.openxmlformats.org/officeDocument/2006/relationships" id="268" r:id="R34411558b4674745"/>
    <p:sldId xmlns:r="http://schemas.openxmlformats.org/officeDocument/2006/relationships" id="269" r:id="Rdbf729ca57e544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93a2e8919f497a" /><Relationship Type="http://schemas.openxmlformats.org/officeDocument/2006/relationships/slideMaster" Target="/ppt/slideMasters/slideMaster1.xml" Id="R8038f7cc36754ffc" /><Relationship Type="http://schemas.openxmlformats.org/officeDocument/2006/relationships/notesMaster" Target="/ppt/notesMasters/notesMaster1.xml" Id="Rb96d80a32def4e1d" /><Relationship Type="http://schemas.openxmlformats.org/officeDocument/2006/relationships/presProps" Target="/ppt/presProps.xml" Id="Rd0425146159f48bc" /><Relationship Type="http://schemas.openxmlformats.org/officeDocument/2006/relationships/viewProps" Target="/ppt/viewProps.xml" Id="R7d4e19a2f1404a9f" /><Relationship Type="http://schemas.openxmlformats.org/officeDocument/2006/relationships/tableStyles" Target="/ppt/tableStyles.xml" Id="R560a9bc424f949c3" /><Relationship Type="http://schemas.openxmlformats.org/officeDocument/2006/relationships/slide" Target="/ppt/slides/slide1.xml" Id="Rc64b64b6e41a4fbf" /><Relationship Type="http://schemas.openxmlformats.org/officeDocument/2006/relationships/slide" Target="/ppt/slides/slide2.xml" Id="Rad394f31c6ee4f75" /><Relationship Type="http://schemas.openxmlformats.org/officeDocument/2006/relationships/slide" Target="/ppt/slides/slide3.xml" Id="R953dd80868e849b7" /><Relationship Type="http://schemas.openxmlformats.org/officeDocument/2006/relationships/slide" Target="/ppt/slides/slide4.xml" Id="R04eba2b9943f479c" /><Relationship Type="http://schemas.openxmlformats.org/officeDocument/2006/relationships/slide" Target="/ppt/slides/slide5.xml" Id="R7b895b06403a408f" /><Relationship Type="http://schemas.openxmlformats.org/officeDocument/2006/relationships/slide" Target="/ppt/slides/slide6.xml" Id="R519ec62297924f4f" /><Relationship Type="http://schemas.openxmlformats.org/officeDocument/2006/relationships/slide" Target="/ppt/slides/slide7.xml" Id="R68f669c080fe40bc" /><Relationship Type="http://schemas.openxmlformats.org/officeDocument/2006/relationships/slide" Target="/ppt/slides/slide8.xml" Id="Rf115deda8f2541bd" /><Relationship Type="http://schemas.openxmlformats.org/officeDocument/2006/relationships/slide" Target="/ppt/slides/slide9.xml" Id="Rf0843bb9dfed4f6a" /><Relationship Type="http://schemas.openxmlformats.org/officeDocument/2006/relationships/slide" Target="/ppt/slides/slide10.xml" Id="R4ed3bee446f34421" /><Relationship Type="http://schemas.openxmlformats.org/officeDocument/2006/relationships/slide" Target="/ppt/slides/slide11.xml" Id="Raf7864787796448f" /><Relationship Type="http://schemas.openxmlformats.org/officeDocument/2006/relationships/slide" Target="/ppt/slides/slide12.xml" Id="R2420c9c219ab4038" /><Relationship Type="http://schemas.openxmlformats.org/officeDocument/2006/relationships/slide" Target="/ppt/slides/slide13.xml" Id="R34411558b4674745" /><Relationship Type="http://schemas.openxmlformats.org/officeDocument/2006/relationships/slide" Target="/ppt/slides/slide14.xml" Id="Rdbf729ca57e5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83b2233d9443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5c90e57f1b4a83" /><Relationship Type="http://schemas.openxmlformats.org/officeDocument/2006/relationships/notesMaster" Target="/ppt/notesMasters/notesMaster1.xml" Id="R325db43aa7324e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dbe20ae2b04488" /><Relationship Type="http://schemas.openxmlformats.org/officeDocument/2006/relationships/notesMaster" Target="/ppt/notesMasters/notesMaster1.xml" Id="R1c993b080b114e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85f374d25425b" /><Relationship Type="http://schemas.openxmlformats.org/officeDocument/2006/relationships/notesMaster" Target="/ppt/notesMasters/notesMaster1.xml" Id="R385f90b7eb9741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21eda5d6474f37" /><Relationship Type="http://schemas.openxmlformats.org/officeDocument/2006/relationships/notesMaster" Target="/ppt/notesMasters/notesMaster1.xml" Id="R001f046589464f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86aaaf39a347ac" /><Relationship Type="http://schemas.openxmlformats.org/officeDocument/2006/relationships/notesMaster" Target="/ppt/notesMasters/notesMaster1.xml" Id="R1f17207628ed42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4a11d7283b4363" /><Relationship Type="http://schemas.openxmlformats.org/officeDocument/2006/relationships/notesMaster" Target="/ppt/notesMasters/notesMaster1.xml" Id="R3206fc76eded4a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862017327e4956" /><Relationship Type="http://schemas.openxmlformats.org/officeDocument/2006/relationships/notesMaster" Target="/ppt/notesMasters/notesMaster1.xml" Id="R3f312a01c9e14d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021c6c41fc446f" /><Relationship Type="http://schemas.openxmlformats.org/officeDocument/2006/relationships/notesMaster" Target="/ppt/notesMasters/notesMaster1.xml" Id="Rce7855f4c17945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429a0a0b584dec" /><Relationship Type="http://schemas.openxmlformats.org/officeDocument/2006/relationships/notesMaster" Target="/ppt/notesMasters/notesMaster1.xml" Id="R2d991462847c43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7d10f35f6f407b" /><Relationship Type="http://schemas.openxmlformats.org/officeDocument/2006/relationships/notesMaster" Target="/ppt/notesMasters/notesMaster1.xml" Id="R938884b1ce204a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76da60394f4c81" /><Relationship Type="http://schemas.openxmlformats.org/officeDocument/2006/relationships/notesMaster" Target="/ppt/notesMasters/notesMaster1.xml" Id="R9195896b14b245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b257d6cf124dd9" /><Relationship Type="http://schemas.openxmlformats.org/officeDocument/2006/relationships/notesMaster" Target="/ppt/notesMasters/notesMaster1.xml" Id="Raa1edd3be1724c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838d8db22a4081" /><Relationship Type="http://schemas.openxmlformats.org/officeDocument/2006/relationships/notesMaster" Target="/ppt/notesMasters/notesMaster1.xml" Id="R7ff30d7a10b64c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7e1ac738f54791" /><Relationship Type="http://schemas.openxmlformats.org/officeDocument/2006/relationships/notesMaster" Target="/ppt/notesMasters/notesMaster1.xml" Id="R0df0637885624f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6a0dec92448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ea0b1f0718492f" /><Relationship Type="http://schemas.openxmlformats.org/officeDocument/2006/relationships/slideLayout" Target="/ppt/slideLayouts/slideLayout1.xml" Id="R1b3c2952811f4b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3c2952811f4b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6115428e1467b" /><Relationship Type="http://schemas.openxmlformats.org/officeDocument/2006/relationships/notesSlide" Target="/ppt/notesSlides/notesSlide1.xml" Id="Rd2651ffe54ba4c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3a0f995e34db1" /><Relationship Type="http://schemas.openxmlformats.org/officeDocument/2006/relationships/notesSlide" Target="/ppt/notesSlides/notesSlide2.xml" Id="R151e9dbef3aa46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b2cb218e24d41" /><Relationship Type="http://schemas.openxmlformats.org/officeDocument/2006/relationships/notesSlide" Target="/ppt/notesSlides/notesSlide3.xml" Id="Rbd79bb5a08944a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b577d1b7c462f" /><Relationship Type="http://schemas.openxmlformats.org/officeDocument/2006/relationships/notesSlide" Target="/ppt/notesSlides/notesSlide4.xml" Id="R4fe049cc795f4c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6192dc35745ac" /><Relationship Type="http://schemas.openxmlformats.org/officeDocument/2006/relationships/notesSlide" Target="/ppt/notesSlides/notesSlide5.xml" Id="Re48727ac08bf48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b7224ae9e4619" /><Relationship Type="http://schemas.openxmlformats.org/officeDocument/2006/relationships/notesSlide" Target="/ppt/notesSlides/notesSlide6.xml" Id="R76aae73115ad4d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3190444924541" /><Relationship Type="http://schemas.openxmlformats.org/officeDocument/2006/relationships/notesSlide" Target="/ppt/notesSlides/notesSlide7.xml" Id="Rfa05fdd1b4ac4c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f32063f9046b9" /><Relationship Type="http://schemas.openxmlformats.org/officeDocument/2006/relationships/notesSlide" Target="/ppt/notesSlides/notesSlide8.xml" Id="Rcedf9f1938b646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e6ca3ae374186" /><Relationship Type="http://schemas.openxmlformats.org/officeDocument/2006/relationships/notesSlide" Target="/ppt/notesSlides/notesSlide9.xml" Id="Ra55fd2182e634c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a3f56ce494749" /><Relationship Type="http://schemas.openxmlformats.org/officeDocument/2006/relationships/notesSlide" Target="/ppt/notesSlides/notesSlide10.xml" Id="R6548f91e148744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f21e24d3a4dc5" /><Relationship Type="http://schemas.openxmlformats.org/officeDocument/2006/relationships/notesSlide" Target="/ppt/notesSlides/notesSlide11.xml" Id="R1ca90b04f97c4b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d6d2089ea4702" /><Relationship Type="http://schemas.openxmlformats.org/officeDocument/2006/relationships/notesSlide" Target="/ppt/notesSlides/notesSlide12.xml" Id="R4800f12b49fa44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96c468da84fac" /><Relationship Type="http://schemas.openxmlformats.org/officeDocument/2006/relationships/notesSlide" Target="/ppt/notesSlides/notesSlide13.xml" Id="Rec6eca48a1c741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5d0dab90a4983" /><Relationship Type="http://schemas.openxmlformats.org/officeDocument/2006/relationships/notesSlide" Target="/ppt/notesSlides/notesSlide14.xml" Id="R2e7c2da68e7e41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53BD2D-52B1-4A1D-9493-4C66F5FF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C6EEF56-47E8-47EA-9112-F4C08B19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51E130C-27AA-4BEB-8B04-A24C825A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COURSE PROJECT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D2B13-3108-4D1B-A729-4FA1A733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Single-Cell Omics</a:t>
            </a:r>
          </a:p>
          <a:p xmlns:a="http://schemas.openxmlformats.org/drawingml/2006/main">
            <a:pPr algn="l">
              <a:defRPr sz="40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Collaborative RAG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E84B1-C39E-43A1-8D3B-958E6F34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628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一个面向单细胞与空间组学知识资产的可解释问答系统：向量检索、Agentic 规划、结构化知识库、记忆系统与 UniProt Skill 在同一条协作链路中工作。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0D2DA-21AA-437B-ABC6-8DA06C65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23900"/>
            <a:ext cx="3429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1430">
            <a:solidFill>
              <a:srgbClr val="D7CD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491AF-D98D-4768-BD55-1180ACE8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02870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System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94531-B2A6-466C-AF80-2A2A4A1D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848C4-ACDD-4A82-B357-C7BF05F3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knowledge asset metadata 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EEE4F-A0FA-4C77-8021-DC0F298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002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rPr>
              <a:t>4,696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6BB68-7BAE-4FDE-AE46-1470E1D4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57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embedded knowledge chunks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87D8C-244A-4734-BB21-4EC3A03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67E24-CB14-4A7A-A0F6-AB8E5F8B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benchmark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6A08A-7022-4332-B8E8-ADB26185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57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9573D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57874-7662-49A2-A765-FE60D88A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collaborating capabilities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E9EB7-CD58-4D5F-8F1D-EFB36B09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291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AF3"/>
          </a:solidFill>
          <a:ln xmlns:a="http://schemas.openxmlformats.org/drawingml/2006/main" w="9525">
            <a:solidFill>
              <a:srgbClr val="1E5B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5FC95-3218-43D0-9F01-DCDD9E21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767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bge-m3 embeddings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E9907-627A-448C-AB80-ABACA548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29100"/>
            <a:ext cx="1485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DEA"/>
          </a:solidFill>
          <a:ln xmlns:a="http://schemas.openxmlformats.org/drawingml/2006/main" w="9525">
            <a:solidFill>
              <a:srgbClr val="0E7C7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5F5F2-9714-4C43-8EC0-4FED9039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767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C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4"/>
                </a:solidFill>
                <a:latin typeface="Aptos"/>
                <a:ea typeface="Aptos"/>
                <a:cs typeface="Aptos"/>
              </a:rPr>
              <a:t>DeepSeek-V4-Flash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4C4D4-D21A-43A1-92D6-E9E9972F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48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DDD6"/>
          </a:solidFill>
          <a:ln xmlns:a="http://schemas.openxmlformats.org/drawingml/2006/main" w="9525">
            <a:solidFill>
              <a:srgbClr val="C957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A2B5D-B889-4769-8C56-D5A381A3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958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57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573D"/>
                </a:solidFill>
                <a:latin typeface="Aptos"/>
                <a:ea typeface="Aptos"/>
                <a:cs typeface="Aptos"/>
              </a:rPr>
              <a:t>UniProt REST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C22F7-1DC1-4B91-8072-6B4B89AC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48200"/>
            <a:ext cx="1485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88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4156B-0024-471F-91B5-26E54954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958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SQLite + NumPy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ADA326-066C-4B33-B303-73A536A4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Course project: single-cell/spatial omics RAG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02D65-E996-413B-8BB7-035FE649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66403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DD64B-5BFD-433F-83CA-CD36F67A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C618BD-015E-408C-BE33-22154F2C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F2F258-28D3-4623-8015-73432E9C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PROBLEM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59B80-963B-4856-9755-9E4DE79C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单细胞组学问答不是“搜到一段话”就够了。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8C90B-D894-4740-B75D-87C9B6F8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真实问题经常同时包含方法名、年份/期刊、空间上下文、蛋白/基因实体，以及前后对话偏好。单纯向量检索容易漏掉这些约束。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F731C-E499-44F7-B556-E20BEBC2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1430">
            <a:solidFill>
              <a:srgbClr val="1E5B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0AC33-A2F9-4D72-A4A9-D6D7ABA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253B1-98AE-4641-ACEA-39BE15C9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E24CA-C474-45A8-93D3-EA9B0C31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文献证据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2005B-4A27-42FA-B81B-FB5BD762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回答必须回到 PDF / EPUB 原文片段，并给出可追溯引用。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784F6-C493-4FE3-92BD-E473F684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A"/>
          </a:solidFill>
          <a:ln xmlns:a="http://schemas.openxmlformats.org/drawingml/2006/main" w="11430">
            <a:solidFill>
              <a:srgbClr val="0E7C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ABBA2-253B-4EBA-BE88-5418B3A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7B6DF-FD5B-4BDB-A22F-10902BCA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81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4"/>
                </a:solidFill>
                <a:latin typeface="Aptos"/>
                <a:ea typeface="Aptos"/>
                <a:cs typeface="Aptos"/>
              </a:rPr>
              <a:t>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FC146-E5AE-49CD-91C4-ABACF6EB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527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精确元数据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7553B-E4B4-4E91-8346-73638D0A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21945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2026、Nature Biotechnology、foundation model 这类条件更适合结构化过滤。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D2D50-6E82-4B32-86F3-ED4E1D98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6"/>
          </a:solidFill>
          <a:ln xmlns:a="http://schemas.openxmlformats.org/drawingml/2006/main" w="11430">
            <a:solidFill>
              <a:srgbClr val="C957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EA2F8-BBDB-49F0-ADF3-140061D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CFDBA-331E-457A-A11C-65BB180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57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573D"/>
                </a:solidFill>
                <a:latin typeface="Aptos"/>
                <a:ea typeface="Aptos"/>
                <a:cs typeface="Aptos"/>
              </a:rPr>
              <a:t>BIOLOGY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C7081-C1EE-4C00-932C-710C38FC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生物实体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B7783-1EDE-4378-8694-31BA1D56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OCT4、TP53 等实体需要标准 accession、别名与功能注释。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2E0EB-BE91-424F-9805-5F34F0D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C8"/>
          </a:solidFill>
          <a:ln xmlns:a="http://schemas.openxmlformats.org/drawingml/2006/main" w="11430">
            <a:solidFill>
              <a:srgbClr val="B887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50051-3EC1-4358-84FE-71DD6EEC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0A0EF-FD3F-41BD-9920-80A9B0F6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7813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133106-BE15-4092-AB60-B8A352BF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52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上下文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A3EDD-97A4-46EB-8413-C0974D9C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219450"/>
            <a:ext cx="1295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多轮交互需要保存历史问题、答案和语义关系。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28ACC-9F1D-44CD-AF06-3F083F02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861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17A59-04BF-4B48-A91C-F4F0DE3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57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EF9F4E-A1B7-4E9A-A0EF-706CBC51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861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42D12-7EEC-4AF8-A980-6ACE4D08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57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9D2972-2373-40F5-BBBF-293C7D18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10429-EEF7-4053-879F-446A36F8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19714-2D85-4CBF-93AE-6CB0C447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设计目标：把“检索、规划、结构化约束、记忆、外部数据库”放进一条可展示、可测试、可解释的协作链路。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9E1B99-57DA-4F2B-A4EF-E8A30653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Single-Cell Omics RAG 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BDF2B0-A25E-497D-A26A-A6EB1FB8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68417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D9DC3-E1F0-47D1-B31A-8B3FDAF8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4B1938-6145-48FE-90EB-E51C8640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2D4A01-BD37-4BE8-9A92-4ECE60EB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KNOWLEDGE ASSETS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A73B7-CF03-4094-A44A-F0D34F8B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知识资产已经形成可向量化、可结构化、可追溯的资产层。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82F41-DA60-4CE2-873F-B42F8CA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809-8469-4AD9-BA17-9E115254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source.json / keywords.json metadata 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656B7-50D2-4F07-9E4C-CB02185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19F45-CAE2-41A2-84B3-98B24B2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papers / books loaded into structured KB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9F8A7-C898-446E-B3F6-00CDA2D5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002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rPr>
              <a:t>4,696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C2DF8-770F-4A05-808C-DFD8DC7F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runtime vector chunks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E8397-4E39-4382-993C-ED4853F2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57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9573D"/>
                </a:solidFill>
                <a:latin typeface="Aptos Display"/>
                <a:ea typeface="Aptos Display"/>
                <a:cs typeface="Aptos Display"/>
              </a:rPr>
              <a:t>1,024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71DF7-8204-4A0D-A861-2B01D108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bge-m3 embedding dimensions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2F01F-0E5C-415D-A141-67E36D6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8EC10-502E-4A3D-B0C3-219A5F1A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119A2-1EDB-4BD2-9463-52328106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538E6-666D-4C76-AD21-0CB2822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099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Physical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DEE12-5912-434E-8C83-070BBF7B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B767F-0306-41B2-98D9-3FFC89FD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0997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024EB-2C73-4E65-80F2-2F702A06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92CEB-FFD3-489A-9AD1-B06E37B9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Knowledge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999B4-3354-4557-ADB1-F6B2AD4B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433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DA2E9-00C4-4B38-81B1-EF58C5D9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195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data/**/content + source.json + keywords.json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21853-E520-4080-84A2-D17057D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433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59506-72E4-4262-895C-737E51B5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195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Store source files, provenance, methods, themes, and keywords.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68BEB6-DC6F-47CF-B0C9-A77B0893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CFBF4E-A279-49C3-AD32-8C38C113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Vector store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06F298-5518-4E24-83FD-439AC8D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4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F574E6-8CCD-46FB-9196-95AD50E4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386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storage/vector_store_bge_m3/chunks.jsonl + vectors.npy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5FE03A-84D2-4649-B6A7-F9D07450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624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EB2737-93E5-49DA-9BAF-0D1BCE8B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386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Fast semantic retrieval over PDF / EPUB / text chunks.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2EE0A8-0F5A-406A-8C6D-5822090D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9965E2-0EC0-4353-9643-2F6DB7BD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Structured KB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08CF91-5899-4979-AFD5-B0D23B17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180638-EB8F-4CA8-A12A-D3215F53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57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storage/structured_kb.sqlite3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E8CA25-0F86-47B8-855A-E7C37EBB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815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884959-011A-495D-8935-E1DD6270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577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Exact lookup by year, journal, method, theme, and keyword.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7F6777-E3F8-439C-96F9-304A0806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EF7AC5-36FD-4AF1-8151-C1F38DB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465709-08A3-4256-9349-C501B2BC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006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416525-DE50-4502-8A47-0EFE76F5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768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storage/memory.sqlite3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83508F-932D-4AE4-82B4-572D70D0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006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E905A4-8D4D-42ED-9A31-2B8C48E8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768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Persist working, episodic, and semantic interaction history.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3D1104-D6CE-4971-8881-2F0AAAA6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Local evidence: manifest.json, health endpoint, SQLite table counts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BD5C43-DBF2-46B4-9955-D9CFF946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89105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7466B4-36E1-4649-AD40-927CFE3B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7EFEB8-B470-4A46-8A93-DED273F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A01E2B8-F6EF-419F-BD4C-FA5434B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INGESTION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B729A-CF40-4C6F-B0C5-A837D5A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同一份知识资产被同时送入向量库和结构化库。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7F939-3BFF-4301-9812-7EE5CBAD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1430">
            <a:solidFill>
              <a:srgbClr val="1720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724EF-E3E4-498C-94BF-4810E086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DAF08-6441-4CC0-A115-ED23BDC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2488F-1F53-4E45-8F53-961BAF7A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PDF / EPUB /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EA943-45ED-4BC1-944B-3CE4430A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出版书籍、顶刊论文和项目文档进入 content/。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F6751-94E5-413C-AFA3-E885772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1430">
            <a:solidFill>
              <a:srgbClr val="1E5B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48D4B-CAB7-4206-A58F-CA1158FA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B031C-9710-4DEB-84D8-AD3B421E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955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DEBB5-27AE-4D82-BAD4-FAE8BBD1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Chunking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97763-3402-4D6A-B916-320F48B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3370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按字符窗口切分，保留 overlap 和 source metadata。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3A60E-7CF0-453C-B244-AED12AEA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C8"/>
          </a:solidFill>
          <a:ln xmlns:a="http://schemas.openxmlformats.org/drawingml/2006/main" w="11430">
            <a:solidFill>
              <a:srgbClr val="B887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2A5E6-60B5-4814-9171-AB37FE03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7CE6D-5188-4FF8-BC94-F887B385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VECTOR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EC6D9-CDCB-436F-A871-812F4D41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Embedding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870F2-8D2E-421E-8AAB-D7DF5603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Ollama bge-m3 生成 1024 维向量。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4BDF7-0D58-430B-8E27-60DC16AA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A"/>
          </a:solidFill>
          <a:ln xmlns:a="http://schemas.openxmlformats.org/drawingml/2006/main" w="11430">
            <a:solidFill>
              <a:srgbClr val="0E7C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07C23-A733-4E8C-9673-59BACAA1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F0BA1-8151-4D98-B9E4-5D5D2DE8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955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4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DA39E-FDDC-4B4E-855A-382D5414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Structured KB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0FA42-F317-4DB2-BE9C-A02FB92D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3370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从 source/keywords 提取 paper、author、method、theme。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2D065-DF37-48F1-AB25-55B35B27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6"/>
          </a:solidFill>
          <a:ln xmlns:a="http://schemas.openxmlformats.org/drawingml/2006/main" w="11430">
            <a:solidFill>
              <a:srgbClr val="C957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F53B9-F533-4DE7-A440-6034A1A2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81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C3CCF-EF08-4DD4-A0EE-CA3A48E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955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57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573D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0FD188-73AE-41B8-AF9A-92ED9A3C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670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Runtime RAG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9DB79-8C04-4733-AD34-FB023415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3370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问题先检索，再把证据与 trace 交给 LLM。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07A2A3-89CA-46B4-ADA6-E0C7D9FC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432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826AA7-75C1-4D87-90F2-BB8448BA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C070CB-9110-43EC-BE36-8923CC43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432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E1D928-F50C-476F-BBC3-63B50B1F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A5ADAE-F7AA-4218-8B84-C1B4C27F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432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75FF92-3C68-48E0-B1C8-5C7D00B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85CC5B-8E73-453E-B571-03A0148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432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E204AB-194C-4F75-9295-50C72955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8A1AA7-C56B-49EB-B95E-F8202618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988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5F9226-D8E2-41A0-9C01-9BD97897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关键工程选择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05CD03-4441-4B74-88CB-C068C21C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101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AF3"/>
          </a:solidFill>
          <a:ln xmlns:a="http://schemas.openxmlformats.org/drawingml/2006/main" w="9525">
            <a:solidFill>
              <a:srgbClr val="1E5B8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5541FB-0F3A-40E2-8B46-7BA03CCD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577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PyCharm friendly constants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53CCE0-FBBC-4CF0-BBF4-8736544F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101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DDD6"/>
          </a:solidFill>
          <a:ln xmlns:a="http://schemas.openxmlformats.org/drawingml/2006/main" w="9525">
            <a:solidFill>
              <a:srgbClr val="C9573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3EA65D-1424-4B2C-B8A8-F5E08838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577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57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573D"/>
                </a:solidFill>
                <a:latin typeface="Aptos"/>
                <a:ea typeface="Aptos"/>
                <a:cs typeface="Aptos"/>
              </a:rPr>
              <a:t>No CPU fallback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8CDBB5-0DB6-45C8-82B6-AA02405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DEA"/>
          </a:solidFill>
          <a:ln xmlns:a="http://schemas.openxmlformats.org/drawingml/2006/main" w="9525">
            <a:solidFill>
              <a:srgbClr val="0E7C7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1FDBFC-9F6A-469D-B047-2B884F2D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57725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C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4"/>
                </a:solidFill>
                <a:latin typeface="Aptos"/>
                <a:ea typeface="Aptos"/>
                <a:cs typeface="Aptos"/>
              </a:rPr>
              <a:t>Resume-aware rebuild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228508-5EAC-4E72-BC25-B449007A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0100"/>
            <a:ext cx="1752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887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C4AE7E-2D48-4B0C-BEB2-028A8B1D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57725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Source-level provenance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4C09EB-5BF1-4E9B-9604-D07874A2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Single-Cell Omics RAG Agent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5DF2A1-E6A2-4D61-B429-74AFEDA7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25962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43CEC-5D39-4905-B2A0-FD3614BA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6A86CB9-F91F-43CB-9F8E-945D7AB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CB6BD7-3E1E-4C4D-BD52-EC4A7C9B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BASELINE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0CD24-E1C5-4ECF-BAE6-43872CB4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基础 RAG 提供最小闭环：检索证据，再生成带来源答案。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AC8A3-209F-487D-AE43-30D5195C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1430">
            <a:solidFill>
              <a:srgbClr val="1720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2F8B1-2AC9-4A22-9974-5E6BA7D6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2529B-91BA-4268-B4AE-CCF73A77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04534-6939-4B71-9C64-46A819BE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29148-C967-4A84-B211-F7302772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用户问题被 embedding 成查询向量。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6F239-31D8-4DB0-A35D-BCB17164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1430">
            <a:solidFill>
              <a:srgbClr val="1E5B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72370-3EB5-4AD8-BC48-E826B496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37B0C-2B79-491E-96AB-90F2EA15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BF0B1-EFED-47EA-92C7-ECC1905B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Vector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176EB-8456-4804-86EF-B82BD3C6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在 4696 个 chunk 中做相似度检索。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31FF9-374D-4D61-8EB4-BCDFF83B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C8"/>
          </a:solidFill>
          <a:ln xmlns:a="http://schemas.openxmlformats.org/drawingml/2006/main" w="11430">
            <a:solidFill>
              <a:srgbClr val="B887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9F0E2-85A4-4D09-9425-F70CB239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D9A1D-EB08-4BC0-BB3F-1B68DA8C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97BBC-2954-4997-B7A6-33D09960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Context pack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8EF32-3314-49A6-BE39-50B721B1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拼接 top-k 原文片段和 metadata。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9A9263-1883-480F-B90D-4F603EFF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6"/>
          </a:solidFill>
          <a:ln xmlns:a="http://schemas.openxmlformats.org/drawingml/2006/main" w="11430">
            <a:solidFill>
              <a:srgbClr val="C957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E7B80-EF71-4290-A756-B52661C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2031B-356D-45A9-9A1C-24F56611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57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57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109D1-0C48-4AD3-9D35-7F86E084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LLM answer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F90D97-D10C-468D-8A74-A1635B13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DeepSeek-V4-Flash 生成中文答案与引用。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447A6-75C6-4546-8935-74C689B3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527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DCE4C0-BE78-4EA7-BFAE-B3427A36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96F12-3BA0-4FDC-9760-3308CAB9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527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D3D239-0419-41AA-B2D9-BFB25103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8F078-978B-4503-A656-0C4962D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4294B3-53FF-4FDB-9102-2A4FEDD6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24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804BBB-B57C-4361-AB2E-5869803F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D303D4-BF6C-48C9-A074-7575DD5B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814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Strength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3AB548-63A2-44CB-AE26-B0D7C81F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9F442F-FA0F-480A-A13B-E110F642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814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0061FC-8FFB-421D-9F26-ABE4A5B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17CD38-AE96-4EA0-8F84-AA317AF7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814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optional modules are needed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D2759C-C9AF-4A22-996E-14F65948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BA6166-4721-49BA-9F2D-B474994F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Simple and transparent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2981E3-6A90-498D-BB95-6B175F6A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8BD159-0AA9-4E91-A69A-E2D99D18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query may miss multi-part questions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2099C8-7D3F-4E6D-A555-BCD6E8CF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AB9AA2-50A8-448F-81C5-8FA8D12A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010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Agentic planner decomposes retrieval.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481C31-7651-4B1C-AAB0-0867F56E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98704B-622A-46B6-8ACF-B83A9660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Fast over current corpus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D6A590-6882-4693-92A3-4D9B27A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CC15A9-AFBD-4923-84AC-01289100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Metadata constraints are implicit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143DB6-F157-433F-9872-92CCBB19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7205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DF76EE-7DAD-40AC-A42F-62B503E1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482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Structured KB filters exact paper/year/theme.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EEED9F-D599-4C99-99C5-619D01F4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38DEBD-7C93-42C2-8B8D-7943AC57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864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Evidence-grounded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671B06-E3CA-4333-AD90-61411286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102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60CA58-B89A-4F54-9469-7E552CB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persistent user context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A842C4-5C63-443B-B082-E23A34B1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102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02DCE6-E991-46E8-A181-E616FA42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8640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Memory carries useful previous interactions.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1B8256-AF1E-46DF-8B31-E6E662CF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Single-Cell Omics RAG 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1436E0-EC4C-48B8-95E8-A5181BF9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9214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BF1CD-5F7F-440F-9B95-749B08B7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98DD628-8584-452F-9679-17F776A2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8A5690-DF07-4732-B8BD-EDBD01F6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AGENTIC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96B53-FDC4-4DBB-9896-71C47341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Agentic RAG 把复杂问题拆成可执行检索计划。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05506-C60F-4ED1-BBB1-A16822E7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Example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9CD5D-163F-4C1A-8E3B-AF2284A8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比较 Nicheformer 和 CONCORD 在单细胞组学中的作用差异。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1E46-B9D8-490F-A9FF-729CCCFD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1430">
            <a:solidFill>
              <a:srgbClr val="1E5B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3F407-5CB4-44FC-9C8B-4AE6B147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4163D-E742-44E0-9F6C-284993A4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14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8D532-A238-4985-839E-928ECCD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859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Step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F2ADA-C0DF-4B4A-9E50-33B9A56C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检索 Nicheformer 的任务、输入数据和空间上下文能力。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31686-2ABC-40AF-8CD6-FD1C50BD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1430">
            <a:solidFill>
              <a:srgbClr val="1E5B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9D441-3EFF-4B18-8C88-6DC0F295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1C400-64D2-4561-BE3F-B274A5B2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33CA4-033C-4F95-8A03-64E72B4F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432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Step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818C7-13DE-4BC9-A347-D8F532FB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099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检索 CONCORD 的 cell-state landscape 和批次影响处理。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964F8-8698-4FA8-97AD-A93CF25C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C8"/>
          </a:solidFill>
          <a:ln xmlns:a="http://schemas.openxmlformats.org/drawingml/2006/main" w="11430">
            <a:solidFill>
              <a:srgbClr val="B887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22DA8-975B-4E6B-8BBF-F59D620E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6D9F3-82E0-4609-BCBE-2895EFA9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291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57724-C3DE-4278-8EBB-C5430F1F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005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Step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CCC97-C27E-442F-8808-54F7270F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综合比较，去重证据并生成最终答案。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9E091-0E43-4338-8436-860FE439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A"/>
          </a:solidFill>
          <a:ln xmlns:a="http://schemas.openxmlformats.org/drawingml/2006/main" w="11430">
            <a:solidFill>
              <a:srgbClr val="0E7C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AE404-D6D9-4E49-ACC6-F77BBBC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5CEA7-0299-4031-A4CA-90FA9D71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4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D1A56-74E2-45ED-8AEA-6438838C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Trace is visible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E30B2-99B0-4D81-803A-336A4BA4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Web trace 返回 plan JSON、每一步 query、purpose、top-k 和命中的 evidence。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A74D4-FBF0-4934-BC52-E9558C46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6"/>
          </a:solidFill>
          <a:ln xmlns:a="http://schemas.openxmlformats.org/drawingml/2006/main" w="11430">
            <a:solidFill>
              <a:srgbClr val="C957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074D2-5AE3-4ACB-A866-7A7889CA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F3F97-5E26-4D48-B1EB-703DFF30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57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573D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E1970A-DFA4-42B4-B8B0-9D5322CB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243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Fallback is safe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E1A66-9944-42D6-B6C4-72CF7420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LLM planner 不稳定时使用缓存计划或原问题检索，不让流程崩溃。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6556B8-77A9-44CA-8F66-85494F77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5267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D42BFD-1027-4008-8C32-F155BD1E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2861AD-7211-4375-88F6-259566D9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FE5831-6737-4EDA-8C67-7BDA3AE0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38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A7EB46-0FCF-4687-A185-4F31A557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5267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0E7CD8-34D2-4A28-9300-52671D67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62200"/>
            <a:ext cx="1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7893D4-353E-4D81-9891-D1BD8316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242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122A97-F903-44F0-8333-01E98322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751EBD-CBBA-4375-A510-D5AEA47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5267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82F3C7-4690-49C0-8B65-AF6AF371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62200"/>
            <a:ext cx="190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85EE44-7CBE-4759-927A-1D6644E3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5815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C23383-1789-4D1F-8C82-EAB101CA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A0A74B-C452-4C23-920F-562BD65D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242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36BCBE-5912-4F00-B60A-19FC8022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00325"/>
            <a:ext cx="19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975295-8371-4449-AB48-6A87714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908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5ED8EA-582E-4B15-BBAF-46CFAF2F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94B31C-9C70-4B31-BB00-EDF628F8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242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963747-5F9F-4CE0-8B76-39203DF8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33750"/>
            <a:ext cx="190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E3EDD7-96EE-47EE-8163-AAE72730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529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EBEB5B-0E18-47A7-BCA0-0D2395A6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2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9FFC1B-11DA-439D-9F56-7A886EDF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Single-Cell Omics RAG Agent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B07B35-77C8-445D-B16F-9094831B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96638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A3597-3FC4-4E7A-99E1-81B6CD4F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66FB879-7D70-4F58-99A6-6711F4A3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D617749-8CA0-4B8E-852B-461311E5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STRUCTURED KB / HYBRID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63672-1A62-409B-8F9E-22074E4B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结构化知识库负责“精确条件”，向量库负责“段落证据”。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86930-0380-4172-B189-D94FE3CD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E767D-5A8F-4724-86E9-5D33B2E9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papers / books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E517E-2BB9-4A68-9594-774BF2F9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rPr>
              <a:t>316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D2805-4606-4504-8217-02F3FA75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authors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71C75-DB17-415B-B62E-A6A5B016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rPr>
              <a:t>111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0BFDF-5C15-4373-A658-0121BADE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keywords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C8824-ABF8-4DEF-BE43-6EF7286D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57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9573D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A81C5-B863-4B30-B77C-2DB15C54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themes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C3A06-57ED-4B63-9545-9678F456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C280D-CE73-4EEA-95F7-EE620315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method entities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0E5EB-42B5-4D7F-9EE5-7923F6DA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7BF12-0CBB-4EF5-9E3E-C6DBD343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194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Query constraint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ECA50-BBFC-4ABC-98C1-EED8A909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9914E-AEDA-496B-919D-33335AF4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194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Structured KB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AE562-3AD8-4DC1-A636-355F793D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DC687-FD40-452E-989C-7F986FEC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194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Vector search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2C55E-6B9B-4CE0-8988-AE9E92DC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79B66-C65C-43FF-ACB3-1A1845A6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2026 + Nature Biotechnology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7F2F4-CFC9-400E-9C2D-70CC2D98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BEF39-95B7-4B35-876C-359F1F33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Filter papers by year and journal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4618B-3EB5-411A-A2A5-05E4FE24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7DB6C-7FF9-4B35-828F-7B8939CD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481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Search only inside candidate papers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657F01-2AA1-4C4D-B14B-B5E53FC5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79475C-3A2A-4B16-BCCC-73B9EA64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foundation model / interpretability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2CA7AC-6029-49B9-B3B2-8FB9A51C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1005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C55B07-5BD3-4550-B396-67CC7C39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862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Match theme, keyword, method labels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1FB6C6-0AB3-4A35-A6D6-7E79764B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100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B91806-FC3B-4EE8-AD7F-9D24E4BC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Retrieve paragraphs supporting claims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1D6AB3-7A47-43EC-A89F-46A0A1E4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97494F-1766-40E2-BF23-CC735B82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Nicheformer vs CONCORD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9122F2-3839-4436-93B1-89BA6008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482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A1FF01-D642-4F85-A869-9EBF1E2A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2440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Match method entities and paper IDs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2FD69D-CFA3-4FC2-B0BF-D059C084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482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9FE444-ABCB-457E-92D0-E77EB27A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244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Balance evidence from both sources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87EFE7-A186-48FE-BAE8-DAF95344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4B6B3D-D982-4F62-9BDB-221BA0A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candidate match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5736E5-009B-43FA-9E1F-0D2B938E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8635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665E99-F961-4D20-B994-E9EBAFF9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625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Return empty candidate set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382BFF-BE7C-48A2-8E3B-6812FCE5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863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9EE16F-D655-45C3-938B-03741A42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625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Fallback to plain vector retrieval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DFDD17-970C-4CDE-BAA5-ECA17FEF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SQLite tables: papers, authors, themes, keywords, methods and relation tables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24A9BD-0989-4E5A-90B2-7CD860BA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06488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3570F3-C825-45C4-A5BE-B0B9A4BB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D6EB89D-0F43-48FE-8BFD-B6513040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A62F466-862B-40C2-A489-3D668626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MEMORY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52AC8-8B4B-457A-87DA-4DEEB722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记忆系统让 RAG 从一次性问答变成可延续的交互。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3DD85-EAC6-4750-BBEE-97424A4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1430">
            <a:solidFill>
              <a:srgbClr val="1E5B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B9864-8B10-4126-B658-87980276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6D869-D743-4BA2-A5FE-5BCD225E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RECENCY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6CC39-73E2-40DB-84D5-EB38F422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Working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D1E39-1DDB-4D96-B782-246CB2EC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保存当前 session 的近期对话，帮助处理连续追问。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2279E-7191-44DD-8F40-FF60AB7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C8"/>
          </a:solidFill>
          <a:ln xmlns:a="http://schemas.openxmlformats.org/drawingml/2006/main" w="11430">
            <a:solidFill>
              <a:srgbClr val="B887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0B332-10A2-4760-9FF6-62C6D444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595A5-7883-47B1-9C4F-883A0D4A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145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7DFE3-1352-4557-9D09-CEABD7F4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Episodic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554AF-E6EC-4B92-8671-3CAF5C41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保存跨会话问答经验、答案摘要和来源 ID。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C1E72-9D95-42FA-9EFB-766D418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A"/>
          </a:solidFill>
          <a:ln xmlns:a="http://schemas.openxmlformats.org/drawingml/2006/main" w="11430">
            <a:solidFill>
              <a:srgbClr val="0E7C7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2745D-73EF-41EE-8B40-4D8B30E9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2A85E-BFDF-4F5B-BF84-87E13ACA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4"/>
                </a:solidFill>
                <a:latin typeface="Aptos"/>
                <a:ea typeface="Aptos"/>
                <a:cs typeface="Aptos"/>
              </a:rPr>
              <a:t>TRIPLES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4E7E0-5B54-470D-B033-AF35D223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Semantic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56B50-E739-4982-911B-342E6A12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从交互中抽取保守三元组，例如 method-topic、paper-identifier。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A97F4-34D2-4087-A8A8-8147A7A0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90800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A1DB6-039C-4ADA-9949-431EE1CC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59F69-4F61-47B1-8622-F7A03C1A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90800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CE392-BDE7-461A-9F97-DA77FFAF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FE2376-B5E0-416D-B611-6947E333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F45B8A-8332-4D6B-BD06-FBFF8736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working memory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642C3-40BB-4661-9352-A582DD02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A0EF9-EB57-44E1-A069-47EFEA20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434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episodic memory rows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2CE155-0939-4CCB-B4F9-4EA246C4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rPr>
              <a:t>46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86E75D-C231-4371-BD44-11E5C5DF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semantic memory rows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D4A8CB-F4FA-4837-B7EB-A3943EF9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当前 health endpoint 显示的运行时状态；每次协作问答会写回 memory.sqlite3。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FCF1C5-61A9-4CDC-B7E0-34CF16F8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Single-Cell Omics RAG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B36A1B-B00D-4D00-A01F-A2DAEE1D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34024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A730F-FFCF-4402-B3E2-FF77566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045B297-0647-4486-907C-C347A9CA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165F99-3309-46E9-9D99-C5B5F88B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UNIPROT 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B8708-2E6F-476B-83A9-921F107A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UniProt Skill 把外部生物数据库变成 Agent 可调用工具。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3A742-ABBE-44B5-80E5-1F3B85FB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6"/>
          </a:solidFill>
          <a:ln xmlns:a="http://schemas.openxmlformats.org/drawingml/2006/main" w="11430">
            <a:solidFill>
              <a:srgbClr val="C95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F0CF7-6623-416F-B748-E1360D7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82A44-C0D6-4ED7-A81D-079715D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57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573D"/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B3913-F54D-4659-A39F-1E725C54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Tool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0FB2A-7D22-401E-A47F-C7BE96ED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search_protein, get_protein, explain_protein_for_context 三个本地函数封装 UniProt REST API。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17CFE-A597-472D-81FD-D744D585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1430">
            <a:solidFill>
              <a:srgbClr val="1E5B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44C87-E7B5-403B-B904-5C0274E7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32658-75D8-4563-8471-2A213C8C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240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C3FA3-BEE7-4524-8591-4AA7A9D7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Conservative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CF14E-989A-4A01-8429-321B10CB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规则 + 正则识别已知基因、UniProt accession 和带数字基因符号，减少方法名误触发。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1B435-F3DC-46A1-945C-1EAC1481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A"/>
          </a:solidFill>
          <a:ln xmlns:a="http://schemas.openxmlformats.org/drawingml/2006/main" w="11430">
            <a:solidFill>
              <a:srgbClr val="0E7C7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B4F20-A8DA-4FB0-81FE-5FF0B473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133D6-38D7-4CCE-A7C6-4188D060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4"/>
                </a:solidFill>
                <a:latin typeface="Aptos"/>
                <a:ea typeface="Aptos"/>
                <a:cs typeface="Aptos"/>
              </a:rPr>
              <a:t>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356E8-D935-47A5-86C9-D3DEF77E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Collaborative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24C22-742C-452D-A160-B64AA0B1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协作问答自动把 UniProt 结果与文献证据一起交给最终 LLM。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DCF74-8A16-4B03-A5D2-1748C76C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30E9B-BFF9-40C6-8EA4-5F1D4BAC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909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Detected query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C50556-99FB-4D2D-994D-3AA9D8EC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9D5B0-3C0A-4BDA-9588-34CFE9D0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909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UniProt accession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7FF6BD-3717-4949-9ED3-E15E0943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94BF2-E4A9-4157-841F-C9BE9674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90975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Protein name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6DA48-23DB-41D6-B549-7427B433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1B36A-D605-433B-BD18-F7E3F9E3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386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OCT4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E87961-7F0D-4EF4-A75F-C89F44BB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ECB9FE-7763-47B8-81EC-9C8BB9A9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386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Q01860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C0ABAA-048F-40F1-9716-D9316A5B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624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BDEDAD-9458-450A-8E12-563DD71C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386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POU domain, class 5, transcription factor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80BF4C-3DB7-4EC1-A4E8-7662903A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5566D6-44E2-449A-A8FE-8B33A984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TP53 / P53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273ED7-3BC5-42F0-855C-AB13BCB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96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F2D403-A365-4921-85C0-CD6330DC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P04637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7C93FA-A3A0-48C3-9248-B538A5A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96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5D65C7-4F34-4069-9AE6-ADAEC9D9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958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Cellular tumor antigen p53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333F9A-CB49-4B69-9B7B-3A15E6C2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6AA0AD-BE3B-45E3-95E4-99D6486E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530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REMAP / CONCORD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D12B2B-65EE-4371-AC08-C364FB2F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0A6591-F050-4FE6-BCD8-276026E4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530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 called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387EDB-4418-4E47-9EFB-AE62AB2F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768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7BC527-5C87-46C3-9C7B-34CAC4F3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530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filtered as method names, not proteins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4AE4F6-EA12-4A2E-A915-884CC697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UniProt is public; no API key required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8E2B4F-44F5-4E12-ABE4-0CEB7513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1231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F43CE3-F530-43AA-B9D2-66081035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AA674EB-E443-4390-9EE3-C15AACB8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CD62E6-3BC1-4D18-8A59-27A8823B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COLLABORATIVE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5617E-3598-416A-B03D-D8AAF508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协作问答把五个模块压进一条 Agentic Hybrid RAG 链路。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D0A63-AE37-4A86-8FFF-2886A0C7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1430">
            <a:solidFill>
              <a:srgbClr val="1720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8B242-DA21-4285-BDA2-8E0B9B79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77646-868B-44E0-93E9-784C1AED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073B1-9FF0-4C55-9E2D-327D09AE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46A1E-A710-436D-B733-74AB1C95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295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自然语言问题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3B8D8-01BB-47E5-8917-19BB564C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526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C8"/>
          </a:solidFill>
          <a:ln xmlns:a="http://schemas.openxmlformats.org/drawingml/2006/main" w="11430">
            <a:solidFill>
              <a:srgbClr val="B887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1BAE7-F4F4-458C-9215-592C30B7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526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405CF-7A72-441B-A38A-5B3B1227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0265E-96B7-48F1-B14F-4463B023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B5AE7-4CC1-4E96-87C1-4A5536E5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检索历史上下文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4343E-202B-429A-AABA-BA2459E9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1430">
            <a:solidFill>
              <a:srgbClr val="1E5B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4A533-238A-4934-9D2D-16ED0B33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FF8B6-F35D-4FF6-9D92-1C2FD157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956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AGENTIC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73A9C-529C-4F42-B712-8A984076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Planner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7147C-E609-41E9-A0EF-15D3451A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338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拆分检索步骤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2AB8C-A68F-4635-A734-4320E779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A"/>
          </a:solidFill>
          <a:ln xmlns:a="http://schemas.openxmlformats.org/drawingml/2006/main" w="11430">
            <a:solidFill>
              <a:srgbClr val="0E7C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09C11-90EA-4AD5-AF05-770DC6CD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1FACF-FE84-4A28-AB1A-FB22572F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4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54427-D245-4C41-98BE-28BE953E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Structured KB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43229-80A0-4E0B-BAFB-C6413C22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338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候选论文过滤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10DED-6DF1-4480-B09A-EA813205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1430">
            <a:solidFill>
              <a:srgbClr val="1E5B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2D0BD-59C4-4AB2-9363-E23FCC21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CA2C1-6B26-435B-BC35-77357E20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956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4E0DD-F50F-4BD1-965E-E88999A3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67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Vector 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AFB7C5-0C98-444E-AA76-5FBDA24E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338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段落级证据检索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530B7-7E78-4D91-AE38-50904B0D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577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6"/>
          </a:solidFill>
          <a:ln xmlns:a="http://schemas.openxmlformats.org/drawingml/2006/main" w="11430">
            <a:solidFill>
              <a:srgbClr val="C957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67A940-3615-4587-A68C-5D0A9FD6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577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D62E99-6BB1-4405-A548-7C58BB20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720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57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573D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8D9D33-9452-44FF-9B13-DF87D4A1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435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UniProt Skill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003E73-9AD5-4F09-B1DA-B6055748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102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蛋白/基因标准注释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907825-32A9-4D2B-98E3-A87A85EB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1465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1430">
            <a:solidFill>
              <a:srgbClr val="1720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5B5C01-C837-4558-94F4-86CBF669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146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7F55C7-71F4-4428-A32A-A8437C2B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289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FFB6BC-A54F-4AEC-9C92-3F96EDD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004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Final answer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5ABE69-8F8B-4D95-AECC-2441AA12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67100"/>
            <a:ext cx="1485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中文回答、来源编号、UniProt accession、trace 可视化、memory 写回。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B5CE64-7584-4A04-86CA-42713412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6227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65D84E-5D34-444D-84DE-3F4D9BC3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288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C89312-D5D7-4C63-BFB2-E592A62C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1932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1C56D9-D3F8-4795-BEF4-6032528F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2B378F-B177-4447-977C-24C10F28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6227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75937A-E5C5-4E0D-8F35-931E4748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71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177AA5-D56A-416B-8598-EF38DB54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4807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A38762-860E-4B06-89A8-C035A0B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8CF3AC-4679-4339-A4B4-856BBBFA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48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CCCA2B-2F18-423D-9435-D91E117D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234AF8-28AE-4647-8D52-2DD4D61C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16943B-E9F4-4777-A0D5-8500A439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BCFC8B-060D-49D7-B2FA-D1C715B7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48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5A2B35-87D7-4162-8AEE-8448918E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38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B7CBAB-A935-4809-854C-2847778A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24475"/>
            <a:ext cx="1438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7D238B-7173-4B20-AE87-94ADD8D4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19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06437A-6ECD-4DD5-BA34-2678A53E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62425"/>
            <a:ext cx="1438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DE11AA-5036-449C-A803-A24AA519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33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AA82A7-1A52-4B32-B868-F213E84A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19325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AEA494-38A9-4551-8412-B43736E2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28850"/>
            <a:ext cx="19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9400D9-20E8-48BD-91EF-519E2227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52775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4F0550-3F5F-41F1-B6EC-D2934F02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1278D4-08B5-4B4A-9DD7-D8A14006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Single-Cell Omics RAG Agent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7DC107-9C2D-498D-B725-9964E54A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80287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B54D25-524A-46CE-B6F0-44F46D3E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DF5B46-792E-40DA-A71C-8C4567B1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EB4F59-CDBB-4C2D-8FF9-DC534907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DEMO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9716E-3351-4194-9A05-BA558414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Web App 保留六种模式，用于演示和消融对照。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0795F-323F-4345-A89B-F96ECE60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CDC74-BAF2-477F-B36C-5B513835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02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584DF-AE38-4288-9CD4-881DD3FB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1450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8FFA5-4EB5-4D4B-96C7-D337DF30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0022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4FFA9-E4C8-4E77-8718-7E0B0C5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145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DF905-90DC-44FC-ADAB-429AF6FA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02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 in defense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30860-529D-49E9-878C-72A5C2BF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69DE3-57BE-48C3-8209-341D6FC1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只检索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DBE14-EEF4-4ACC-B1D9-2CB3D036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288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4A97E-3A90-486D-BAFD-8617AF6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050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Embedding + vector search returns relevant chunks.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49D21-2E93-47B7-9403-C8DB7ABC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288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89E61-4F34-4A3B-97F2-10EA87F7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050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Shows raw retrieval behavior.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A1F9C-5B29-4152-9CE6-E8A4634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78DE8-679F-4EF7-81F7-EBCC2355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问答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D1DBB-FEEB-4773-BF99-4256419E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4320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8ACC3-66B5-4B76-BF9E-43FAE812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Basic RAG answers with citations.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58567-D842-48C9-B9BC-EA0959E8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43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34A04-9029-480C-981E-78A5F219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1940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Baseline answer quality.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654CE-C05F-455E-B10E-51B11096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287C9-4CA8-4965-AF62-70BC8C54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Agentic 问答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8571B-9B6C-4AE0-9F34-25F2872C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575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6E7EF-768C-4A1E-921B-396B947A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LLM planner creates multi-step retrieval trace.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12333-6366-40D0-B9F1-7F7C5BFF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D8950B-8A20-4C18-B6FF-247D4996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Tests planning benefit.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9F6E79-4C5A-4D1B-8F33-2697C54B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81DF7-8E20-45A8-B623-393F110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Hybrid 问答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14D996-DC93-41FF-A738-FC7D46C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7190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307791-0B0A-4BAB-9A80-6EF77CC3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4810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Structured KB filters before vector retrieval.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B8D1D0-C446-47A1-890D-477D4277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719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2DD68A-02E3-420F-8C37-ACA312CD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4810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Tests metadata precision.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71A09B-BD15-4617-B134-C09C6901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47D592-1184-4A7C-9BE8-0EF20475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UniProt Skill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7D9ECA-E58A-4493-B4E4-D9061D66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862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D31B3A-C27F-4711-A1C1-390ABC91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624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External protein lookup works alone.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3632D6-5978-4F0E-A519-F33C97B2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862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310DAB-7A59-428E-BB9E-6BF1840C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624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Skill ablation baseline.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511816-E87E-40DC-A56C-23791545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353180-42EA-4CC4-B391-34D4717B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协作问答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A9F4AA-9E2A-4B6E-A85B-C54FEDCF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0060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67AD27-ED29-4641-A252-8F3E0A81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7680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Memory + planner + structured KB + vector + UniProt.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9072A0-4B0F-4A2E-80E1-98FAAB18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B0725D-0179-4B09-BED0-27AD97D8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7680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Final integrated system.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E52E61-BA68-4E9E-827E-2CE05EAF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关键点：独立按钮不是最终形态，而是为了展示每个模块的增量贡献；真正提交能力体现在“协作问答”。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1B3327-2231-4C6D-B4AB-ACD9B0D8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Local web app: http://127.0.0.1:8000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622329-1978-4CDD-B0B8-3A343FD8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08969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C48483-961C-4765-A011-6973D9C5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E59E9B-5FDD-4E5E-9B0A-DEF8DCC2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7A6DBD-219D-406A-BD41-4ACAAD9D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BENCHMARK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19284-36A3-4305-9C64-6A4DDC76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20 题 benchmark 衡量的不只是答案像不像。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5FD80-BAC4-48CE-A644-490ACEA3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ADD42-6682-4831-8396-E78514F2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retrieval relevance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C0554-EB23-4D79-B2FB-24B4A8E7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743E4-478F-42AB-8366-72F86A62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answer correctness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9EBFF-DA1B-4C2C-970F-2128E42E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57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9573D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23B47-948E-44A7-9C6F-FA3A47FF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citation faithfulness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967AC-22A4-4B57-A42E-1BAA279D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D96B0-83BC-4C2A-AE7D-21505E53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reasoning synthesis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56453-9A3F-41F9-989C-6BDA5D4F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1707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61707D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60438-AC7B-44F8-965F-6224B97E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format clarity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796CE-84D8-492B-846C-421AE015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E4A15-82E5-4045-A8C6-85AF09B8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 family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16E48-E8C5-4EC4-A834-1C777978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242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E9469-802A-4ADB-BE31-184C3904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099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22DED-888F-416C-AE84-84F90331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C7FDD-3769-46A8-9126-21699705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75602-1FF6-4B5E-9252-88EC825E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DC601-5857-4933-B2CE-CC681364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Single paper explanation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76A26-D5AC-43D8-A18E-EB1654F2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814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FA2BEF-1CA2-41A6-81FD-62AE2B11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576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Nicheformer, CONCORD, REMAP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12589B-0687-4FCE-9376-4CBE0BF3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814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56692-8C22-4050-B430-834F68C1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Tests source-specific retrieval and factual grounding.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0D6FE-8AFC-4F3B-B1D3-39CB22C3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F97BE-31D0-4744-A818-B014A654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Comparison / synthesis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29D9C-8F30-498A-9CA7-4EAEACAD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386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4B98E-77B9-4280-8D03-D32C0E44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48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Nicheformer vs CONCORD; 3D-OT vs SpatialGlue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C48111-D71A-4D23-BC71-3BDFE369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008F90-3A85-4A79-B0FE-9897420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148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Tests balanced multi-source evidence.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9C834E-2409-451B-846B-91223FD6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9069D4-B57B-4224-A024-EF11BC56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Quality / benchmark reasoning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9E04E1-D5D1-44A5-9E1C-6D6F7800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958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EC11ED-ECF9-48C7-8816-3A7E422F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Xenium, Spatial Touchstone, Systema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02F276-F685-471A-89B8-96768A7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958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68F2BA-E457-484D-ACB6-247BD8D9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720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Tests metadata and evidence discipline.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A1429C-7352-4F57-BE3D-4C543332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3A307C-D899-48DE-983C-461C0CE9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insufficiency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005073-6F3A-44EF-AF54-B9B89E61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9AE1AE-D1A8-42DB-A7CE-3C559DF1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292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Can one foundation model replace all methods?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681170-DDC3-49AD-8A98-7F39CE2A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530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84183E-BCFF-4FC8-A4C1-D155B620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292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Tests hallucination control.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38EC22-199A-47CC-8E43-5F7F943F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Benchmark file: data/benchmark/single_cell_omics_rag_benchmark_20.json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B6C791-1E77-44A1-955C-3DAE6FA3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975716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05178B-761B-4E59-990D-667E2A49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8E8F227-2E01-4E5A-A621-9E0F5CC8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8530A7-D5B0-43FF-ACED-42B15B6E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RELIABILITY AND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97C71-4E7D-47A5-B25F-07143094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系统刻意保守：优先可解释和不乱答，而不是自动化到不可控。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03A7B-62CA-46AF-A296-E9BBD70C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D6B89-9BB8-49DE-89A8-82F8C2AC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81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2290B-78B4-4332-99ED-34B6A353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659A1-2998-453C-9756-3B233FDC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81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Benefit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3CF2F-90B7-4579-9AEE-1FE6D2AB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954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9DAA6-A7D7-4F3F-BC9F-CC77BB75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811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Known limitation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03950-3DE2-4702-9DC0-975AB1D2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954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8E0C3-7C5D-41E0-BD0F-4A88C218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811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upgrade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1F270-D439-4DC1-B0C0-6FCF2280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A9742-B172-4080-8F0C-85385632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bge-m3 local embedding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8AB81-400D-4CB2-8CD1-A64DBDDD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F8C77-11AF-415A-AA52-1DFAF592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050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external embedding dependency; stable vector shape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2129F-D5A0-488C-A2C8-23E82D74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288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3F1C2-700E-4DC6-AD5F-7FF69B9A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050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Embedding quality not necessarily SOTA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663B8-C793-43F7-894D-1C98D86C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288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0EEA6-64C4-4AD9-BA2B-069BCD40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Evaluate stronger multilingual embeddings when server allows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AFFCF-EDB7-4947-B8D5-1A479E51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42618-7AA5-4C38-90CE-3FCA25C7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Rule-based Skill trigger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3C7DE-D572-4278-9A6A-E3356A0A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B5B08-BE98-403D-B0A6-3291C6BA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38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Avoids REMAP / CONCORD method-name false calls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0D0717-4095-421F-AE55-41F74051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622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2DEEF-DD01-475B-A609-E91AE11C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38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Pure-letter unseen genes may be missed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EB01B-8755-4CA1-9191-0DAB8D11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BB869-5CF3-42DB-A5B5-4B9EA458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384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HGNC / UniProt candidate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727AC8-D297-42C4-B1FA-AC6C930A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B129A1-A5CC-4550-BCFB-279942D5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Structured KB from metadata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13333-DA19-4AA0-B67D-1EE0D62B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95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872A7D-09BD-4470-B456-FE50AEB0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718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Exact filters for year, journal, method, theme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6B2108-4F9D-44F2-A544-525B3E3D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74204F-4C3A-4E74-8AD6-6C43B4FD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Depends on source.json / keywords quality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65DD8A-5F32-4E75-8083-47A16009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8E6138-8F1D-40EA-A65C-46F1FF29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Semi-automatic metadata extraction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43ED0A-33C7-44B4-B88C-4BAEF5D3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1BB95E-3A30-4741-8274-B7703B5E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Memory keyword retrieval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4C8E76-A903-43AD-9283-E1AA66A4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CD9207-F3ED-48D6-AA06-C333AA05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Explainable and cheap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A660CD-454B-470A-AED0-B96C481E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0ACE9C-62D8-48CB-A59B-B12B08C5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052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 semantic-vector memory yet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5AC819-F7DF-4C93-94F4-800DD109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290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D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0ED327-005C-474E-AB98-F01CA428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Memory embedding index with aging policy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0B134C-30B2-4F64-A3D1-EE15E16A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940E1E-E985-47AD-9CD0-A4FE5BC7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Fallback plan cache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65BD79-389B-467D-BC28-BF6D9D2F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624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603A17-7134-45AF-A125-FCAC3523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386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Planner API failures do not break demo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5A65F4-E9CF-4A17-A016-2F2BC64C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551E29-A43A-4CDA-B327-E6328A48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386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Cached plans may be stale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0390F0-54AE-47C2-90BD-F374E7DE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6668">
            <a:solidFill>
              <a:srgbClr val="D7CDB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DF788E-50BF-41DB-BB5D-085AD93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Versioned cache and benchmark regression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D3BAE6-0CEB-47CB-BB37-AB6F682A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Single-Cell Omics RAG Agent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43AB43-49D9-4650-A000-A1E9A8CA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69320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C27713-2BF9-41D9-ABC4-93F581CE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3CF13D-941A-499D-AB2F-1B735480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B13FCE-1BF8-4F49-964A-3D2564F8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FINAL 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2396F-7973-4092-A2C3-D0191D55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最终交付是一个可运行、可评测、可解释的细胞组学 Agent。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1DA5F-9853-4B98-88E9-B0DCC2DD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1430">
            <a:solidFill>
              <a:srgbClr val="1E5B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C0C5B-ABB2-4727-AC74-EC1CAFAB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3CA30-E46E-40BA-B500-F6DB0A8A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5B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5B8A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7F16B-C681-4B64-9AA7-3484D7CB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Knowledge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E7D0D-9E03-4E44-B79C-B6F7EDA5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PDF / EPUB / metadata 进入统一知识资产格式，并生成向量库与结构化库。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E2CAE-62E0-498D-9218-CB47A86E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A"/>
          </a:solidFill>
          <a:ln xmlns:a="http://schemas.openxmlformats.org/drawingml/2006/main" w="11430">
            <a:solidFill>
              <a:srgbClr val="0E7C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AF292-3094-4F7C-B4ED-CEC30434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C529B-C0CA-4A6B-B986-7E0D526E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24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4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FB278-D790-40E5-837B-78415EDF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955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Retrieval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FF1FD-AB7E-4B23-B492-DF42F0A4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6220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Basic、Agentic、Hybrid 和协作问答可以对照展示增量效果。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8C345-9495-4EFB-AB45-901B299F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6"/>
          </a:solidFill>
          <a:ln xmlns:a="http://schemas.openxmlformats.org/drawingml/2006/main" w="11430">
            <a:solidFill>
              <a:srgbClr val="C957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CC288-E73E-4DC3-B922-2DD9E045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F0345-5606-4414-95AB-1D047696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57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573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1F82C-38C2-4B83-A9CB-E521F3B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Agent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430AD-2612-4CAC-8CF9-93776141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Planner、Memory、UniProt Skill 在协作模式中共同构建最终请求内容。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A5544-B1CB-4C45-89F5-5D0451BC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180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C8"/>
          </a:solidFill>
          <a:ln xmlns:a="http://schemas.openxmlformats.org/drawingml/2006/main" w="11430">
            <a:solidFill>
              <a:srgbClr val="B887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04C42-CDE6-4DA5-9F3D-2103FFAB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39ED6-0842-4D44-8D85-DF969FEB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BENCH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DA87C-B6F0-4C1B-9561-2F40397F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E8D9F-02D1-41F4-8861-4C7349B7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62200"/>
            <a:ext cx="1485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20 题 benchmark 覆盖检索、引用、综合、拒答和格式。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43EDD-43B3-4006-B84A-1B0303E0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1430">
            <a:solidFill>
              <a:srgbClr val="D7CD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937B7-7760-4CEB-8A31-D7E4B942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5B8A"/>
                </a:solidFill>
                <a:latin typeface="Aptos Display"/>
                <a:ea typeface="Aptos Display"/>
                <a:cs typeface="Aptos Display"/>
              </a:rPr>
              <a:t>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41FF7-92C8-4E7A-A8C3-D19642CD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assets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5B321F-3C48-4A62-B737-6A3915F0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7C74"/>
                </a:solidFill>
                <a:latin typeface="Aptos Display"/>
                <a:ea typeface="Aptos Display"/>
                <a:cs typeface="Aptos Display"/>
              </a:rPr>
              <a:t>4,696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2622CC-A4C5-47B2-9C79-1EAE3DBD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chunks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0B6DF-A101-4612-9D29-5AC3C8AD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100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57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9573D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8F83CB-7F19-4097-9438-D6C5533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672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collaborating capabilities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1B2487-B2CC-4DC0-BA16-72A38D5C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8872B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F838A6-D661-483B-BBDD-D49D3ACA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benchmark questions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30E1A7-8BBC-4681-BCD9-FD733404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核心结论：这不是训练一个新 LLM，而是让已有 LLM 通过知识资产、检索、记忆和 Skill 调用完成可追溯的专业问答。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BD4799-22D7-439F-9F14-D2C2C42C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07D"/>
                </a:solidFill>
                <a:latin typeface="Aptos"/>
                <a:ea typeface="Aptos"/>
                <a:cs typeface="Aptos"/>
              </a:rPr>
              <a:t>Single-Cell Omics RAG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0D6625-8E30-4145-8749-D9276F71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35014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2026-06-14T06:35:32.7080000Z</dcterms:created>
  <dcterms:modified xsi:type="dcterms:W3CDTF">2026-06-14T06:35:32.7080000Z</dcterms:modified>
</coreProperties>
</file>