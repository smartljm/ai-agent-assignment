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9be0c9c5964624" /><Relationship Type="http://schemas.openxmlformats.org/officeDocument/2006/relationships/extended-properties" Target="/docProps/app.xml" Id="R2a9bc100aef8465d" /><Relationship Type="http://schemas.openxmlformats.org/officeDocument/2006/relationships/officeDocument" Target="/ppt/presentation.xml" Id="R0bc4e127ba3f47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8ac6152c84833"/>
  </p:sldMasterIdLst>
  <p:notesMasterIdLst>
    <p:notesMasterId xmlns:r="http://schemas.openxmlformats.org/officeDocument/2006/relationships" r:id="R79ba98672a6d42f8"/>
  </p:notesMasterIdLst>
  <p:sldIdLst>
    <p:sldId xmlns:r="http://schemas.openxmlformats.org/officeDocument/2006/relationships" id="256" r:id="Rcd17e923c2ef44d4"/>
    <p:sldId xmlns:r="http://schemas.openxmlformats.org/officeDocument/2006/relationships" id="257" r:id="R6ddf23cad38f4e54"/>
    <p:sldId xmlns:r="http://schemas.openxmlformats.org/officeDocument/2006/relationships" id="258" r:id="R80bd2a5b6e5e4f16"/>
    <p:sldId xmlns:r="http://schemas.openxmlformats.org/officeDocument/2006/relationships" id="259" r:id="R4c7890b473294b01"/>
    <p:sldId xmlns:r="http://schemas.openxmlformats.org/officeDocument/2006/relationships" id="260" r:id="R978a2e4365924367"/>
    <p:sldId xmlns:r="http://schemas.openxmlformats.org/officeDocument/2006/relationships" id="261" r:id="R205ac2eeab6b4377"/>
    <p:sldId xmlns:r="http://schemas.openxmlformats.org/officeDocument/2006/relationships" id="262" r:id="R449d936536604645"/>
    <p:sldId xmlns:r="http://schemas.openxmlformats.org/officeDocument/2006/relationships" id="263" r:id="R147f86bcda6e4e47"/>
    <p:sldId xmlns:r="http://schemas.openxmlformats.org/officeDocument/2006/relationships" id="264" r:id="R9e8204e337854a8d"/>
    <p:sldId xmlns:r="http://schemas.openxmlformats.org/officeDocument/2006/relationships" id="265" r:id="Re26fab3557ce4950"/>
    <p:sldId xmlns:r="http://schemas.openxmlformats.org/officeDocument/2006/relationships" id="266" r:id="R7e26f5558f9240b7"/>
    <p:sldId xmlns:r="http://schemas.openxmlformats.org/officeDocument/2006/relationships" id="267" r:id="Rd9e1ba2066364b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d419e36df4867" /><Relationship Type="http://schemas.openxmlformats.org/officeDocument/2006/relationships/slideMaster" Target="/ppt/slideMasters/slideMaster1.xml" Id="R6a28ac6152c84833" /><Relationship Type="http://schemas.openxmlformats.org/officeDocument/2006/relationships/notesMaster" Target="/ppt/notesMasters/notesMaster1.xml" Id="R79ba98672a6d42f8" /><Relationship Type="http://schemas.openxmlformats.org/officeDocument/2006/relationships/presProps" Target="/ppt/presProps.xml" Id="R06d923261d2c4589" /><Relationship Type="http://schemas.openxmlformats.org/officeDocument/2006/relationships/tableStyles" Target="/ppt/tableStyles.xml" Id="Rc2876a77d97c4751" /><Relationship Type="http://schemas.openxmlformats.org/officeDocument/2006/relationships/slide" Target="/ppt/slides/slide1.xml" Id="Rcd17e923c2ef44d4" /><Relationship Type="http://schemas.openxmlformats.org/officeDocument/2006/relationships/slide" Target="/ppt/slides/slide2.xml" Id="R6ddf23cad38f4e54" /><Relationship Type="http://schemas.openxmlformats.org/officeDocument/2006/relationships/slide" Target="/ppt/slides/slide3.xml" Id="R80bd2a5b6e5e4f16" /><Relationship Type="http://schemas.openxmlformats.org/officeDocument/2006/relationships/slide" Target="/ppt/slides/slide4.xml" Id="R4c7890b473294b01" /><Relationship Type="http://schemas.openxmlformats.org/officeDocument/2006/relationships/slide" Target="/ppt/slides/slide5.xml" Id="R978a2e4365924367" /><Relationship Type="http://schemas.openxmlformats.org/officeDocument/2006/relationships/slide" Target="/ppt/slides/slide6.xml" Id="R205ac2eeab6b4377" /><Relationship Type="http://schemas.openxmlformats.org/officeDocument/2006/relationships/slide" Target="/ppt/slides/slide7.xml" Id="R449d936536604645" /><Relationship Type="http://schemas.openxmlformats.org/officeDocument/2006/relationships/slide" Target="/ppt/slides/slide8.xml" Id="R147f86bcda6e4e47" /><Relationship Type="http://schemas.openxmlformats.org/officeDocument/2006/relationships/slide" Target="/ppt/slides/slide9.xml" Id="R9e8204e337854a8d" /><Relationship Type="http://schemas.openxmlformats.org/officeDocument/2006/relationships/slide" Target="/ppt/slides/slide10.xml" Id="Re26fab3557ce4950" /><Relationship Type="http://schemas.openxmlformats.org/officeDocument/2006/relationships/slide" Target="/ppt/slides/slide11.xml" Id="R7e26f5558f9240b7" /><Relationship Type="http://schemas.openxmlformats.org/officeDocument/2006/relationships/slide" Target="/ppt/slides/slide12.xml" Id="Rd9e1ba2066364b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144f5f246a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03f45b637c4be1" /><Relationship Type="http://schemas.openxmlformats.org/officeDocument/2006/relationships/notesMaster" Target="/ppt/notesMasters/notesMaster1.xml" Id="R6c80aeb8750e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03915118645ed" /><Relationship Type="http://schemas.openxmlformats.org/officeDocument/2006/relationships/notesMaster" Target="/ppt/notesMasters/notesMaster1.xml" Id="R1ea4736052a54d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e57ae34b224f50" /><Relationship Type="http://schemas.openxmlformats.org/officeDocument/2006/relationships/notesMaster" Target="/ppt/notesMasters/notesMaster1.xml" Id="R487eddfd1a8d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c61163bdc94a56" /><Relationship Type="http://schemas.openxmlformats.org/officeDocument/2006/relationships/notesMaster" Target="/ppt/notesMasters/notesMaster1.xml" Id="Re9829047775343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bd2036508447dd" /><Relationship Type="http://schemas.openxmlformats.org/officeDocument/2006/relationships/notesMaster" Target="/ppt/notesMasters/notesMaster1.xml" Id="R44d0f65350bd48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9ef41a031c4cfe" /><Relationship Type="http://schemas.openxmlformats.org/officeDocument/2006/relationships/notesMaster" Target="/ppt/notesMasters/notesMaster1.xml" Id="R46eabf24445c45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5358fa244540b1" /><Relationship Type="http://schemas.openxmlformats.org/officeDocument/2006/relationships/notesMaster" Target="/ppt/notesMasters/notesMaster1.xml" Id="Ra8f6a1370dd14d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c983c63a744310" /><Relationship Type="http://schemas.openxmlformats.org/officeDocument/2006/relationships/notesMaster" Target="/ppt/notesMasters/notesMaster1.xml" Id="R10b6b4d4bf7c42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2367921204b83" /><Relationship Type="http://schemas.openxmlformats.org/officeDocument/2006/relationships/notesMaster" Target="/ppt/notesMasters/notesMaster1.xml" Id="R8b6684a24f3c47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a5ad6804404748" /><Relationship Type="http://schemas.openxmlformats.org/officeDocument/2006/relationships/notesMaster" Target="/ppt/notesMasters/notesMaster1.xml" Id="R70737b1d2d0d47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9436fa5d1d4f94" /><Relationship Type="http://schemas.openxmlformats.org/officeDocument/2006/relationships/notesMaster" Target="/ppt/notesMasters/notesMaster1.xml" Id="R5e297ff26b2047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eca8f0a0b84f66" /><Relationship Type="http://schemas.openxmlformats.org/officeDocument/2006/relationships/notesMaster" Target="/ppt/notesMasters/notesMaster1.xml" Id="Rd6bd200df44245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182a60dd040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6769de5fe14a33" /><Relationship Type="http://schemas.openxmlformats.org/officeDocument/2006/relationships/slideLayout" Target="/ppt/slideLayouts/slideLayout1.xml" Id="Rf557be4af192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57be4af192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1fb3865974661" /><Relationship Type="http://schemas.openxmlformats.org/officeDocument/2006/relationships/notesSlide" Target="/ppt/notesSlides/notesSlide1.xml" Id="R7694435d5f66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7e3571cb240dd" /><Relationship Type="http://schemas.openxmlformats.org/officeDocument/2006/relationships/notesSlide" Target="/ppt/notesSlides/notesSlide2.xml" Id="R202164826654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60cbd25964f57" /><Relationship Type="http://schemas.openxmlformats.org/officeDocument/2006/relationships/notesSlide" Target="/ppt/notesSlides/notesSlide3.xml" Id="R056f80d337bf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f595dbb4a4db8" /><Relationship Type="http://schemas.openxmlformats.org/officeDocument/2006/relationships/notesSlide" Target="/ppt/notesSlides/notesSlide4.xml" Id="R9a45c79d8204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34f14a59646c5" /><Relationship Type="http://schemas.openxmlformats.org/officeDocument/2006/relationships/notesSlide" Target="/ppt/notesSlides/notesSlide5.xml" Id="R3dabbadc3e254d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aa75fb26948a4" /><Relationship Type="http://schemas.openxmlformats.org/officeDocument/2006/relationships/notesSlide" Target="/ppt/notesSlides/notesSlide6.xml" Id="R593cda44909b4a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4331fdbb45db" /><Relationship Type="http://schemas.openxmlformats.org/officeDocument/2006/relationships/notesSlide" Target="/ppt/notesSlides/notesSlide7.xml" Id="R6284611b0f964f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9d92d95ce4a6a" /><Relationship Type="http://schemas.openxmlformats.org/officeDocument/2006/relationships/notesSlide" Target="/ppt/notesSlides/notesSlide8.xml" Id="R875cc753c7d6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4871102424150" /><Relationship Type="http://schemas.openxmlformats.org/officeDocument/2006/relationships/notesSlide" Target="/ppt/notesSlides/notesSlide9.xml" Id="R7575c95479af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0c1f747fd40f1" /><Relationship Type="http://schemas.openxmlformats.org/officeDocument/2006/relationships/notesSlide" Target="/ppt/notesSlides/notesSlide10.xml" Id="R42cd33b9dce4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30bd9a1e5408a" /><Relationship Type="http://schemas.openxmlformats.org/officeDocument/2006/relationships/notesSlide" Target="/ppt/notesSlides/notesSlide11.xml" Id="Rb4257599a37e48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d9d6fd60d456a" /><Relationship Type="http://schemas.openxmlformats.org/officeDocument/2006/relationships/notesSlide" Target="/ppt/notesSlides/notesSlide12.xml" Id="Rab74726e73694b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6DD1B0A6-6DC8-4C93-8101-F3E15A4D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深度学习与生命科学 · AI Agent 课程项目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89B542-B0ED-4453-8164-5EB739A1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单细胞与空间组学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知识问答 Agent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A6EFBB7-EFBC-41A5-B696-3E423AC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6F"/>
                </a:solidFill>
              </a:defRPr>
            </a:pPr>
            <a:r>
              <a:rPr sz="1800" b="0">
                <a:solidFill>
                  <a:srgbClr val="52616F"/>
                </a:solidFill>
              </a:rPr>
              <a:t>面向文献和教材资料的 RAG 系统：可检索、可追溯、可评测，并集成结构化知识库、Agentic 检索、持久记忆和 UniProt 工具。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6CEB08D2-7094-4856-B541-D38D3EB7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m1-bar">
            <a:extLst xmlns:a="http://schemas.openxmlformats.org/drawingml/2006/main">
              <a:ext uri="{FF2B5EF4-FFF2-40B4-BE49-F238E27FC236}">
                <a16:creationId xmlns:a16="http://schemas.microsoft.com/office/drawing/2014/main" id="{CBD910B6-7DDE-4A91-A924-FDDB506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m1-value">
            <a:extLst xmlns:a="http://schemas.openxmlformats.org/drawingml/2006/main">
              <a:ext uri="{FF2B5EF4-FFF2-40B4-BE49-F238E27FC236}">
                <a16:creationId xmlns:a16="http://schemas.microsoft.com/office/drawing/2014/main" id="{E3973313-A4DC-4C7E-AC5A-DBD3963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90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7" name="m1-label">
            <a:extLst xmlns:a="http://schemas.openxmlformats.org/drawingml/2006/main">
              <a:ext uri="{FF2B5EF4-FFF2-40B4-BE49-F238E27FC236}">
                <a16:creationId xmlns:a16="http://schemas.microsoft.com/office/drawing/2014/main" id="{04B78E92-349F-4BD2-9716-CEC3224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知识集</a:t>
            </a:r>
          </a:p>
        </p:txBody>
      </p:sp>
      <p:sp>
        <p:nvSpPr>
          <p:cNvPr id="8" name="m2-bar">
            <a:extLst xmlns:a="http://schemas.openxmlformats.org/drawingml/2006/main">
              <a:ext uri="{FF2B5EF4-FFF2-40B4-BE49-F238E27FC236}">
                <a16:creationId xmlns:a16="http://schemas.microsoft.com/office/drawing/2014/main" id="{655435C6-314E-4893-BB48-AC4899E5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9" name="m2-value">
            <a:extLst xmlns:a="http://schemas.openxmlformats.org/drawingml/2006/main">
              <a:ext uri="{FF2B5EF4-FFF2-40B4-BE49-F238E27FC236}">
                <a16:creationId xmlns:a16="http://schemas.microsoft.com/office/drawing/2014/main" id="{98F293C9-35A6-4391-9381-EA316B0E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4696</a:t>
            </a:r>
          </a:p>
        </p:txBody>
      </p:sp>
      <p:sp>
        <p:nvSpPr>
          <p:cNvPr id="10" name="m2-label">
            <a:extLst xmlns:a="http://schemas.openxmlformats.org/drawingml/2006/main">
              <a:ext uri="{FF2B5EF4-FFF2-40B4-BE49-F238E27FC236}">
                <a16:creationId xmlns:a16="http://schemas.microsoft.com/office/drawing/2014/main" id="{85C98CF3-9547-47EF-8625-6C06C8FD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向量化文本块</a:t>
            </a:r>
          </a:p>
        </p:txBody>
      </p:sp>
      <p:sp>
        <p:nvSpPr>
          <p:cNvPr id="11" name="m3-bar">
            <a:extLst xmlns:a="http://schemas.openxmlformats.org/drawingml/2006/main">
              <a:ext uri="{FF2B5EF4-FFF2-40B4-BE49-F238E27FC236}">
                <a16:creationId xmlns:a16="http://schemas.microsoft.com/office/drawing/2014/main" id="{E803ED29-2D70-46DE-90F0-7B6E096D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m3-value">
            <a:extLst xmlns:a="http://schemas.openxmlformats.org/drawingml/2006/main">
              <a:ext uri="{FF2B5EF4-FFF2-40B4-BE49-F238E27FC236}">
                <a16:creationId xmlns:a16="http://schemas.microsoft.com/office/drawing/2014/main" id="{5F69B6A0-0C78-49F8-8AE2-F0126FF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30</a:t>
            </a:r>
          </a:p>
        </p:txBody>
      </p:sp>
      <p:sp>
        <p:nvSpPr>
          <p:cNvPr id="13" name="m3-label">
            <a:extLst xmlns:a="http://schemas.openxmlformats.org/drawingml/2006/main">
              <a:ext uri="{FF2B5EF4-FFF2-40B4-BE49-F238E27FC236}">
                <a16:creationId xmlns:a16="http://schemas.microsoft.com/office/drawing/2014/main" id="{CFC976A1-E96C-42F6-AB73-0383B953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benchmark 题目</a:t>
            </a:r>
          </a:p>
        </p:txBody>
      </p:sp>
      <p:sp>
        <p:nvSpPr>
          <p:cNvPr id="14" name="date">
            <a:extLst xmlns:a="http://schemas.openxmlformats.org/drawingml/2006/main">
              <a:ext uri="{FF2B5EF4-FFF2-40B4-BE49-F238E27FC236}">
                <a16:creationId xmlns:a16="http://schemas.microsoft.com/office/drawing/2014/main" id="{BC31EC7E-924E-4479-BCF2-DEF788A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1622522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41ED0743-E6A9-4483-90B1-CBEACBF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A20E2E-29F0-4A10-B3CA-A22AE6F0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交付清单：这次项目实际做出了什么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D02B20-8EE1-4B7E-8999-CF379F7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o1-bg">
            <a:extLst xmlns:a="http://schemas.openxmlformats.org/drawingml/2006/main">
              <a:ext uri="{FF2B5EF4-FFF2-40B4-BE49-F238E27FC236}">
                <a16:creationId xmlns:a16="http://schemas.microsoft.com/office/drawing/2014/main" id="{12FDE13B-9BDB-43E1-BFBF-3F339F2B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000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o1-accent">
            <a:extLst xmlns:a="http://schemas.openxmlformats.org/drawingml/2006/main">
              <a:ext uri="{FF2B5EF4-FFF2-40B4-BE49-F238E27FC236}">
                <a16:creationId xmlns:a16="http://schemas.microsoft.com/office/drawing/2014/main" id="{C228AD11-C3C1-42F0-B86F-2C905A74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o1-title">
            <a:extLst xmlns:a="http://schemas.openxmlformats.org/drawingml/2006/main">
              <a:ext uri="{FF2B5EF4-FFF2-40B4-BE49-F238E27FC236}">
                <a16:creationId xmlns:a16="http://schemas.microsoft.com/office/drawing/2014/main" id="{D0F6D607-FF81-4C23-92C9-73FA0D9F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知识资产</a:t>
            </a:r>
          </a:p>
        </p:txBody>
      </p:sp>
      <p:sp>
        <p:nvSpPr>
          <p:cNvPr id="7" name="o1-body">
            <a:extLst xmlns:a="http://schemas.openxmlformats.org/drawingml/2006/main">
              <a:ext uri="{FF2B5EF4-FFF2-40B4-BE49-F238E27FC236}">
                <a16:creationId xmlns:a16="http://schemas.microsoft.com/office/drawing/2014/main" id="{EA55291B-28A3-45BE-971E-AE1FABA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581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收集并整理 28 套单细胞与空间组学资料，统一保存正文、来源元数据和关键词。</a:t>
            </a:r>
          </a:p>
        </p:txBody>
      </p:sp>
      <p:sp>
        <p:nvSpPr>
          <p:cNvPr id="8" name="o2-bg">
            <a:extLst xmlns:a="http://schemas.openxmlformats.org/drawingml/2006/main">
              <a:ext uri="{FF2B5EF4-FFF2-40B4-BE49-F238E27FC236}">
                <a16:creationId xmlns:a16="http://schemas.microsoft.com/office/drawing/2014/main" id="{C34B26D1-070E-43CD-9ABF-2AA7B59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5000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o2-accent">
            <a:extLst xmlns:a="http://schemas.openxmlformats.org/drawingml/2006/main">
              <a:ext uri="{FF2B5EF4-FFF2-40B4-BE49-F238E27FC236}">
                <a16:creationId xmlns:a16="http://schemas.microsoft.com/office/drawing/2014/main" id="{F7857AD6-930F-427B-89E9-4D6C873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0" name="o2-title">
            <a:extLst xmlns:a="http://schemas.openxmlformats.org/drawingml/2006/main">
              <a:ext uri="{FF2B5EF4-FFF2-40B4-BE49-F238E27FC236}">
                <a16:creationId xmlns:a16="http://schemas.microsoft.com/office/drawing/2014/main" id="{3AFF9291-9C98-486E-8E9E-F8D296CC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581150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可检索索引</a:t>
            </a:r>
          </a:p>
        </p:txBody>
      </p:sp>
      <p:sp>
        <p:nvSpPr>
          <p:cNvPr id="11" name="o2-body">
            <a:extLst xmlns:a="http://schemas.openxmlformats.org/drawingml/2006/main">
              <a:ext uri="{FF2B5EF4-FFF2-40B4-BE49-F238E27FC236}">
                <a16:creationId xmlns:a16="http://schemas.microsoft.com/office/drawing/2014/main" id="{479CCB2A-736C-4532-A7A9-BD1673AE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81200"/>
            <a:ext cx="4581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把 PDF、EPUB 等资料抽取为文本块，用 bge-m3 生成 1024 维向量并持久化。</a:t>
            </a:r>
          </a:p>
        </p:txBody>
      </p:sp>
      <p:sp>
        <p:nvSpPr>
          <p:cNvPr id="12" name="o3-bg">
            <a:extLst xmlns:a="http://schemas.openxmlformats.org/drawingml/2006/main">
              <a:ext uri="{FF2B5EF4-FFF2-40B4-BE49-F238E27FC236}">
                <a16:creationId xmlns:a16="http://schemas.microsoft.com/office/drawing/2014/main" id="{2E892380-354B-43DD-88D1-7B6AFAED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5000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o3-accent">
            <a:extLst xmlns:a="http://schemas.openxmlformats.org/drawingml/2006/main">
              <a:ext uri="{FF2B5EF4-FFF2-40B4-BE49-F238E27FC236}">
                <a16:creationId xmlns:a16="http://schemas.microsoft.com/office/drawing/2014/main" id="{458BA909-29E6-4A6A-962A-E9485ABB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o3-title">
            <a:extLst xmlns:a="http://schemas.openxmlformats.org/drawingml/2006/main">
              <a:ext uri="{FF2B5EF4-FFF2-40B4-BE49-F238E27FC236}">
                <a16:creationId xmlns:a16="http://schemas.microsoft.com/office/drawing/2014/main" id="{CD3047C8-F590-413D-A0F9-8A2964EC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评测基准</a:t>
            </a:r>
          </a:p>
        </p:txBody>
      </p:sp>
      <p:sp>
        <p:nvSpPr>
          <p:cNvPr id="15" name="o3-body">
            <a:extLst xmlns:a="http://schemas.openxmlformats.org/drawingml/2006/main">
              <a:ext uri="{FF2B5EF4-FFF2-40B4-BE49-F238E27FC236}">
                <a16:creationId xmlns:a16="http://schemas.microsoft.com/office/drawing/2014/main" id="{6F336E53-0561-4C51-9509-3769AA92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48075"/>
            <a:ext cx="4581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设计 30 个问题，用来检查检索、回答、引用、推理和模块调用是否真的有效。</a:t>
            </a:r>
          </a:p>
        </p:txBody>
      </p:sp>
      <p:sp>
        <p:nvSpPr>
          <p:cNvPr id="16" name="o4-bg">
            <a:extLst xmlns:a="http://schemas.openxmlformats.org/drawingml/2006/main">
              <a:ext uri="{FF2B5EF4-FFF2-40B4-BE49-F238E27FC236}">
                <a16:creationId xmlns:a16="http://schemas.microsoft.com/office/drawing/2014/main" id="{416A71A6-F03C-4526-A508-D980DDB5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5000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o4-accent">
            <a:extLst xmlns:a="http://schemas.openxmlformats.org/drawingml/2006/main">
              <a:ext uri="{FF2B5EF4-FFF2-40B4-BE49-F238E27FC236}">
                <a16:creationId xmlns:a16="http://schemas.microsoft.com/office/drawing/2014/main" id="{3B90C078-21C6-4DA7-BCDB-B63419A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8" name="o4-title">
            <a:extLst xmlns:a="http://schemas.openxmlformats.org/drawingml/2006/main">
              <a:ext uri="{FF2B5EF4-FFF2-40B4-BE49-F238E27FC236}">
                <a16:creationId xmlns:a16="http://schemas.microsoft.com/office/drawing/2014/main" id="{4CEA1B0C-F874-4613-BCBB-F56966EA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48025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增强模块</a:t>
            </a:r>
          </a:p>
        </p:txBody>
      </p:sp>
      <p:sp>
        <p:nvSpPr>
          <p:cNvPr id="19" name="o4-body">
            <a:extLst xmlns:a="http://schemas.openxmlformats.org/drawingml/2006/main">
              <a:ext uri="{FF2B5EF4-FFF2-40B4-BE49-F238E27FC236}">
                <a16:creationId xmlns:a16="http://schemas.microsoft.com/office/drawing/2014/main" id="{14D856C3-2334-45DB-9BD1-13B03627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48075"/>
            <a:ext cx="4581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实现结构化知识库、Agentic RAG、持久记忆、UniProt Skill，并接入最终协作问答链路。</a:t>
            </a:r>
          </a:p>
        </p:txBody>
      </p:sp>
      <p:sp>
        <p:nvSpPr>
          <p:cNvPr id="20" name="summary">
            <a:extLst xmlns:a="http://schemas.openxmlformats.org/drawingml/2006/main">
              <a:ext uri="{FF2B5EF4-FFF2-40B4-BE49-F238E27FC236}">
                <a16:creationId xmlns:a16="http://schemas.microsoft.com/office/drawing/2014/main" id="{37ADA6D6-3FC0-4AA0-ADA7-C9932CA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整体目标：回答专业问题，并说明证据来源和回答依据。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5B06BA74-8BB6-46C1-9D25-FF828A89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E4023E-F8D9-4B46-B3C5-41C149E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1946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9FDEF06-AB54-4411-BC33-0BAC0A4A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1458F7-1109-40C6-B84C-9926D0C5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系统架构：从资料到回答的闭环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78868B-F936-4B16-8157-68D68C91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C6ADA00A-B9BC-4F3B-A68A-263B693A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flow-1-num">
            <a:extLst xmlns:a="http://schemas.openxmlformats.org/drawingml/2006/main">
              <a:ext uri="{FF2B5EF4-FFF2-40B4-BE49-F238E27FC236}">
                <a16:creationId xmlns:a16="http://schemas.microsoft.com/office/drawing/2014/main" id="{C550EC78-37C8-4594-BDE5-E7D231B8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flow-1-label">
            <a:extLst xmlns:a="http://schemas.openxmlformats.org/drawingml/2006/main">
              <a:ext uri="{FF2B5EF4-FFF2-40B4-BE49-F238E27FC236}">
                <a16:creationId xmlns:a16="http://schemas.microsoft.com/office/drawing/2014/main" id="{35522A09-5F42-4CB1-B14E-34FE95B0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716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资料整理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0869939-F952-4A0C-AEBE-7BF5E67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6F"/>
                </a:solidFill>
              </a:defRPr>
            </a:pPr>
            <a:r>
              <a:rPr sz="1800" b="1">
                <a:solidFill>
                  <a:srgbClr val="52616F"/>
                </a:solidFill>
              </a:rPr>
              <a:t>→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F76EE114-4BB2-4190-8CAE-1B703AF8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19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9" name="flow-2-num">
            <a:extLst xmlns:a="http://schemas.openxmlformats.org/drawingml/2006/main">
              <a:ext uri="{FF2B5EF4-FFF2-40B4-BE49-F238E27FC236}">
                <a16:creationId xmlns:a16="http://schemas.microsoft.com/office/drawing/2014/main" id="{C8EAE97F-8BC9-4306-A647-7C2E315B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E"/>
                </a:solidFill>
              </a:defRPr>
            </a:pPr>
            <a:r>
              <a:rPr sz="1650" b="1">
                <a:solidFill>
                  <a:srgbClr val="0F9F6E"/>
                </a:solidFill>
              </a:rPr>
              <a:t>2</a:t>
            </a:r>
          </a:p>
        </p:txBody>
      </p:sp>
      <p:sp>
        <p:nvSpPr>
          <p:cNvPr id="10" name="flow-2-label">
            <a:extLst xmlns:a="http://schemas.openxmlformats.org/drawingml/2006/main">
              <a:ext uri="{FF2B5EF4-FFF2-40B4-BE49-F238E27FC236}">
                <a16:creationId xmlns:a16="http://schemas.microsoft.com/office/drawing/2014/main" id="{DC33763A-641E-4291-94FC-8A6C182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716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索引构建</a:t>
            </a:r>
          </a:p>
        </p:txBody>
      </p:sp>
      <p:sp>
        <p:nvSpPr>
          <p:cNvPr id="11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17E7C8D-D61E-412D-8101-B1432DF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28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6F"/>
                </a:solidFill>
              </a:defRPr>
            </a:pPr>
            <a:r>
              <a:rPr sz="1800" b="1">
                <a:solidFill>
                  <a:srgbClr val="52616F"/>
                </a:solidFill>
              </a:rPr>
              <a:t>→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AE813EDE-A1D3-4AD2-8A70-AA77DEA7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19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3" name="flow-3-num">
            <a:extLst xmlns:a="http://schemas.openxmlformats.org/drawingml/2006/main">
              <a:ext uri="{FF2B5EF4-FFF2-40B4-BE49-F238E27FC236}">
                <a16:creationId xmlns:a16="http://schemas.microsoft.com/office/drawing/2014/main" id="{40AC52E9-7AB0-4844-A248-27819968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3</a:t>
            </a:r>
          </a:p>
        </p:txBody>
      </p:sp>
      <p:sp>
        <p:nvSpPr>
          <p:cNvPr id="14" name="flow-3-label">
            <a:extLst xmlns:a="http://schemas.openxmlformats.org/drawingml/2006/main">
              <a:ext uri="{FF2B5EF4-FFF2-40B4-BE49-F238E27FC236}">
                <a16:creationId xmlns:a16="http://schemas.microsoft.com/office/drawing/2014/main" id="{6EA58B16-B182-41A4-9237-7DF827B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716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检索增强</a:t>
            </a:r>
          </a:p>
        </p:txBody>
      </p:sp>
      <p:sp>
        <p:nvSpPr>
          <p:cNvPr id="1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6B0C901E-8D23-4275-909A-AD52684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28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6F"/>
                </a:solidFill>
              </a:defRPr>
            </a:pPr>
            <a:r>
              <a:rPr sz="1800" b="1">
                <a:solidFill>
                  <a:srgbClr val="52616F"/>
                </a:solidFill>
              </a:rPr>
              <a:t>→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595DE497-0D66-41ED-B949-B9695702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flow-4-num">
            <a:extLst xmlns:a="http://schemas.openxmlformats.org/drawingml/2006/main">
              <a:ext uri="{FF2B5EF4-FFF2-40B4-BE49-F238E27FC236}">
                <a16:creationId xmlns:a16="http://schemas.microsoft.com/office/drawing/2014/main" id="{AD523ACC-CC35-4B53-925A-5F9893E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8" name="flow-4-label">
            <a:extLst xmlns:a="http://schemas.openxmlformats.org/drawingml/2006/main">
              <a:ext uri="{FF2B5EF4-FFF2-40B4-BE49-F238E27FC236}">
                <a16:creationId xmlns:a16="http://schemas.microsoft.com/office/drawing/2014/main" id="{EA5EF252-0CCB-487F-8A55-3D61925D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LLM 回答</a:t>
            </a:r>
          </a:p>
        </p:txBody>
      </p:sp>
      <p:sp>
        <p:nvSpPr>
          <p:cNvPr id="19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83276F51-72F4-4B93-B519-BD80E96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6F"/>
                </a:solidFill>
              </a:defRPr>
            </a:pPr>
            <a:r>
              <a:rPr sz="1800" b="1">
                <a:solidFill>
                  <a:srgbClr val="52616F"/>
                </a:solidFill>
              </a:rPr>
              <a:t>→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087C904F-DCE1-4A2B-A620-5EF5A89A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19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flow-5-num">
            <a:extLst xmlns:a="http://schemas.openxmlformats.org/drawingml/2006/main">
              <a:ext uri="{FF2B5EF4-FFF2-40B4-BE49-F238E27FC236}">
                <a16:creationId xmlns:a16="http://schemas.microsoft.com/office/drawing/2014/main" id="{3F8144B6-51E6-406F-9FFC-983D1BA0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5</a:t>
            </a:r>
          </a:p>
        </p:txBody>
      </p:sp>
      <p:sp>
        <p:nvSpPr>
          <p:cNvPr id="22" name="flow-5-label">
            <a:extLst xmlns:a="http://schemas.openxmlformats.org/drawingml/2006/main">
              <a:ext uri="{FF2B5EF4-FFF2-40B4-BE49-F238E27FC236}">
                <a16:creationId xmlns:a16="http://schemas.microsoft.com/office/drawing/2014/main" id="{5D5A2ED1-CC69-4693-B67F-E89E0FA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716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记录反馈</a:t>
            </a:r>
          </a:p>
        </p:txBody>
      </p:sp>
      <p:graphicFrame>
        <p:nvGraphicFramePr>
          <p:cNvPr id="49" name="architecture-table"/>
          <p:cNvGraphicFramePr/>
          <p:nvPr/>
        </p:nvGraphicFramePr>
        <p:xfrm>
          <a:off xmlns:a="http://schemas.openxmlformats.org/drawingml/2006/main" x="876300" y="3143250"/>
          <a:ext xmlns:a="http://schemas.openxmlformats.org/drawingml/2006/main" cx="102870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524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本项目实现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数据层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保存资料、来源和关键词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 套知识集；PDF/EPUB/TXT/Markdown 自动抽取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索引层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把长文本变成可检索证据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bge-m3 向量库；4696 chunks；manifest 记录构建信息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推理层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决定怎么查、怎么引用、怎么答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Agentic planner + Hybrid 检索 + 记忆 + Skill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714ACC05-9E45-44B0-9176-14E88745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用户看到的是一个问答入口；后台实际运行的是一条包含资料、索引、检索策略、外部工具和记忆写回的链路。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36CF2ECD-50D7-40AF-B961-860E24E6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5E371A-2F96-43D3-A497-E0A76B04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4197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EAF07D7-BDBD-498A-85C5-E702AC8B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69FBCC-B39E-4CEF-98DE-6830FE60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知识资产：28 套单细胞与空间组学资料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1933C83-4F05-4502-97AA-3ABAB7A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ka1-bar">
            <a:extLst xmlns:a="http://schemas.openxmlformats.org/drawingml/2006/main">
              <a:ext uri="{FF2B5EF4-FFF2-40B4-BE49-F238E27FC236}">
                <a16:creationId xmlns:a16="http://schemas.microsoft.com/office/drawing/2014/main" id="{3FB1CABB-019C-461F-AFE3-08C1FE7D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ka1-value">
            <a:extLst xmlns:a="http://schemas.openxmlformats.org/drawingml/2006/main">
              <a:ext uri="{FF2B5EF4-FFF2-40B4-BE49-F238E27FC236}">
                <a16:creationId xmlns:a16="http://schemas.microsoft.com/office/drawing/2014/main" id="{30A0B263-6499-43C0-A9E9-39421644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38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6" name="ka1-label">
            <a:extLst xmlns:a="http://schemas.openxmlformats.org/drawingml/2006/main">
              <a:ext uri="{FF2B5EF4-FFF2-40B4-BE49-F238E27FC236}">
                <a16:creationId xmlns:a16="http://schemas.microsoft.com/office/drawing/2014/main" id="{375F2BD4-F933-4B03-97FE-26C7988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有效知识集</a:t>
            </a:r>
          </a:p>
        </p:txBody>
      </p:sp>
      <p:sp>
        <p:nvSpPr>
          <p:cNvPr id="7" name="ka2-bar">
            <a:extLst xmlns:a="http://schemas.openxmlformats.org/drawingml/2006/main">
              <a:ext uri="{FF2B5EF4-FFF2-40B4-BE49-F238E27FC236}">
                <a16:creationId xmlns:a16="http://schemas.microsoft.com/office/drawing/2014/main" id="{1675D7E9-221C-49E6-8D0F-85F5319D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8" name="ka2-value">
            <a:extLst xmlns:a="http://schemas.openxmlformats.org/drawingml/2006/main">
              <a:ext uri="{FF2B5EF4-FFF2-40B4-BE49-F238E27FC236}">
                <a16:creationId xmlns:a16="http://schemas.microsoft.com/office/drawing/2014/main" id="{C9152248-CD9D-4CBB-9FBA-C915FBE8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382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22</a:t>
            </a:r>
          </a:p>
        </p:txBody>
      </p:sp>
      <p:sp>
        <p:nvSpPr>
          <p:cNvPr id="9" name="ka2-label">
            <a:extLst xmlns:a="http://schemas.openxmlformats.org/drawingml/2006/main">
              <a:ext uri="{FF2B5EF4-FFF2-40B4-BE49-F238E27FC236}">
                <a16:creationId xmlns:a16="http://schemas.microsoft.com/office/drawing/2014/main" id="{A4BF90E3-84CE-4086-81F9-E7CBA8BC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383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2025/2026 论文为主体</a:t>
            </a:r>
          </a:p>
        </p:txBody>
      </p:sp>
      <p:sp>
        <p:nvSpPr>
          <p:cNvPr id="10" name="ka3-bar">
            <a:extLst xmlns:a="http://schemas.openxmlformats.org/drawingml/2006/main">
              <a:ext uri="{FF2B5EF4-FFF2-40B4-BE49-F238E27FC236}">
                <a16:creationId xmlns:a16="http://schemas.microsoft.com/office/drawing/2014/main" id="{9BE987BE-8A8B-48D1-B36A-ABA7D5F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ka3-value">
            <a:extLst xmlns:a="http://schemas.openxmlformats.org/drawingml/2006/main">
              <a:ext uri="{FF2B5EF4-FFF2-40B4-BE49-F238E27FC236}">
                <a16:creationId xmlns:a16="http://schemas.microsoft.com/office/drawing/2014/main" id="{1C70F8EC-C2BE-4A42-9B67-117A4D9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12" name="ka3-label">
            <a:extLst xmlns:a="http://schemas.openxmlformats.org/drawingml/2006/main">
              <a:ext uri="{FF2B5EF4-FFF2-40B4-BE49-F238E27FC236}">
                <a16:creationId xmlns:a16="http://schemas.microsoft.com/office/drawing/2014/main" id="{B28986BF-65BB-4917-B230-DD4A378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383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教材与公共资源补充背景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18107AA2-F63D-4DB6-95A5-25C6DFE5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主题聚焦 single-cell omics、spatial biology、multi-omics、foundation model。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每套知识集采用统一结构：content/、source.json、keywords.json。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source.json 保留 DOI / URL / 标题 / 作者等信息，后续引用和结构化入库都依赖它。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中文书籍与英文论文并存：论文负责前沿方法，书籍负责基础概念和背景解释。</a:t>
            </a:r>
          </a:p>
        </p:txBody>
      </p:sp>
      <p:sp>
        <p:nvSpPr>
          <p:cNvPr id="14" name="asset-note-bg">
            <a:extLst xmlns:a="http://schemas.openxmlformats.org/drawingml/2006/main">
              <a:ext uri="{FF2B5EF4-FFF2-40B4-BE49-F238E27FC236}">
                <a16:creationId xmlns:a16="http://schemas.microsoft.com/office/drawing/2014/main" id="{634B3177-62AE-43A1-B53E-3C459B6D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62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</p:sp>
      <p:sp>
        <p:nvSpPr>
          <p:cNvPr id="15" name="asset-note">
            <a:extLst xmlns:a="http://schemas.openxmlformats.org/drawingml/2006/main">
              <a:ext uri="{FF2B5EF4-FFF2-40B4-BE49-F238E27FC236}">
                <a16:creationId xmlns:a16="http://schemas.microsoft.com/office/drawing/2014/main" id="{30091541-E2E9-4824-970A-4DFF8020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这一层解决的是“资料是否可靠、是否可追溯、是否能被系统稳定读取”。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A9F7CEB-F1FB-460B-A7DB-962EC56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E6C2D0-C74C-4523-8C11-A1D5DC9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618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FD96837-3062-4FDB-9714-25211166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957C49-4C53-401F-9684-D91FB54D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索引构建：把 PDF / EPUB 变成可检索证据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639791-BE32-4D03-9456-7FA4DFEF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v1-bg">
            <a:extLst xmlns:a="http://schemas.openxmlformats.org/drawingml/2006/main">
              <a:ext uri="{FF2B5EF4-FFF2-40B4-BE49-F238E27FC236}">
                <a16:creationId xmlns:a16="http://schemas.microsoft.com/office/drawing/2014/main" id="{2FE61B1C-BD9A-4199-9F2B-4E267A88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v1-accent">
            <a:extLst xmlns:a="http://schemas.openxmlformats.org/drawingml/2006/main">
              <a:ext uri="{FF2B5EF4-FFF2-40B4-BE49-F238E27FC236}">
                <a16:creationId xmlns:a16="http://schemas.microsoft.com/office/drawing/2014/main" id="{6D7F437F-7229-4FCA-AEC4-004744E4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v1-title">
            <a:extLst xmlns:a="http://schemas.openxmlformats.org/drawingml/2006/main">
              <a:ext uri="{FF2B5EF4-FFF2-40B4-BE49-F238E27FC236}">
                <a16:creationId xmlns:a16="http://schemas.microsoft.com/office/drawing/2014/main" id="{9FFA21E2-9CAC-44F1-A4B7-4E27EDB4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抽取</a:t>
            </a:r>
          </a:p>
        </p:txBody>
      </p:sp>
      <p:sp>
        <p:nvSpPr>
          <p:cNvPr id="7" name="v1-body">
            <a:extLst xmlns:a="http://schemas.openxmlformats.org/drawingml/2006/main">
              <a:ext uri="{FF2B5EF4-FFF2-40B4-BE49-F238E27FC236}">
                <a16:creationId xmlns:a16="http://schemas.microsoft.com/office/drawing/2014/main" id="{75A613D5-7536-4BC7-9B4C-268DDCCB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识别 PDF、EPUB、TXT、Markdown；抽取正文并绑定知识集来源。</a:t>
            </a:r>
          </a:p>
        </p:txBody>
      </p:sp>
      <p:sp>
        <p:nvSpPr>
          <p:cNvPr id="8" name="v2-bg">
            <a:extLst xmlns:a="http://schemas.openxmlformats.org/drawingml/2006/main">
              <a:ext uri="{FF2B5EF4-FFF2-40B4-BE49-F238E27FC236}">
                <a16:creationId xmlns:a16="http://schemas.microsoft.com/office/drawing/2014/main" id="{F6C8E698-0981-447C-ACD4-805BAC26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76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v2-accent">
            <a:extLst xmlns:a="http://schemas.openxmlformats.org/drawingml/2006/main">
              <a:ext uri="{FF2B5EF4-FFF2-40B4-BE49-F238E27FC236}">
                <a16:creationId xmlns:a16="http://schemas.microsoft.com/office/drawing/2014/main" id="{922C37BE-439E-4AD4-B09D-E30562BB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763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749FADF5-6C78-44D2-AFD7-57CD5F4D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切分</a:t>
            </a:r>
          </a:p>
        </p:txBody>
      </p:sp>
      <p:sp>
        <p:nvSpPr>
          <p:cNvPr id="11" name="v2-body">
            <a:extLst xmlns:a="http://schemas.openxmlformats.org/drawingml/2006/main">
              <a:ext uri="{FF2B5EF4-FFF2-40B4-BE49-F238E27FC236}">
                <a16:creationId xmlns:a16="http://schemas.microsoft.com/office/drawing/2014/main" id="{AC714EBD-1501-466F-94E7-C27EEFF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文本切成 chunk，并保留 overlap，减少语义边界被截断的问题。</a:t>
            </a:r>
          </a:p>
        </p:txBody>
      </p:sp>
      <p:sp>
        <p:nvSpPr>
          <p:cNvPr id="12" name="v3-bg">
            <a:extLst xmlns:a="http://schemas.openxmlformats.org/drawingml/2006/main">
              <a:ext uri="{FF2B5EF4-FFF2-40B4-BE49-F238E27FC236}">
                <a16:creationId xmlns:a16="http://schemas.microsoft.com/office/drawing/2014/main" id="{85AD8AED-DBB7-4987-9CC1-F64808E3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76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v3-accent">
            <a:extLst xmlns:a="http://schemas.openxmlformats.org/drawingml/2006/main">
              <a:ext uri="{FF2B5EF4-FFF2-40B4-BE49-F238E27FC236}">
                <a16:creationId xmlns:a16="http://schemas.microsoft.com/office/drawing/2014/main" id="{021093C2-EAF0-46EE-89E9-D2B89358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763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v3-title">
            <a:extLst xmlns:a="http://schemas.openxmlformats.org/drawingml/2006/main">
              <a:ext uri="{FF2B5EF4-FFF2-40B4-BE49-F238E27FC236}">
                <a16:creationId xmlns:a16="http://schemas.microsoft.com/office/drawing/2014/main" id="{0147C09F-F1B5-4D37-B3E0-6F4C221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入库</a:t>
            </a:r>
          </a:p>
        </p:txBody>
      </p:sp>
      <p:sp>
        <p:nvSpPr>
          <p:cNvPr id="15" name="v3-body">
            <a:extLst xmlns:a="http://schemas.openxmlformats.org/drawingml/2006/main">
              <a:ext uri="{FF2B5EF4-FFF2-40B4-BE49-F238E27FC236}">
                <a16:creationId xmlns:a16="http://schemas.microsoft.com/office/drawing/2014/main" id="{389B8E5A-0BD6-4FCF-B6D4-12BBE75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Ollama bge-m3 生成 1024 维 embedding，保存为本地向量库。</a:t>
            </a:r>
          </a:p>
        </p:txBody>
      </p:sp>
      <p:sp>
        <p:nvSpPr>
          <p:cNvPr id="16" name="vec1-bar">
            <a:extLst xmlns:a="http://schemas.openxmlformats.org/drawingml/2006/main">
              <a:ext uri="{FF2B5EF4-FFF2-40B4-BE49-F238E27FC236}">
                <a16:creationId xmlns:a16="http://schemas.microsoft.com/office/drawing/2014/main" id="{66213A15-1AAC-464A-AE8A-984B0296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vec1-value">
            <a:extLst xmlns:a="http://schemas.openxmlformats.org/drawingml/2006/main">
              <a:ext uri="{FF2B5EF4-FFF2-40B4-BE49-F238E27FC236}">
                <a16:creationId xmlns:a16="http://schemas.microsoft.com/office/drawing/2014/main" id="{EEA6BC6B-A496-404B-AFB6-3A2ACC1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4696</a:t>
            </a:r>
          </a:p>
        </p:txBody>
      </p:sp>
      <p:sp>
        <p:nvSpPr>
          <p:cNvPr id="18" name="vec1-label">
            <a:extLst xmlns:a="http://schemas.openxmlformats.org/drawingml/2006/main">
              <a:ext uri="{FF2B5EF4-FFF2-40B4-BE49-F238E27FC236}">
                <a16:creationId xmlns:a16="http://schemas.microsoft.com/office/drawing/2014/main" id="{05C982BE-7FD3-48AB-B77A-750E4E7E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文本块 chunks</a:t>
            </a:r>
          </a:p>
        </p:txBody>
      </p:sp>
      <p:sp>
        <p:nvSpPr>
          <p:cNvPr id="19" name="vec2-bar">
            <a:extLst xmlns:a="http://schemas.openxmlformats.org/drawingml/2006/main">
              <a:ext uri="{FF2B5EF4-FFF2-40B4-BE49-F238E27FC236}">
                <a16:creationId xmlns:a16="http://schemas.microsoft.com/office/drawing/2014/main" id="{E83DBB76-4D19-423E-BD30-1D33DE0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0" name="vec2-value">
            <a:extLst xmlns:a="http://schemas.openxmlformats.org/drawingml/2006/main">
              <a:ext uri="{FF2B5EF4-FFF2-40B4-BE49-F238E27FC236}">
                <a16:creationId xmlns:a16="http://schemas.microsoft.com/office/drawing/2014/main" id="{CC639B35-AA50-4F2E-B656-0BD78E9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1024</a:t>
            </a:r>
          </a:p>
        </p:txBody>
      </p:sp>
      <p:sp>
        <p:nvSpPr>
          <p:cNvPr id="21" name="vec2-label">
            <a:extLst xmlns:a="http://schemas.openxmlformats.org/drawingml/2006/main">
              <a:ext uri="{FF2B5EF4-FFF2-40B4-BE49-F238E27FC236}">
                <a16:creationId xmlns:a16="http://schemas.microsoft.com/office/drawing/2014/main" id="{5838FA3C-D14A-4A8B-9B30-E82D258C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向量维度</a:t>
            </a:r>
          </a:p>
        </p:txBody>
      </p:sp>
      <p:sp>
        <p:nvSpPr>
          <p:cNvPr id="22" name="vec3-bar">
            <a:extLst xmlns:a="http://schemas.openxmlformats.org/drawingml/2006/main">
              <a:ext uri="{FF2B5EF4-FFF2-40B4-BE49-F238E27FC236}">
                <a16:creationId xmlns:a16="http://schemas.microsoft.com/office/drawing/2014/main" id="{47D8CB4D-C836-4480-A51C-4CB5F728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3" name="vec3-value">
            <a:extLst xmlns:a="http://schemas.openxmlformats.org/drawingml/2006/main">
              <a:ext uri="{FF2B5EF4-FFF2-40B4-BE49-F238E27FC236}">
                <a16:creationId xmlns:a16="http://schemas.microsoft.com/office/drawing/2014/main" id="{1624ACB6-03E6-4A18-9EE9-516B50D8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bge-m3</a:t>
            </a:r>
          </a:p>
        </p:txBody>
      </p:sp>
      <p:sp>
        <p:nvSpPr>
          <p:cNvPr id="24" name="vec3-label">
            <a:extLst xmlns:a="http://schemas.openxmlformats.org/drawingml/2006/main">
              <a:ext uri="{FF2B5EF4-FFF2-40B4-BE49-F238E27FC236}">
                <a16:creationId xmlns:a16="http://schemas.microsoft.com/office/drawing/2014/main" id="{431F261A-C5DC-4BBB-BEB4-9A823EB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Embedding 模型</a:t>
            </a:r>
          </a:p>
        </p:txBody>
      </p:sp>
      <p:sp>
        <p:nvSpPr>
          <p:cNvPr id="25" name="path">
            <a:extLst xmlns:a="http://schemas.openxmlformats.org/drawingml/2006/main">
              <a:ext uri="{FF2B5EF4-FFF2-40B4-BE49-F238E27FC236}">
                <a16:creationId xmlns:a16="http://schemas.microsoft.com/office/drawing/2014/main" id="{8C9F3206-6EFA-4EB7-89BD-893200AC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F"/>
                </a:solidFill>
              </a:defRPr>
            </a:pPr>
            <a:r>
              <a:rPr sz="1500" b="0">
                <a:solidFill>
                  <a:srgbClr val="52616F"/>
                </a:solidFill>
              </a:rPr>
              <a:t>持久化位置：storage/vector_store_bge_m3/    主要文件：chunks.jsonl / vectors.npy / manifest.json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E1CB4389-0879-4E47-92DC-D5B435AB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5AD9FD-827B-4009-8446-04375E6C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8366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4527939-DC47-4F28-8AE7-D9EBC5F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3F24C1-DDFD-461D-8AC5-65B172A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Benchmark：30 个问题用于自测与消融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B927A8B-A14E-49FC-908C-B7C69B30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bm1-bar">
            <a:extLst xmlns:a="http://schemas.openxmlformats.org/drawingml/2006/main">
              <a:ext uri="{FF2B5EF4-FFF2-40B4-BE49-F238E27FC236}">
                <a16:creationId xmlns:a16="http://schemas.microsoft.com/office/drawing/2014/main" id="{63A01AFD-D991-43FE-8BC4-C860AAFF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bm1-value">
            <a:extLst xmlns:a="http://schemas.openxmlformats.org/drawingml/2006/main">
              <a:ext uri="{FF2B5EF4-FFF2-40B4-BE49-F238E27FC236}">
                <a16:creationId xmlns:a16="http://schemas.microsoft.com/office/drawing/2014/main" id="{D0017773-A00B-4F6D-8B80-18E83B1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90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30</a:t>
            </a:r>
          </a:p>
        </p:txBody>
      </p:sp>
      <p:sp>
        <p:nvSpPr>
          <p:cNvPr id="6" name="bm1-label">
            <a:extLst xmlns:a="http://schemas.openxmlformats.org/drawingml/2006/main">
              <a:ext uri="{FF2B5EF4-FFF2-40B4-BE49-F238E27FC236}">
                <a16:creationId xmlns:a16="http://schemas.microsoft.com/office/drawing/2014/main" id="{8323AD3F-435E-4A04-98F8-DF257738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总题量</a:t>
            </a:r>
          </a:p>
        </p:txBody>
      </p:sp>
      <p:sp>
        <p:nvSpPr>
          <p:cNvPr id="7" name="bm2-bar">
            <a:extLst xmlns:a="http://schemas.openxmlformats.org/drawingml/2006/main">
              <a:ext uri="{FF2B5EF4-FFF2-40B4-BE49-F238E27FC236}">
                <a16:creationId xmlns:a16="http://schemas.microsoft.com/office/drawing/2014/main" id="{B1FA39A5-D90A-4CE2-9480-D5C5DA5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8" name="bm2-value">
            <a:extLst xmlns:a="http://schemas.openxmlformats.org/drawingml/2006/main">
              <a:ext uri="{FF2B5EF4-FFF2-40B4-BE49-F238E27FC236}">
                <a16:creationId xmlns:a16="http://schemas.microsoft.com/office/drawing/2014/main" id="{0B3BD441-3ADD-4C46-938C-12A7610D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90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L1-L4</a:t>
            </a:r>
          </a:p>
        </p:txBody>
      </p:sp>
      <p:sp>
        <p:nvSpPr>
          <p:cNvPr id="9" name="bm2-label">
            <a:extLst xmlns:a="http://schemas.openxmlformats.org/drawingml/2006/main">
              <a:ext uri="{FF2B5EF4-FFF2-40B4-BE49-F238E27FC236}">
                <a16:creationId xmlns:a16="http://schemas.microsoft.com/office/drawing/2014/main" id="{5ABB51BC-9135-4517-AD38-C5ED4CFF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难度分布：2 / 16 / 11 / 1</a:t>
            </a:r>
          </a:p>
        </p:txBody>
      </p:sp>
      <p:sp>
        <p:nvSpPr>
          <p:cNvPr id="10" name="bm3-bar">
            <a:extLst xmlns:a="http://schemas.openxmlformats.org/drawingml/2006/main">
              <a:ext uri="{FF2B5EF4-FFF2-40B4-BE49-F238E27FC236}">
                <a16:creationId xmlns:a16="http://schemas.microsoft.com/office/drawing/2014/main" id="{75353811-62BB-409F-BEC9-F399EFB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bm3-value">
            <a:extLst xmlns:a="http://schemas.openxmlformats.org/drawingml/2006/main">
              <a:ext uri="{FF2B5EF4-FFF2-40B4-BE49-F238E27FC236}">
                <a16:creationId xmlns:a16="http://schemas.microsoft.com/office/drawing/2014/main" id="{BF7F3104-5CEC-4B28-BFF9-2762F9A3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5 维</a:t>
            </a:r>
          </a:p>
        </p:txBody>
      </p:sp>
      <p:sp>
        <p:nvSpPr>
          <p:cNvPr id="12" name="bm3-label">
            <a:extLst xmlns:a="http://schemas.openxmlformats.org/drawingml/2006/main">
              <a:ext uri="{FF2B5EF4-FFF2-40B4-BE49-F238E27FC236}">
                <a16:creationId xmlns:a16="http://schemas.microsoft.com/office/drawing/2014/main" id="{3944B0DD-99D1-44D1-98D7-B833590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检索、答案、引用、推理、模块行为</a:t>
            </a:r>
          </a:p>
        </p:txBody>
      </p:sp>
      <p:graphicFrame>
        <p:nvGraphicFramePr>
          <p:cNvPr id="29" name="benchmark-table"/>
          <p:cNvGraphicFramePr/>
          <p:nvPr/>
        </p:nvGraphicFramePr>
        <p:xfrm>
          <a:off xmlns:a="http://schemas.openxmlformats.org/drawingml/2006/main" x="819150" y="2809875"/>
          <a:ext xmlns:a="http://schemas.openxmlformats.org/drawingml/2006/main" cx="10572750" cy="2047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286375"/>
                <a:gridCol w="5286375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题型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主要检验点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单文献事实 / 方法解释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系统能否找对来源，并给出忠实回答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多文献比较 / 综合推理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Agentic RAG 是否会拆分问题、平衡多个来源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元数据约束 / 公共资源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Hybrid RAG 是否能利用结构化知识库缩小候选范围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记忆 / Skill / 证据不足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最终协作问答是否真实调用记忆和 UniProt，并能承认不确定性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benchmark-note">
            <a:extLst xmlns:a="http://schemas.openxmlformats.org/drawingml/2006/main">
              <a:ext uri="{FF2B5EF4-FFF2-40B4-BE49-F238E27FC236}">
                <a16:creationId xmlns:a16="http://schemas.microsoft.com/office/drawing/2014/main" id="{2F02112F-469D-4833-8954-C2671969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benchmark 的作用是给后续模块升级提供尺子：不是只看回答像不像，而是看证据和调用链是否可靠。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34995E8-A495-45E5-82EA-0F6258C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F706C4-BB95-47E8-985B-E8B46A5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2858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06C5556-0C4A-46D8-B979-DEF7A3C7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DC3EA9-8C2C-4BD8-A62A-0E9D0036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结构化知识库：给语义检索加上精确过滤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7D2CF22-EE52-4D69-8713-ACC40BB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why">
            <a:extLst xmlns:a="http://schemas.openxmlformats.org/drawingml/2006/main">
              <a:ext uri="{FF2B5EF4-FFF2-40B4-BE49-F238E27FC236}">
                <a16:creationId xmlns:a16="http://schemas.microsoft.com/office/drawing/2014/main" id="{2D2F9E28-0BCE-4C7E-9618-D8797FF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向量检索擅长找语义相似，SQLite 结构化库负责年份、主题、方法名、来源等离散约束。</a:t>
            </a:r>
          </a:p>
        </p:txBody>
      </p:sp>
      <p:sp>
        <p:nvSpPr>
          <p:cNvPr id="5" name="kb1-bar">
            <a:extLst xmlns:a="http://schemas.openxmlformats.org/drawingml/2006/main">
              <a:ext uri="{FF2B5EF4-FFF2-40B4-BE49-F238E27FC236}">
                <a16:creationId xmlns:a16="http://schemas.microsoft.com/office/drawing/2014/main" id="{65CFA538-1459-49F2-8802-3C995FFD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kb1-value">
            <a:extLst xmlns:a="http://schemas.openxmlformats.org/drawingml/2006/main">
              <a:ext uri="{FF2B5EF4-FFF2-40B4-BE49-F238E27FC236}">
                <a16:creationId xmlns:a16="http://schemas.microsoft.com/office/drawing/2014/main" id="{284AD77D-3FA6-4910-A20A-C854AC3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28</a:t>
            </a:r>
          </a:p>
        </p:txBody>
      </p:sp>
      <p:sp>
        <p:nvSpPr>
          <p:cNvPr id="7" name="kb1-label">
            <a:extLst xmlns:a="http://schemas.openxmlformats.org/drawingml/2006/main">
              <a:ext uri="{FF2B5EF4-FFF2-40B4-BE49-F238E27FC236}">
                <a16:creationId xmlns:a16="http://schemas.microsoft.com/office/drawing/2014/main" id="{A8C2DD80-0BF9-4058-BD1C-8A05CE0F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论文/书籍记录</a:t>
            </a:r>
          </a:p>
        </p:txBody>
      </p:sp>
      <p:sp>
        <p:nvSpPr>
          <p:cNvPr id="8" name="kb2-bar">
            <a:extLst xmlns:a="http://schemas.openxmlformats.org/drawingml/2006/main">
              <a:ext uri="{FF2B5EF4-FFF2-40B4-BE49-F238E27FC236}">
                <a16:creationId xmlns:a16="http://schemas.microsoft.com/office/drawing/2014/main" id="{02D95DD1-4E25-47E0-BC82-F28488C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38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9" name="kb2-value">
            <a:extLst xmlns:a="http://schemas.openxmlformats.org/drawingml/2006/main">
              <a:ext uri="{FF2B5EF4-FFF2-40B4-BE49-F238E27FC236}">
                <a16:creationId xmlns:a16="http://schemas.microsoft.com/office/drawing/2014/main" id="{F39B3BF7-C908-47B6-B309-D428E30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00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316</a:t>
            </a:r>
          </a:p>
        </p:txBody>
      </p:sp>
      <p:sp>
        <p:nvSpPr>
          <p:cNvPr id="10" name="kb2-label">
            <a:extLst xmlns:a="http://schemas.openxmlformats.org/drawingml/2006/main">
              <a:ext uri="{FF2B5EF4-FFF2-40B4-BE49-F238E27FC236}">
                <a16:creationId xmlns:a16="http://schemas.microsoft.com/office/drawing/2014/main" id="{97E2C0DC-BC6C-4DFD-ACE6-1EDA858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0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作者条目</a:t>
            </a:r>
          </a:p>
        </p:txBody>
      </p:sp>
      <p:sp>
        <p:nvSpPr>
          <p:cNvPr id="11" name="kb3-bar">
            <a:extLst xmlns:a="http://schemas.openxmlformats.org/drawingml/2006/main">
              <a:ext uri="{FF2B5EF4-FFF2-40B4-BE49-F238E27FC236}">
                <a16:creationId xmlns:a16="http://schemas.microsoft.com/office/drawing/2014/main" id="{65D3E418-0087-4DD2-9449-8CFB10ED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38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kb3-value">
            <a:extLst xmlns:a="http://schemas.openxmlformats.org/drawingml/2006/main">
              <a:ext uri="{FF2B5EF4-FFF2-40B4-BE49-F238E27FC236}">
                <a16:creationId xmlns:a16="http://schemas.microsoft.com/office/drawing/2014/main" id="{F78617F5-BDA0-40F8-BBBB-5BC127A7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111</a:t>
            </a:r>
          </a:p>
        </p:txBody>
      </p:sp>
      <p:sp>
        <p:nvSpPr>
          <p:cNvPr id="13" name="kb3-label">
            <a:extLst xmlns:a="http://schemas.openxmlformats.org/drawingml/2006/main">
              <a:ext uri="{FF2B5EF4-FFF2-40B4-BE49-F238E27FC236}">
                <a16:creationId xmlns:a16="http://schemas.microsoft.com/office/drawing/2014/main" id="{4CC3BE98-6135-49A5-B0FE-9B124B5F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0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关键词</a:t>
            </a:r>
          </a:p>
        </p:txBody>
      </p:sp>
      <p:sp>
        <p:nvSpPr>
          <p:cNvPr id="14" name="kb4-bar">
            <a:extLst xmlns:a="http://schemas.openxmlformats.org/drawingml/2006/main">
              <a:ext uri="{FF2B5EF4-FFF2-40B4-BE49-F238E27FC236}">
                <a16:creationId xmlns:a16="http://schemas.microsoft.com/office/drawing/2014/main" id="{38418799-7AFE-45D3-A20C-B315068F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5" name="kb4-value">
            <a:extLst xmlns:a="http://schemas.openxmlformats.org/drawingml/2006/main">
              <a:ext uri="{FF2B5EF4-FFF2-40B4-BE49-F238E27FC236}">
                <a16:creationId xmlns:a16="http://schemas.microsoft.com/office/drawing/2014/main" id="{FC0644DD-4A5F-4278-8F5E-8D0B6851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0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24 / 14</a:t>
            </a:r>
          </a:p>
        </p:txBody>
      </p:sp>
      <p:sp>
        <p:nvSpPr>
          <p:cNvPr id="16" name="kb4-label">
            <a:extLst xmlns:a="http://schemas.openxmlformats.org/drawingml/2006/main">
              <a:ext uri="{FF2B5EF4-FFF2-40B4-BE49-F238E27FC236}">
                <a16:creationId xmlns:a16="http://schemas.microsoft.com/office/drawing/2014/main" id="{2342AB1A-9B33-4617-92BF-FDD03917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0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主题 / 方法实体</a:t>
            </a:r>
          </a:p>
        </p:txBody>
      </p:sp>
      <p:sp>
        <p:nvSpPr>
          <p:cNvPr id="17" name="flow">
            <a:extLst xmlns:a="http://schemas.openxmlformats.org/drawingml/2006/main">
              <a:ext uri="{FF2B5EF4-FFF2-40B4-BE49-F238E27FC236}">
                <a16:creationId xmlns:a16="http://schemas.microsoft.com/office/drawing/2014/main" id="{E7F67504-DA06-4D14-90CF-12C358F3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问题 → 结构化候选筛选 → 候选知识集内向量检索 → 引用证据进入 LLM</a:t>
            </a:r>
          </a:p>
        </p:txBody>
      </p:sp>
      <p:sp>
        <p:nvSpPr>
          <p:cNvPr id="18" name="example">
            <a:extLst xmlns:a="http://schemas.openxmlformats.org/drawingml/2006/main">
              <a:ext uri="{FF2B5EF4-FFF2-40B4-BE49-F238E27FC236}">
                <a16:creationId xmlns:a16="http://schemas.microsoft.com/office/drawing/2014/main" id="{51E7C685-D3CC-4CF5-B143-5B99AD1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F"/>
                </a:solidFill>
              </a:defRPr>
            </a:pPr>
            <a:r>
              <a:rPr sz="1650" b="0">
                <a:solidFill>
                  <a:srgbClr val="52616F"/>
                </a:solidFill>
              </a:rPr>
              <a:t>• 带有“2026、Nature Biotechnology、foundation model”等约束的问题，先用 SQLite 缩小候选范围。</a:t>
            </a:r>
          </a:p>
          <a:p xmlns:a="http://schemas.openxmlformats.org/drawingml/2006/main">
            <a:pPr algn="l">
              <a:defRPr sz="1650" b="0">
                <a:solidFill>
                  <a:srgbClr val="52616F"/>
                </a:solidFill>
              </a:defRPr>
            </a:pPr>
            <a:r>
              <a:rPr sz="1650" b="0">
                <a:solidFill>
                  <a:srgbClr val="52616F"/>
                </a:solidFill>
              </a:rPr>
              <a:t>• 好处是减少无关论文干扰，同时让系统的引用来源更容易解释。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D74F3530-A01A-4AB1-91D5-B69BCB3E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2B1B08-A538-4A84-92FE-720DD1A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7344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EAFD470-06F0-46A2-A98B-26C08DB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FF8026-C9A1-4E53-AC28-EA686000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Agentic RAG：先规划，再执行多步检索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25B1AE-9B88-4F8B-8282-798DEFDD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000B409-CA81-48ED-B77C-78FBC2A4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基础 RAG 通常只检索一次；Agentic RAG 先让 LLM 生成检索计划，再由程序执行多个检索步骤。</a:t>
            </a:r>
          </a:p>
        </p:txBody>
      </p:sp>
      <p:graphicFrame>
        <p:nvGraphicFramePr>
          <p:cNvPr id="13" name="agentic-table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4775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238750"/>
                <a:gridCol w="523875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实现方式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Planner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LLM 输出 JSON：need_retrieval、question_type、reasoning、steps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多步检索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每个 step 有独立 query、purpose、top_k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证据合并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对多步检索结果去重，避免只召回单一论文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Fallback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planner 失败时退回普通检索，保证演示稳定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case">
            <a:extLst xmlns:a="http://schemas.openxmlformats.org/drawingml/2006/main">
              <a:ext uri="{FF2B5EF4-FFF2-40B4-BE49-F238E27FC236}">
                <a16:creationId xmlns:a16="http://schemas.microsoft.com/office/drawing/2014/main" id="{21994F9C-F734-43B2-B39F-BE97EEEF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典型收益：比较 Nicheformer 与 CONCORD 时，系统会分别检索两个对象，再综合比较。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F00B318-1173-4A67-9F86-9C6D4B7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550B31-C981-4533-A4B8-1130C16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766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158364D-28C3-4BDC-BFAA-4EBAB59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FCDBD-95FF-47AE-8149-2453BD9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持久记忆：让系统支持跨轮追问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188414-8671-4E84-8ED9-DD87501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mem1-bg">
            <a:extLst xmlns:a="http://schemas.openxmlformats.org/drawingml/2006/main">
              <a:ext uri="{FF2B5EF4-FFF2-40B4-BE49-F238E27FC236}">
                <a16:creationId xmlns:a16="http://schemas.microsoft.com/office/drawing/2014/main" id="{4CDA625A-1329-4351-B58D-1B3487BE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3238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mem1-accent">
            <a:extLst xmlns:a="http://schemas.openxmlformats.org/drawingml/2006/main">
              <a:ext uri="{FF2B5EF4-FFF2-40B4-BE49-F238E27FC236}">
                <a16:creationId xmlns:a16="http://schemas.microsoft.com/office/drawing/2014/main" id="{91EE70D7-B460-48EF-8F04-C06E306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mem1-title">
            <a:extLst xmlns:a="http://schemas.openxmlformats.org/drawingml/2006/main">
              <a:ext uri="{FF2B5EF4-FFF2-40B4-BE49-F238E27FC236}">
                <a16:creationId xmlns:a16="http://schemas.microsoft.com/office/drawing/2014/main" id="{A1804CD2-5B01-4857-B407-4A71C3E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Working Memory</a:t>
            </a:r>
          </a:p>
        </p:txBody>
      </p:sp>
      <p:sp>
        <p:nvSpPr>
          <p:cNvPr id="7" name="mem1-body">
            <a:extLst xmlns:a="http://schemas.openxmlformats.org/drawingml/2006/main">
              <a:ext uri="{FF2B5EF4-FFF2-40B4-BE49-F238E27FC236}">
                <a16:creationId xmlns:a16="http://schemas.microsoft.com/office/drawing/2014/main" id="{188E1FC2-BA0F-40A7-A8DC-8E47CE38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保存当前 session 近期对话，用于理解追问和用户偏好。</a:t>
            </a:r>
          </a:p>
        </p:txBody>
      </p:sp>
      <p:sp>
        <p:nvSpPr>
          <p:cNvPr id="8" name="mem2-bg">
            <a:extLst xmlns:a="http://schemas.openxmlformats.org/drawingml/2006/main">
              <a:ext uri="{FF2B5EF4-FFF2-40B4-BE49-F238E27FC236}">
                <a16:creationId xmlns:a16="http://schemas.microsoft.com/office/drawing/2014/main" id="{A474B47E-4CD7-4589-B72F-04AF00D0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38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mem2-accent">
            <a:extLst xmlns:a="http://schemas.openxmlformats.org/drawingml/2006/main">
              <a:ext uri="{FF2B5EF4-FFF2-40B4-BE49-F238E27FC236}">
                <a16:creationId xmlns:a16="http://schemas.microsoft.com/office/drawing/2014/main" id="{7BE93E1D-2BE6-445A-A4CF-FAFD5ED7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0" name="mem2-title">
            <a:extLst xmlns:a="http://schemas.openxmlformats.org/drawingml/2006/main">
              <a:ext uri="{FF2B5EF4-FFF2-40B4-BE49-F238E27FC236}">
                <a16:creationId xmlns:a16="http://schemas.microsoft.com/office/drawing/2014/main" id="{515AFCEA-C077-4BA5-A349-38D2928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2877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Episodic Memory</a:t>
            </a:r>
          </a:p>
        </p:txBody>
      </p:sp>
      <p:sp>
        <p:nvSpPr>
          <p:cNvPr id="11" name="mem2-body">
            <a:extLst xmlns:a="http://schemas.openxmlformats.org/drawingml/2006/main">
              <a:ext uri="{FF2B5EF4-FFF2-40B4-BE49-F238E27FC236}">
                <a16:creationId xmlns:a16="http://schemas.microsoft.com/office/drawing/2014/main" id="{29997950-46EA-4F7C-A768-7B6F1AE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保存历史问答摘要、模式和来源 ID，用于复用问答经验。</a:t>
            </a:r>
          </a:p>
        </p:txBody>
      </p:sp>
      <p:sp>
        <p:nvSpPr>
          <p:cNvPr id="12" name="mem3-bg">
            <a:extLst xmlns:a="http://schemas.openxmlformats.org/drawingml/2006/main">
              <a:ext uri="{FF2B5EF4-FFF2-40B4-BE49-F238E27FC236}">
                <a16:creationId xmlns:a16="http://schemas.microsoft.com/office/drawing/2014/main" id="{CB41821F-C9DE-4DC7-846D-2F2566A6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76375"/>
            <a:ext cx="3238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mem3-accent">
            <a:extLst xmlns:a="http://schemas.openxmlformats.org/drawingml/2006/main">
              <a:ext uri="{FF2B5EF4-FFF2-40B4-BE49-F238E27FC236}">
                <a16:creationId xmlns:a16="http://schemas.microsoft.com/office/drawing/2014/main" id="{2CA68038-A94A-42F3-AE31-A49D70F3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76375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mem3-title">
            <a:extLst xmlns:a="http://schemas.openxmlformats.org/drawingml/2006/main">
              <a:ext uri="{FF2B5EF4-FFF2-40B4-BE49-F238E27FC236}">
                <a16:creationId xmlns:a16="http://schemas.microsoft.com/office/drawing/2014/main" id="{21C841AE-3DCD-46B6-BA7B-CFB27C35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2877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Semantic Memory</a:t>
            </a:r>
          </a:p>
        </p:txBody>
      </p:sp>
      <p:sp>
        <p:nvSpPr>
          <p:cNvPr id="15" name="mem3-body">
            <a:extLst xmlns:a="http://schemas.openxmlformats.org/drawingml/2006/main">
              <a:ext uri="{FF2B5EF4-FFF2-40B4-BE49-F238E27FC236}">
                <a16:creationId xmlns:a16="http://schemas.microsoft.com/office/drawing/2014/main" id="{E7FDDA6E-2A72-4765-8E7B-A396704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28825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抽取实体-关系三元组，用于保存可复用的结构化事实。</a:t>
            </a:r>
          </a:p>
        </p:txBody>
      </p:sp>
      <p:sp>
        <p:nvSpPr>
          <p:cNvPr id="16" name="mems1-bar">
            <a:extLst xmlns:a="http://schemas.openxmlformats.org/drawingml/2006/main">
              <a:ext uri="{FF2B5EF4-FFF2-40B4-BE49-F238E27FC236}">
                <a16:creationId xmlns:a16="http://schemas.microsoft.com/office/drawing/2014/main" id="{7D4D7362-DA84-4CC9-A812-5E699DF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mems1-value">
            <a:extLst xmlns:a="http://schemas.openxmlformats.org/drawingml/2006/main">
              <a:ext uri="{FF2B5EF4-FFF2-40B4-BE49-F238E27FC236}">
                <a16:creationId xmlns:a16="http://schemas.microsoft.com/office/drawing/2014/main" id="{00172B97-8DAF-4E44-94B8-247391D7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290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24</a:t>
            </a:r>
          </a:p>
        </p:txBody>
      </p:sp>
      <p:sp>
        <p:nvSpPr>
          <p:cNvPr id="18" name="mems1-label">
            <a:extLst xmlns:a="http://schemas.openxmlformats.org/drawingml/2006/main">
              <a:ext uri="{FF2B5EF4-FFF2-40B4-BE49-F238E27FC236}">
                <a16:creationId xmlns:a16="http://schemas.microsoft.com/office/drawing/2014/main" id="{B148A9A7-D8F0-4575-BA4E-E2928A50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working records</a:t>
            </a:r>
          </a:p>
        </p:txBody>
      </p:sp>
      <p:sp>
        <p:nvSpPr>
          <p:cNvPr id="19" name="mems2-bar">
            <a:extLst xmlns:a="http://schemas.openxmlformats.org/drawingml/2006/main">
              <a:ext uri="{FF2B5EF4-FFF2-40B4-BE49-F238E27FC236}">
                <a16:creationId xmlns:a16="http://schemas.microsoft.com/office/drawing/2014/main" id="{9D19B9A8-37B4-495D-8317-90153BD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0" name="mems2-value">
            <a:extLst xmlns:a="http://schemas.openxmlformats.org/drawingml/2006/main">
              <a:ext uri="{FF2B5EF4-FFF2-40B4-BE49-F238E27FC236}">
                <a16:creationId xmlns:a16="http://schemas.microsoft.com/office/drawing/2014/main" id="{9FE82893-38F0-4F87-A2C4-E5116D0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290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22</a:t>
            </a:r>
          </a:p>
        </p:txBody>
      </p:sp>
      <p:sp>
        <p:nvSpPr>
          <p:cNvPr id="21" name="mems2-label">
            <a:extLst xmlns:a="http://schemas.openxmlformats.org/drawingml/2006/main">
              <a:ext uri="{FF2B5EF4-FFF2-40B4-BE49-F238E27FC236}">
                <a16:creationId xmlns:a16="http://schemas.microsoft.com/office/drawing/2014/main" id="{FC200F14-728D-46A1-BE9E-3A840636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290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episodic records</a:t>
            </a:r>
          </a:p>
        </p:txBody>
      </p:sp>
      <p:sp>
        <p:nvSpPr>
          <p:cNvPr id="22" name="mems3-bar">
            <a:extLst xmlns:a="http://schemas.openxmlformats.org/drawingml/2006/main">
              <a:ext uri="{FF2B5EF4-FFF2-40B4-BE49-F238E27FC236}">
                <a16:creationId xmlns:a16="http://schemas.microsoft.com/office/drawing/2014/main" id="{3EF6DFC7-40E4-4ACF-8FF6-3768510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3" name="mems3-value">
            <a:extLst xmlns:a="http://schemas.openxmlformats.org/drawingml/2006/main">
              <a:ext uri="{FF2B5EF4-FFF2-40B4-BE49-F238E27FC236}">
                <a16:creationId xmlns:a16="http://schemas.microsoft.com/office/drawing/2014/main" id="{8FE6EE3E-606E-4366-A963-0844527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290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50</a:t>
            </a:r>
          </a:p>
        </p:txBody>
      </p:sp>
      <p:sp>
        <p:nvSpPr>
          <p:cNvPr id="24" name="mems3-label">
            <a:extLst xmlns:a="http://schemas.openxmlformats.org/drawingml/2006/main">
              <a:ext uri="{FF2B5EF4-FFF2-40B4-BE49-F238E27FC236}">
                <a16:creationId xmlns:a16="http://schemas.microsoft.com/office/drawing/2014/main" id="{E9981F07-9FDB-446E-A272-B95F2698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290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semantic triples</a:t>
            </a:r>
          </a:p>
        </p:txBody>
      </p:sp>
      <p:sp>
        <p:nvSpPr>
          <p:cNvPr id="25" name="memory-flow">
            <a:extLst xmlns:a="http://schemas.openxmlformats.org/drawingml/2006/main">
              <a:ext uri="{FF2B5EF4-FFF2-40B4-BE49-F238E27FC236}">
                <a16:creationId xmlns:a16="http://schemas.microsoft.com/office/drawing/2014/main" id="{74D58E85-7E67-4A61-BAA3-B10B0E22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回答前 search_memory() → 拼入 prompt；回答后 record_interaction() → 写回 memory.sqlite3。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3E529541-F57D-48D7-9558-E55B25A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592063-7AE7-43BC-A804-092EB7C6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91079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BAAA482-7567-4AED-8353-9263318B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A0F3F4-5EC3-4733-B990-8BF47F94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UniProt Skill：给蛋白/基因名补充权威条目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AC60A7-8377-49A9-9E69-BD749D3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81C8D8E8-CD76-492E-A32C-FACBEBD8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Skill 是本地函数工具：系统识别蛋白或基因名后调用 UniProt REST API，把别名映射到标准条目。</a:t>
            </a:r>
          </a:p>
        </p:txBody>
      </p:sp>
      <p:graphicFrame>
        <p:nvGraphicFramePr>
          <p:cNvPr id="13" name="skill-table"/>
          <p:cNvGraphicFramePr/>
          <p:nvPr/>
        </p:nvGraphicFramePr>
        <p:xfrm>
          <a:off xmlns:a="http://schemas.openxmlformats.org/drawingml/2006/main" x="876300" y="2095500"/>
          <a:ext xmlns:a="http://schemas.openxmlformats.org/drawingml/2006/main" cx="10287000" cy="2143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输入实体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标准结果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OCT4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Q01860 · POU domain, class 5, transcription factor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细胞重编程语境中的标准蛋白实体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TP53 / P53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P04637 · Cellular tumor antigen p53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处理别名，避免实体混淆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oints">
            <a:extLst xmlns:a="http://schemas.openxmlformats.org/drawingml/2006/main">
              <a:ext uri="{FF2B5EF4-FFF2-40B4-BE49-F238E27FC236}">
                <a16:creationId xmlns:a16="http://schemas.microsoft.com/office/drawing/2014/main" id="{761A3284-8818-4C13-BBB4-379E71A4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F"/>
                </a:solidFill>
              </a:defRPr>
            </a:pPr>
            <a:r>
              <a:rPr sz="1575" b="0">
                <a:solidFill>
                  <a:srgbClr val="52616F"/>
                </a:solidFill>
              </a:rPr>
              <a:t>• UniProt 公开 API 不需要密钥，适合作为生物学问答中的外部工具。</a:t>
            </a:r>
          </a:p>
          <a:p xmlns:a="http://schemas.openxmlformats.org/drawingml/2006/main">
            <a:pPr algn="l">
              <a:defRPr sz="1575" b="0">
                <a:solidFill>
                  <a:srgbClr val="52616F"/>
                </a:solidFill>
              </a:defRPr>
            </a:pPr>
            <a:r>
              <a:rPr sz="1575" b="0">
                <a:solidFill>
                  <a:srgbClr val="52616F"/>
                </a:solidFill>
              </a:rPr>
              <a:t>• 最终协作问答中已经接入 Skill，不只是一个孤立按钮。</a:t>
            </a:r>
          </a:p>
          <a:p xmlns:a="http://schemas.openxmlformats.org/drawingml/2006/main">
            <a:pPr algn="l">
              <a:defRPr sz="1575" b="0">
                <a:solidFill>
                  <a:srgbClr val="52616F"/>
                </a:solidFill>
              </a:defRPr>
            </a:pPr>
            <a:r>
              <a:rPr sz="1575" b="0">
                <a:solidFill>
                  <a:srgbClr val="52616F"/>
                </a:solidFill>
              </a:rPr>
              <a:t>• 当前识别策略保守：别名表 + 正则 + 方法名过滤，避免把 Nicheformer/REMAP 误当蛋白。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30E577D-2EEF-451B-B44E-29EBCCA2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73EBF8-5B8A-462B-9A03-191EA1CC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48722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0471CACD-2E9C-4836-B7BE-7E75266F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DF55EA-C0CD-46F3-8701-FB5E00B2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综合效果：协作式 Agentic Hybrid RAG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351F0A-649F-40EA-A6E9-67046DB7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C66791AC-FCCE-4F74-B657-158C965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flow-1-num">
            <a:extLst xmlns:a="http://schemas.openxmlformats.org/drawingml/2006/main">
              <a:ext uri="{FF2B5EF4-FFF2-40B4-BE49-F238E27FC236}">
                <a16:creationId xmlns:a16="http://schemas.microsoft.com/office/drawing/2014/main" id="{234EFFD3-DA6B-4C67-BBC6-66AB3D64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flow-1-label">
            <a:extLst xmlns:a="http://schemas.openxmlformats.org/drawingml/2006/main">
              <a:ext uri="{FF2B5EF4-FFF2-40B4-BE49-F238E27FC236}">
                <a16:creationId xmlns:a16="http://schemas.microsoft.com/office/drawing/2014/main" id="{BE6D006D-1577-431A-B75D-BB3391D7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16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读记忆</a:t>
            </a:r>
          </a:p>
        </p:txBody>
      </p:sp>
      <p:sp>
        <p:nvSpPr>
          <p:cNvPr id="7" name="flow-2">
            <a:extLst xmlns:a="http://schemas.openxmlformats.org/drawingml/2006/main">
              <a:ext uri="{FF2B5EF4-FFF2-40B4-BE49-F238E27FC236}">
                <a16:creationId xmlns:a16="http://schemas.microsoft.com/office/drawing/2014/main" id="{D0DB9987-3EAA-45EB-B55E-082F9E31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8" name="flow-2-num">
            <a:extLst xmlns:a="http://schemas.openxmlformats.org/drawingml/2006/main">
              <a:ext uri="{FF2B5EF4-FFF2-40B4-BE49-F238E27FC236}">
                <a16:creationId xmlns:a16="http://schemas.microsoft.com/office/drawing/2014/main" id="{48CC3D17-5D84-4756-9CA1-6CF02CA8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E"/>
                </a:solidFill>
              </a:defRPr>
            </a:pPr>
            <a:r>
              <a:rPr sz="1650" b="1">
                <a:solidFill>
                  <a:srgbClr val="0F9F6E"/>
                </a:solidFill>
              </a:rPr>
              <a:t>2</a:t>
            </a:r>
          </a:p>
        </p:txBody>
      </p:sp>
      <p:sp>
        <p:nvSpPr>
          <p:cNvPr id="9" name="flow-2-label">
            <a:extLst xmlns:a="http://schemas.openxmlformats.org/drawingml/2006/main">
              <a:ext uri="{FF2B5EF4-FFF2-40B4-BE49-F238E27FC236}">
                <a16:creationId xmlns:a16="http://schemas.microsoft.com/office/drawing/2014/main" id="{5C7D593F-BAF7-4984-B4C4-B389213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716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规划检索</a:t>
            </a:r>
          </a:p>
        </p:txBody>
      </p:sp>
      <p:sp>
        <p:nvSpPr>
          <p:cNvPr id="10" name="flow-3">
            <a:extLst xmlns:a="http://schemas.openxmlformats.org/drawingml/2006/main">
              <a:ext uri="{FF2B5EF4-FFF2-40B4-BE49-F238E27FC236}">
                <a16:creationId xmlns:a16="http://schemas.microsoft.com/office/drawing/2014/main" id="{942DD1B0-D63C-403F-9F11-7D015136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flow-3-num">
            <a:extLst xmlns:a="http://schemas.openxmlformats.org/drawingml/2006/main">
              <a:ext uri="{FF2B5EF4-FFF2-40B4-BE49-F238E27FC236}">
                <a16:creationId xmlns:a16="http://schemas.microsoft.com/office/drawing/2014/main" id="{3BE7225C-BE82-4DF7-AD1A-BB81648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3</a:t>
            </a:r>
          </a:p>
        </p:txBody>
      </p:sp>
      <p:sp>
        <p:nvSpPr>
          <p:cNvPr id="12" name="flow-3-label">
            <a:extLst xmlns:a="http://schemas.openxmlformats.org/drawingml/2006/main">
              <a:ext uri="{FF2B5EF4-FFF2-40B4-BE49-F238E27FC236}">
                <a16:creationId xmlns:a16="http://schemas.microsoft.com/office/drawing/2014/main" id="{1DEF7292-B400-4171-9A08-64C6744C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716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结构化过滤</a:t>
            </a:r>
          </a:p>
        </p:txBody>
      </p:sp>
      <p:sp>
        <p:nvSpPr>
          <p:cNvPr id="13" name="flow-4">
            <a:extLst xmlns:a="http://schemas.openxmlformats.org/drawingml/2006/main">
              <a:ext uri="{FF2B5EF4-FFF2-40B4-BE49-F238E27FC236}">
                <a16:creationId xmlns:a16="http://schemas.microsoft.com/office/drawing/2014/main" id="{56136B18-38E8-46EE-84F4-BE862C9C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flow-4-num">
            <a:extLst xmlns:a="http://schemas.openxmlformats.org/drawingml/2006/main">
              <a:ext uri="{FF2B5EF4-FFF2-40B4-BE49-F238E27FC236}">
                <a16:creationId xmlns:a16="http://schemas.microsoft.com/office/drawing/2014/main" id="{B7ED00A8-44E7-4746-8CB3-2EC04625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5" name="flow-4-label">
            <a:extLst xmlns:a="http://schemas.openxmlformats.org/drawingml/2006/main">
              <a:ext uri="{FF2B5EF4-FFF2-40B4-BE49-F238E27FC236}">
                <a16:creationId xmlns:a16="http://schemas.microsoft.com/office/drawing/2014/main" id="{2AAE0EB1-BACF-4CDE-AB0B-F16FE8A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向量证据</a:t>
            </a:r>
          </a:p>
        </p:txBody>
      </p:sp>
      <p:sp>
        <p:nvSpPr>
          <p:cNvPr id="16" name="flow-5">
            <a:extLst xmlns:a="http://schemas.openxmlformats.org/drawingml/2006/main">
              <a:ext uri="{FF2B5EF4-FFF2-40B4-BE49-F238E27FC236}">
                <a16:creationId xmlns:a16="http://schemas.microsoft.com/office/drawing/2014/main" id="{BD7677D5-C3E8-4DA2-BC44-7956270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7" name="flow-5-num">
            <a:extLst xmlns:a="http://schemas.openxmlformats.org/drawingml/2006/main">
              <a:ext uri="{FF2B5EF4-FFF2-40B4-BE49-F238E27FC236}">
                <a16:creationId xmlns:a16="http://schemas.microsoft.com/office/drawing/2014/main" id="{0BC06186-E818-4119-A4DA-63BDE75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5</a:t>
            </a:r>
          </a:p>
        </p:txBody>
      </p:sp>
      <p:sp>
        <p:nvSpPr>
          <p:cNvPr id="18" name="flow-5-label">
            <a:extLst xmlns:a="http://schemas.openxmlformats.org/drawingml/2006/main">
              <a:ext uri="{FF2B5EF4-FFF2-40B4-BE49-F238E27FC236}">
                <a16:creationId xmlns:a16="http://schemas.microsoft.com/office/drawing/2014/main" id="{65B51F29-DC16-450B-AC70-171A21D8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Skill 注释</a:t>
            </a:r>
          </a:p>
        </p:txBody>
      </p:sp>
      <p:sp>
        <p:nvSpPr>
          <p:cNvPr id="19" name="flow-6">
            <a:extLst xmlns:a="http://schemas.openxmlformats.org/drawingml/2006/main">
              <a:ext uri="{FF2B5EF4-FFF2-40B4-BE49-F238E27FC236}">
                <a16:creationId xmlns:a16="http://schemas.microsoft.com/office/drawing/2014/main" id="{74925C48-270D-422C-80F9-34F3DB9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192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0" name="flow-6-num">
            <a:extLst xmlns:a="http://schemas.openxmlformats.org/drawingml/2006/main">
              <a:ext uri="{FF2B5EF4-FFF2-40B4-BE49-F238E27FC236}">
                <a16:creationId xmlns:a16="http://schemas.microsoft.com/office/drawing/2014/main" id="{30876161-6465-4AE1-80C3-E21CAD7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E"/>
                </a:solidFill>
              </a:defRPr>
            </a:pPr>
            <a:r>
              <a:rPr sz="1650" b="1">
                <a:solidFill>
                  <a:srgbClr val="0F9F6E"/>
                </a:solidFill>
              </a:rPr>
              <a:t>6</a:t>
            </a:r>
          </a:p>
        </p:txBody>
      </p:sp>
      <p:sp>
        <p:nvSpPr>
          <p:cNvPr id="21" name="flow-6-label">
            <a:extLst xmlns:a="http://schemas.openxmlformats.org/drawingml/2006/main">
              <a:ext uri="{FF2B5EF4-FFF2-40B4-BE49-F238E27FC236}">
                <a16:creationId xmlns:a16="http://schemas.microsoft.com/office/drawing/2014/main" id="{2E4A5842-823C-44DE-B47E-09B2580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716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生成并写回</a:t>
            </a:r>
          </a:p>
        </p:txBody>
      </p:sp>
      <p:sp>
        <p:nvSpPr>
          <p:cNvPr id="22" name="result">
            <a:extLst xmlns:a="http://schemas.openxmlformats.org/drawingml/2006/main">
              <a:ext uri="{FF2B5EF4-FFF2-40B4-BE49-F238E27FC236}">
                <a16:creationId xmlns:a16="http://schemas.microsoft.com/office/drawing/2014/main" id="{90A4B82E-5BD6-44C6-92CB-22CC1AC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最终模式不是多个按钮的堆叠，而是一条统一链路：记忆、规划、结构化过滤、向量证据和 UniProt 工具共同参与回答。</a:t>
            </a:r>
          </a:p>
        </p:txBody>
      </p:sp>
      <p:graphicFrame>
        <p:nvGraphicFramePr>
          <p:cNvPr id="48" name="ablation-table"/>
          <p:cNvGraphicFramePr/>
          <p:nvPr/>
        </p:nvGraphicFramePr>
        <p:xfrm>
          <a:off xmlns:a="http://schemas.openxmlformats.org/drawingml/2006/main" x="914400" y="4095750"/>
          <a:ext xmlns:a="http://schemas.openxmlformats.org/drawingml/2006/main" cx="9906000" cy="1352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4953000"/>
              </a:tblGrid>
              <a:tr h="4508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保留的独立入口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只检索 / 问答 / Agentic / Hybrid / UniProt Skill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作为消融实验基线，证明每个模块的增益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协作问答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最终系统入口，展示所有增强模块如何协同工作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69CC1CC8-15EF-4C6D-A9A6-3976BD60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EFBD6B-F717-43F1-8062-BB875DC6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5801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43BDF3E5-04B7-467E-BC89-07E3172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单细胞与空间组学 RAG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3A0576-9C99-408E-B0CB-70282431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现场演示路线：证明系统真的可用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9292B4-701B-43D7-9F16-000ACABA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demo-title">
            <a:extLst xmlns:a="http://schemas.openxmlformats.org/drawingml/2006/main">
              <a:ext uri="{FF2B5EF4-FFF2-40B4-BE49-F238E27FC236}">
                <a16:creationId xmlns:a16="http://schemas.microsoft.com/office/drawing/2014/main" id="{E0FD3554-DCF6-4CA4-AA56-0F9B26A2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建议演示顺序</a:t>
            </a:r>
          </a:p>
        </p:txBody>
      </p:sp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07C747FE-FB62-45A0-8C2B-921A175F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打开 /health：展示向量库、结构化库、记忆库统计。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运行一题 benchmark：展示检索来源、引用和回答。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运行比较题：展示 Agentic 多步检索 trace。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运行 OCT4 或 TP53：展示 UniProt Skill 返回标准条目。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运行多轮追问：展示记忆系统对上下文的作用。</a:t>
            </a:r>
          </a:p>
        </p:txBody>
      </p:sp>
      <p:sp>
        <p:nvSpPr>
          <p:cNvPr id="6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D5D6BEF5-A656-4170-9EB7-12055B9D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9F6E"/>
                </a:solidFill>
              </a:defRPr>
            </a:pPr>
            <a:r>
              <a:rPr sz="1950" b="1">
                <a:solidFill>
                  <a:srgbClr val="0F9F6E"/>
                </a:solidFill>
              </a:rPr>
              <a:t>核心结论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F86E7241-0AF7-4D60-A357-73DC2C4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资料、索引、评测和问答系统形成闭环。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增强模块都接入最终协作问答。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benchmark 可用于后续迭代和消融。</a:t>
            </a:r>
          </a:p>
        </p:txBody>
      </p:sp>
      <p:sp>
        <p:nvSpPr>
          <p:cNvPr id="8" name="final-bg">
            <a:extLst xmlns:a="http://schemas.openxmlformats.org/drawingml/2006/main">
              <a:ext uri="{FF2B5EF4-FFF2-40B4-BE49-F238E27FC236}">
                <a16:creationId xmlns:a16="http://schemas.microsoft.com/office/drawing/2014/main" id="{45074F42-4B4F-41C8-BAB5-59EE05ED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</p:sp>
      <p:sp>
        <p:nvSpPr>
          <p:cNvPr id="9" name="final">
            <a:extLst xmlns:a="http://schemas.openxmlformats.org/drawingml/2006/main">
              <a:ext uri="{FF2B5EF4-FFF2-40B4-BE49-F238E27FC236}">
                <a16:creationId xmlns:a16="http://schemas.microsoft.com/office/drawing/2014/main" id="{91E538B6-EB2E-4D1A-B94C-A4D08614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一句话：这是一个围绕单细胞与空间组学知识资产构建的、可运行、可追溯、可评测的 RAG Agent。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58BE0FF-AE43-4B2D-97B2-D96B5242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单细胞与空间组学知识问答 Agent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584296-AD7C-40D3-A1C2-A0810ED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9883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2026-06-21T08:04:50.7920000Z</dcterms:created>
  <dcterms:modified xsi:type="dcterms:W3CDTF">2026-06-21T08:04:50.7920000Z</dcterms:modified>
</coreProperties>
</file>