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71" r:id="rId8"/>
    <p:sldId id="260" r:id="rId9"/>
    <p:sldId id="261" r:id="rId10"/>
    <p:sldId id="262" r:id="rId11"/>
    <p:sldId id="263" r:id="rId12"/>
    <p:sldId id="264" r:id="rId13"/>
    <p:sldId id="268" r:id="rId14"/>
    <p:sldId id="269" r:id="rId15"/>
    <p:sldId id="270" r:id="rId16"/>
    <p:sldId id="265" r:id="rId17"/>
    <p:sldId id="266" r:id="rId18"/>
    <p:sldId id="267" r:id="rId1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685800"/>
            <a:ext cx="495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COURSE PROJECT PRESENTATION</a:t>
            </a:r>
            <a:endParaRPr sz="1200" b="1">
              <a:solidFill>
                <a:srgbClr val="FF6B3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638300"/>
            <a:ext cx="7389495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5100" b="1">
                <a:solidFill>
                  <a:srgbClr val="0F172A"/>
                </a:solidFill>
              </a:defRPr>
            </a:pPr>
            <a:r>
              <a:rPr sz="5100" b="1">
                <a:solidFill>
                  <a:srgbClr val="0F172A"/>
                </a:solidFill>
              </a:rPr>
              <a:t>Protein Structure Knowledge QA Agent</a:t>
            </a:r>
            <a:endParaRPr sz="5100" b="1">
              <a:solidFill>
                <a:srgbClr val="0F172A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3543300"/>
            <a:ext cx="2095500" cy="28575"/>
          </a:xfrm>
          <a:prstGeom prst="rect">
            <a:avLst/>
          </a:prstGeom>
          <a:solidFill>
            <a:srgbClr val="FF6B35"/>
          </a:solidFill>
          <a:ln w="0">
            <a:solidFill>
              <a:srgbClr val="FF6B35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4000500"/>
            <a:ext cx="68580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0">
                <a:solidFill>
                  <a:srgbClr val="64748B"/>
                </a:solidFill>
              </a:defRPr>
            </a:pPr>
            <a:r>
              <a:rPr sz="1950" b="0">
                <a:solidFill>
                  <a:srgbClr val="64748B"/>
                </a:solidFill>
              </a:rPr>
              <a:t>An agentic RAG platform for deep learning and life-science research questions.</a:t>
            </a:r>
            <a:endParaRPr sz="1950" b="0">
              <a:solidFill>
                <a:srgbClr val="64748B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382000" y="914400"/>
            <a:ext cx="2895600" cy="4495800"/>
          </a:xfrm>
          <a:prstGeom prst="roundRect">
            <a:avLst>
              <a:gd name="adj" fmla="val 5263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839200" y="1371600"/>
            <a:ext cx="19812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350" b="1">
                <a:solidFill>
                  <a:srgbClr val="0F172A"/>
                </a:solidFill>
              </a:defRPr>
            </a:pPr>
            <a:r>
              <a:rPr sz="4350" b="1">
                <a:solidFill>
                  <a:srgbClr val="0F172A"/>
                </a:solidFill>
              </a:rPr>
              <a:t>41</a:t>
            </a:r>
            <a:endParaRPr sz="4350" b="1">
              <a:solidFill>
                <a:srgbClr val="0F172A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839200" y="2076450"/>
            <a:ext cx="1981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knowledge assets</a:t>
            </a:r>
            <a:endParaRPr sz="1500" b="0">
              <a:solidFill>
                <a:srgbClr val="64748B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839200" y="2876550"/>
            <a:ext cx="19812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350" b="1">
                <a:solidFill>
                  <a:srgbClr val="0F172A"/>
                </a:solidFill>
              </a:defRPr>
            </a:pPr>
            <a:r>
              <a:rPr sz="4350" b="1">
                <a:solidFill>
                  <a:srgbClr val="0F172A"/>
                </a:solidFill>
              </a:rPr>
              <a:t>20</a:t>
            </a:r>
            <a:endParaRPr sz="4350" b="1">
              <a:solidFill>
                <a:srgbClr val="0F172A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839200" y="3581400"/>
            <a:ext cx="1981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benchmark questions</a:t>
            </a:r>
            <a:endParaRPr sz="1500" b="0">
              <a:solidFill>
                <a:srgbClr val="64748B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839200" y="4381500"/>
            <a:ext cx="19812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900" b="1">
                <a:solidFill>
                  <a:srgbClr val="10A37F"/>
                </a:solidFill>
              </a:defRPr>
            </a:pPr>
            <a:r>
              <a:rPr sz="3900" b="1">
                <a:solidFill>
                  <a:srgbClr val="10A37F"/>
                </a:solidFill>
              </a:rPr>
              <a:t>0.985</a:t>
            </a:r>
            <a:endParaRPr sz="3900" b="1">
              <a:solidFill>
                <a:srgbClr val="10A37F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686800" y="5067300"/>
            <a:ext cx="228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average benchmark score</a:t>
            </a:r>
            <a:endParaRPr sz="1350" b="0">
              <a:solidFill>
                <a:srgbClr val="64748B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09600" y="63436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Protein Structure Knowledge QA Agent</a:t>
            </a:r>
            <a:endParaRPr sz="1050" b="0">
              <a:solidFill>
                <a:srgbClr val="64748B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1144250" y="63436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01</a:t>
            </a:r>
            <a:endParaRPr sz="1050" b="0">
              <a:solidFill>
                <a:srgbClr val="64748B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58190" y="4937760"/>
            <a:ext cx="598614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Group 6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Tangmingyang Malongguang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2026/6/29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40005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PROJECT MOTIVATION</a:t>
            </a:r>
            <a:endParaRPr sz="1125" b="1">
              <a:solidFill>
                <a:srgbClr val="FF6B3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76200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0F172A"/>
                </a:solidFill>
              </a:defRPr>
            </a:pPr>
            <a:r>
              <a:rPr sz="3150" b="1">
                <a:solidFill>
                  <a:srgbClr val="0F172A"/>
                </a:solidFill>
              </a:rPr>
              <a:t>Why this agent exists</a:t>
            </a:r>
            <a:endParaRPr sz="3150" b="1">
              <a:solidFill>
                <a:srgbClr val="0F172A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466850"/>
            <a:ext cx="1485900" cy="28575"/>
          </a:xfrm>
          <a:prstGeom prst="rect">
            <a:avLst/>
          </a:prstGeom>
          <a:solidFill>
            <a:srgbClr val="0F172A"/>
          </a:solidFill>
          <a:ln w="0">
            <a:solidFill>
              <a:srgbClr val="0F172A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790700"/>
            <a:ext cx="1028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0">
                <a:solidFill>
                  <a:srgbClr val="0F172A"/>
                </a:solidFill>
              </a:defRPr>
            </a:pPr>
            <a:r>
              <a:rPr sz="1950" b="0">
                <a:solidFill>
                  <a:srgbClr val="0F172A"/>
                </a:solidFill>
              </a:rPr>
              <a:t>A research QA platform for protein-structure learning needs to answer with evidence, not just fluent text.</a:t>
            </a:r>
            <a:endParaRPr sz="1950" b="0">
              <a:solidFill>
                <a:srgbClr val="0F172A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609600" y="2724150"/>
            <a:ext cx="3257550" cy="219075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19150" y="2933700"/>
            <a:ext cx="552450" cy="2857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19150" y="3162300"/>
            <a:ext cx="2838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Course goal</a:t>
            </a:r>
            <a:endParaRPr sz="1800" b="1">
              <a:solidFill>
                <a:srgbClr val="0F172A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19150" y="3657600"/>
            <a:ext cx="28384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Build a Knowledge QA Project for Deep Learning and Life Sciences: assets, benchmark, and optional modules.</a:t>
            </a:r>
            <a:endParaRPr sz="1350" b="0">
              <a:solidFill>
                <a:srgbClr val="64748B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4476750" y="2724150"/>
            <a:ext cx="3257550" cy="219075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686300" y="2933700"/>
            <a:ext cx="552450" cy="28575"/>
          </a:xfrm>
          <a:prstGeom prst="rect">
            <a:avLst/>
          </a:prstGeom>
          <a:solidFill>
            <a:srgbClr val="FF6B35"/>
          </a:solidFill>
          <a:ln w="0">
            <a:solidFill>
              <a:srgbClr val="FF6B35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686300" y="3162300"/>
            <a:ext cx="2838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Research topic</a:t>
            </a:r>
            <a:endParaRPr sz="1800" b="1">
              <a:solidFill>
                <a:srgbClr val="0F172A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686300" y="3657600"/>
            <a:ext cx="28384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Protein structure: experimental PDB entries plus modern deep-learning methods such as AlphaFold, ESMFold, DiffDock, and RFdiffusion.</a:t>
            </a:r>
            <a:endParaRPr sz="1350" b="0">
              <a:solidFill>
                <a:srgbClr val="64748B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8343900" y="2724150"/>
            <a:ext cx="3257550" cy="219075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553450" y="2933700"/>
            <a:ext cx="552450" cy="28575"/>
          </a:xfrm>
          <a:prstGeom prst="rect">
            <a:avLst/>
          </a:prstGeom>
          <a:solidFill>
            <a:srgbClr val="10A37F"/>
          </a:solidFill>
          <a:ln w="0">
            <a:solidFill>
              <a:srgbClr val="10A37F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553450" y="3162300"/>
            <a:ext cx="2838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Design principle</a:t>
            </a:r>
            <a:endParaRPr sz="1800" b="1">
              <a:solidFill>
                <a:srgbClr val="0F172A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553450" y="3657600"/>
            <a:ext cx="28384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Every answer should expose citations, retrieved evidence, validation status, and agent trace for inspection.</a:t>
            </a:r>
            <a:endParaRPr sz="1350" b="0">
              <a:solidFill>
                <a:srgbClr val="64748B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09600" y="63436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Protein Structure Knowledge QA Agent</a:t>
            </a:r>
            <a:endParaRPr sz="1050" b="0">
              <a:solidFill>
                <a:srgbClr val="64748B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1144250" y="63436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02</a:t>
            </a:r>
            <a:endParaRPr sz="1050" b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40005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DATA LAYER</a:t>
            </a:r>
            <a:endParaRPr sz="1125" b="1">
              <a:solidFill>
                <a:srgbClr val="FF6B3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76200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0F172A"/>
                </a:solidFill>
              </a:defRPr>
            </a:pPr>
            <a:r>
              <a:rPr sz="3150" b="1">
                <a:solidFill>
                  <a:srgbClr val="0F172A"/>
                </a:solidFill>
              </a:rPr>
              <a:t>Knowledge assets</a:t>
            </a:r>
            <a:endParaRPr sz="3150" b="1">
              <a:solidFill>
                <a:srgbClr val="0F172A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466850"/>
            <a:ext cx="1485900" cy="28575"/>
          </a:xfrm>
          <a:prstGeom prst="rect">
            <a:avLst/>
          </a:prstGeom>
          <a:solidFill>
            <a:srgbClr val="0F172A"/>
          </a:solidFill>
          <a:ln w="0">
            <a:solidFill>
              <a:srgbClr val="0F172A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66750" y="1905000"/>
            <a:ext cx="2286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750" b="1">
                <a:solidFill>
                  <a:srgbClr val="0F172A"/>
                </a:solidFill>
              </a:defRPr>
            </a:pPr>
            <a:r>
              <a:rPr sz="3750" b="1">
                <a:solidFill>
                  <a:srgbClr val="0F172A"/>
                </a:solidFill>
              </a:rPr>
              <a:t>41</a:t>
            </a:r>
            <a:endParaRPr sz="3750" b="1">
              <a:solidFill>
                <a:srgbClr val="0F172A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66750" y="2533650"/>
            <a:ext cx="228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complete knowledge sets</a:t>
            </a:r>
            <a:endParaRPr sz="1350" b="0">
              <a:solidFill>
                <a:srgbClr val="64748B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3352800" y="1905000"/>
            <a:ext cx="2286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750" b="1">
                <a:solidFill>
                  <a:srgbClr val="2563EB"/>
                </a:solidFill>
              </a:defRPr>
            </a:pPr>
            <a:r>
              <a:rPr sz="3750" b="1">
                <a:solidFill>
                  <a:srgbClr val="2563EB"/>
                </a:solidFill>
              </a:rPr>
              <a:t>17</a:t>
            </a:r>
            <a:endParaRPr sz="3750" b="1">
              <a:solidFill>
                <a:srgbClr val="2563EB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3352800" y="2533650"/>
            <a:ext cx="228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academic papers</a:t>
            </a:r>
            <a:endParaRPr sz="1350" b="0">
              <a:solidFill>
                <a:srgbClr val="64748B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38850" y="1905000"/>
            <a:ext cx="2286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750" b="1">
                <a:solidFill>
                  <a:srgbClr val="10A37F"/>
                </a:solidFill>
              </a:defRPr>
            </a:pPr>
            <a:r>
              <a:rPr sz="3750" b="1">
                <a:solidFill>
                  <a:srgbClr val="10A37F"/>
                </a:solidFill>
              </a:rPr>
              <a:t>20</a:t>
            </a:r>
            <a:endParaRPr sz="3750" b="1">
              <a:solidFill>
                <a:srgbClr val="10A37F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038850" y="2533650"/>
            <a:ext cx="228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PDB knowledge entries</a:t>
            </a:r>
            <a:endParaRPr sz="1350" b="0">
              <a:solidFill>
                <a:srgbClr val="64748B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724900" y="1905000"/>
            <a:ext cx="2286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750" b="1">
                <a:solidFill>
                  <a:srgbClr val="FF6B35"/>
                </a:solidFill>
              </a:defRPr>
            </a:pPr>
            <a:r>
              <a:rPr sz="3750" b="1">
                <a:solidFill>
                  <a:srgbClr val="FF6B35"/>
                </a:solidFill>
              </a:rPr>
              <a:t>4</a:t>
            </a:r>
            <a:endParaRPr sz="3750" b="1">
              <a:solidFill>
                <a:srgbClr val="FF6B35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724900" y="2533650"/>
            <a:ext cx="228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textbook, course, encyclopedia assets</a:t>
            </a:r>
            <a:endParaRPr sz="1350" b="0">
              <a:solidFill>
                <a:srgbClr val="64748B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876300" y="3905250"/>
            <a:ext cx="10439400" cy="1200150"/>
          </a:xfrm>
          <a:prstGeom prst="roundRect">
            <a:avLst>
              <a:gd name="adj" fmla="val 9524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162050" y="4171950"/>
            <a:ext cx="98679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Each asset is normalized into summary.md, keywords.json, and source.json; PDB assets also store local entry.json snapshots for offline fallback.</a:t>
            </a:r>
            <a:endParaRPr sz="1800" b="0">
              <a:solidFill>
                <a:srgbClr val="0F172A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162050" y="4800600"/>
            <a:ext cx="9867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This gives the retriever a stable local evidence layer while preserving source IDs for citations.</a:t>
            </a:r>
            <a:endParaRPr sz="1350" b="0">
              <a:solidFill>
                <a:srgbClr val="64748B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09600" y="63436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Protein Structure Knowledge QA Agent</a:t>
            </a:r>
            <a:endParaRPr sz="1050" b="0">
              <a:solidFill>
                <a:srgbClr val="64748B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1144250" y="63436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03</a:t>
            </a:r>
            <a:endParaRPr sz="1050" b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40005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FIVE-AGENT ORCHESTRATION</a:t>
            </a:r>
            <a:endParaRPr sz="1125" b="1">
              <a:solidFill>
                <a:srgbClr val="FF6B3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76200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0F172A"/>
                </a:solidFill>
              </a:defRPr>
            </a:pPr>
            <a:r>
              <a:rPr sz="3150" b="1">
                <a:solidFill>
                  <a:srgbClr val="0F172A"/>
                </a:solidFill>
              </a:rPr>
              <a:t>System architecture</a:t>
            </a:r>
            <a:endParaRPr sz="3150" b="1">
              <a:solidFill>
                <a:srgbClr val="0F172A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466850"/>
            <a:ext cx="1485900" cy="28575"/>
          </a:xfrm>
          <a:prstGeom prst="rect">
            <a:avLst/>
          </a:prstGeom>
          <a:solidFill>
            <a:srgbClr val="0F172A"/>
          </a:solidFill>
          <a:ln w="0">
            <a:solidFill>
              <a:srgbClr val="0F172A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685800" y="2476500"/>
            <a:ext cx="1600200" cy="1028700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57250" y="2724150"/>
            <a:ext cx="1257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Question</a:t>
            </a:r>
            <a:endParaRPr sz="1725" b="1">
              <a:solidFill>
                <a:srgbClr val="0F172A"/>
              </a:solidFill>
            </a:endParaRPr>
          </a:p>
          <a:p>
            <a:pPr algn="ctr"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Analyzer</a:t>
            </a:r>
            <a:endParaRPr sz="1725" b="1">
              <a:solidFill>
                <a:srgbClr val="0F172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409825" y="2809875"/>
            <a:ext cx="419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64748B"/>
                </a:solidFill>
              </a:defRPr>
            </a:pPr>
            <a:r>
              <a:rPr sz="2100" b="1">
                <a:solidFill>
                  <a:srgbClr val="64748B"/>
                </a:solidFill>
              </a:rPr>
              <a:t>-&gt;</a:t>
            </a:r>
            <a:endParaRPr sz="2100" b="1">
              <a:solidFill>
                <a:srgbClr val="64748B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2933700" y="2476500"/>
            <a:ext cx="1600200" cy="1028700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3105150" y="2724150"/>
            <a:ext cx="1257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Retrieval</a:t>
            </a:r>
            <a:endParaRPr sz="1725" b="1">
              <a:solidFill>
                <a:srgbClr val="0F172A"/>
              </a:solidFill>
            </a:endParaRPr>
          </a:p>
          <a:p>
            <a:pPr algn="ctr"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Planner</a:t>
            </a:r>
            <a:endParaRPr sz="1725" b="1">
              <a:solidFill>
                <a:srgbClr val="0F172A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657725" y="2809875"/>
            <a:ext cx="419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64748B"/>
                </a:solidFill>
              </a:defRPr>
            </a:pPr>
            <a:r>
              <a:rPr sz="2100" b="1">
                <a:solidFill>
                  <a:srgbClr val="64748B"/>
                </a:solidFill>
              </a:rPr>
              <a:t>-&gt;</a:t>
            </a:r>
            <a:endParaRPr sz="2100" b="1">
              <a:solidFill>
                <a:srgbClr val="64748B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5181600" y="2476500"/>
            <a:ext cx="1600200" cy="1028700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5353050" y="2724150"/>
            <a:ext cx="1257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Knowledge</a:t>
            </a:r>
            <a:endParaRPr sz="1725" b="1">
              <a:solidFill>
                <a:srgbClr val="0F172A"/>
              </a:solidFill>
            </a:endParaRPr>
          </a:p>
          <a:p>
            <a:pPr algn="ctr"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Retriever</a:t>
            </a:r>
            <a:endParaRPr sz="1725" b="1">
              <a:solidFill>
                <a:srgbClr val="0F172A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905625" y="2809875"/>
            <a:ext cx="419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64748B"/>
                </a:solidFill>
              </a:defRPr>
            </a:pPr>
            <a:r>
              <a:rPr sz="2100" b="1">
                <a:solidFill>
                  <a:srgbClr val="64748B"/>
                </a:solidFill>
              </a:rPr>
              <a:t>-&gt;</a:t>
            </a:r>
            <a:endParaRPr sz="2100" b="1">
              <a:solidFill>
                <a:srgbClr val="64748B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7429500" y="2476500"/>
            <a:ext cx="1600200" cy="1028700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600950" y="2724150"/>
            <a:ext cx="1257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Answer</a:t>
            </a:r>
            <a:endParaRPr sz="1725" b="1">
              <a:solidFill>
                <a:srgbClr val="0F172A"/>
              </a:solidFill>
            </a:endParaRPr>
          </a:p>
          <a:p>
            <a:pPr algn="ctr"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Generator</a:t>
            </a:r>
            <a:endParaRPr sz="1725" b="1">
              <a:solidFill>
                <a:srgbClr val="0F172A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9153525" y="2809875"/>
            <a:ext cx="419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64748B"/>
                </a:solidFill>
              </a:defRPr>
            </a:pPr>
            <a:r>
              <a:rPr sz="2100" b="1">
                <a:solidFill>
                  <a:srgbClr val="64748B"/>
                </a:solidFill>
              </a:rPr>
              <a:t>-&gt;</a:t>
            </a:r>
            <a:endParaRPr sz="2100" b="1">
              <a:solidFill>
                <a:srgbClr val="64748B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9677400" y="2476500"/>
            <a:ext cx="1600200" cy="1028700"/>
          </a:xfrm>
          <a:prstGeom prst="roundRect">
            <a:avLst>
              <a:gd name="adj" fmla="val 11111"/>
            </a:avLst>
          </a:prstGeom>
          <a:solidFill>
            <a:srgbClr val="ECFDF5"/>
          </a:solidFill>
          <a:ln w="9525">
            <a:solidFill>
              <a:srgbClr val="10A37F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9848850" y="2724150"/>
            <a:ext cx="1257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Evidence</a:t>
            </a:r>
            <a:endParaRPr sz="1725" b="1">
              <a:solidFill>
                <a:srgbClr val="0F172A"/>
              </a:solidFill>
            </a:endParaRPr>
          </a:p>
          <a:p>
            <a:pPr algn="ctr"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Validator</a:t>
            </a:r>
            <a:endParaRPr sz="1725" b="1">
              <a:solidFill>
                <a:srgbClr val="0F172A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600200" y="4095750"/>
            <a:ext cx="8991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0">
                <a:solidFill>
                  <a:srgbClr val="0F172A"/>
                </a:solidFill>
              </a:defRPr>
            </a:pPr>
            <a:r>
              <a:rPr sz="1875" b="0">
                <a:solidFill>
                  <a:srgbClr val="0F172A"/>
                </a:solidFill>
              </a:rPr>
              <a:t>Validation can loop back to the planner for one additional retrieval round when coverage or citations are insufficient.</a:t>
            </a:r>
            <a:endParaRPr sz="1875" b="0">
              <a:solidFill>
                <a:srgbClr val="0F172A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2019300" y="4819650"/>
            <a:ext cx="815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Workflow mode: sequential-with-validation-loop; max retrieval rounds: 2.</a:t>
            </a:r>
            <a:endParaRPr sz="1425" b="0">
              <a:solidFill>
                <a:srgbClr val="64748B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09600" y="63436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Protein Structure Knowledge QA Agent</a:t>
            </a:r>
            <a:endParaRPr sz="1050" b="0">
              <a:solidFill>
                <a:srgbClr val="64748B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1144250" y="63436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04</a:t>
            </a:r>
            <a:endParaRPr sz="1050" b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40005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6B35"/>
                </a:solidFill>
              </a:defRPr>
            </a:pPr>
            <a:r>
              <a:rPr lang="en-US" altLang="zh-CN" sz="1125" b="1">
                <a:solidFill>
                  <a:srgbClr val="FF6B35"/>
                </a:solidFill>
              </a:rPr>
              <a:t>Agent Trace Panel</a:t>
            </a:r>
            <a:endParaRPr lang="en-US" altLang="zh-CN" sz="1125" b="1">
              <a:solidFill>
                <a:srgbClr val="FF6B3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76200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0F172A"/>
                </a:solidFill>
              </a:defRPr>
            </a:pPr>
            <a:r>
              <a:rPr lang="en-US" altLang="zh-CN" sz="3150" b="1">
                <a:solidFill>
                  <a:srgbClr val="0F172A"/>
                </a:solidFill>
              </a:rPr>
              <a:t>Frontend: Agent Trace for Debugging</a:t>
            </a:r>
            <a:endParaRPr lang="en-US" altLang="zh-CN" sz="3150" b="1">
              <a:solidFill>
                <a:srgbClr val="0F172A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466850"/>
            <a:ext cx="1485900" cy="28575"/>
          </a:xfrm>
          <a:prstGeom prst="rect">
            <a:avLst/>
          </a:prstGeom>
          <a:solidFill>
            <a:srgbClr val="0F172A"/>
          </a:solidFill>
          <a:ln w="0">
            <a:solidFill>
              <a:srgbClr val="0F172A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263525" y="1772920"/>
            <a:ext cx="3051810" cy="4234815"/>
          </a:xfrm>
          <a:prstGeom prst="roundRect">
            <a:avLst>
              <a:gd name="adj" fmla="val 350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407670" y="2119630"/>
            <a:ext cx="2774950" cy="29152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64748B"/>
                </a:solidFill>
              </a:defRPr>
            </a:pPr>
            <a:r>
              <a:rPr lang="en-US" altLang="zh-CN" sz="2000" b="0">
                <a:solidFill>
                  <a:srgbClr val="64748B"/>
                </a:solidFill>
              </a:rPr>
              <a:t>The trace view records intermediate agent decisions, including retrieval planning, evidence selection, generated answer metadata, and validation feedback.</a:t>
            </a:r>
            <a:endParaRPr lang="en-US" altLang="zh-CN" sz="2000" b="0">
              <a:solidFill>
                <a:srgbClr val="64748B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09600" y="63436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Protein Structure Knowledge QA Agent</a:t>
            </a:r>
            <a:endParaRPr sz="1050" b="0">
              <a:solidFill>
                <a:srgbClr val="64748B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1144250" y="63436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09</a:t>
            </a:r>
            <a:endParaRPr sz="1050" b="0">
              <a:solidFill>
                <a:srgbClr val="64748B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52265" y="1268730"/>
            <a:ext cx="6800850" cy="10668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2265" y="2411095"/>
            <a:ext cx="6730365" cy="116522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2265" y="3717290"/>
            <a:ext cx="6724015" cy="122110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2265" y="5008245"/>
            <a:ext cx="6948805" cy="117157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815" y="4797425"/>
            <a:ext cx="2266950" cy="10382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40005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AGENT ROLES</a:t>
            </a:r>
            <a:endParaRPr sz="1125" b="1">
              <a:solidFill>
                <a:srgbClr val="FF6B3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76200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0F172A"/>
                </a:solidFill>
              </a:defRPr>
            </a:pPr>
            <a:r>
              <a:rPr sz="3150" b="1">
                <a:solidFill>
                  <a:srgbClr val="0F172A"/>
                </a:solidFill>
              </a:rPr>
              <a:t>What each agent contributes</a:t>
            </a:r>
            <a:endParaRPr sz="3150" b="1">
              <a:solidFill>
                <a:srgbClr val="0F172A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466850"/>
            <a:ext cx="1485900" cy="28575"/>
          </a:xfrm>
          <a:prstGeom prst="rect">
            <a:avLst/>
          </a:prstGeom>
          <a:solidFill>
            <a:srgbClr val="0F172A"/>
          </a:solidFill>
          <a:ln w="0">
            <a:solidFill>
              <a:srgbClr val="0F172A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781050" y="1790700"/>
            <a:ext cx="10629900" cy="552450"/>
          </a:xfrm>
          <a:prstGeom prst="roundRect">
            <a:avLst>
              <a:gd name="adj" fmla="val 10345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1924050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QuestionAnalyzerAgent</a:t>
            </a:r>
            <a:endParaRPr sz="1500" b="1">
              <a:solidFill>
                <a:srgbClr val="0F172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229100" y="1924050"/>
            <a:ext cx="676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Detect retrieval need, PDB IDs, complexity, and display question.</a:t>
            </a:r>
            <a:endParaRPr sz="1425" b="0">
              <a:solidFill>
                <a:srgbClr val="64748B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781050" y="2533650"/>
            <a:ext cx="10629900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028700" y="2667000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RetrievalPlannerAgent</a:t>
            </a:r>
            <a:endParaRPr sz="1500" b="1">
              <a:solidFill>
                <a:srgbClr val="0F172A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229100" y="2667000"/>
            <a:ext cx="676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Convert intent into structured queries, forced evidence IDs, and retry plans.</a:t>
            </a:r>
            <a:endParaRPr sz="1425" b="0">
              <a:solidFill>
                <a:srgbClr val="64748B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781050" y="3276600"/>
            <a:ext cx="10629900" cy="552450"/>
          </a:xfrm>
          <a:prstGeom prst="roundRect">
            <a:avLst>
              <a:gd name="adj" fmla="val 10345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028700" y="3409950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KnowledgeRetrieverAgent</a:t>
            </a:r>
            <a:endParaRPr sz="1500" b="1">
              <a:solidFill>
                <a:srgbClr val="0F172A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229100" y="3409950"/>
            <a:ext cx="676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Search local assets, call or fall back from the PDB skill, deduplicate evidence.</a:t>
            </a:r>
            <a:endParaRPr sz="1425" b="0">
              <a:solidFill>
                <a:srgbClr val="64748B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781050" y="4019550"/>
            <a:ext cx="10629900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028700" y="4152900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AnswerGeneratorAgent</a:t>
            </a:r>
            <a:endParaRPr sz="1500" b="1">
              <a:solidFill>
                <a:srgbClr val="0F172A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229100" y="4152900"/>
            <a:ext cx="676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Use MiMo-V2.5-Pro or deterministic fallback to produce cited answers.</a:t>
            </a:r>
            <a:endParaRPr sz="1425" b="0">
              <a:solidFill>
                <a:srgbClr val="64748B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781050" y="4762500"/>
            <a:ext cx="10629900" cy="552450"/>
          </a:xfrm>
          <a:prstGeom prst="roundRect">
            <a:avLst>
              <a:gd name="adj" fmla="val 10345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028700" y="4895850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0A37F"/>
                </a:solidFill>
              </a:defRPr>
            </a:pPr>
            <a:r>
              <a:rPr sz="1500" b="1">
                <a:solidFill>
                  <a:srgbClr val="10A37F"/>
                </a:solidFill>
              </a:rPr>
              <a:t>EvidenceValidatorAgent</a:t>
            </a:r>
            <a:endParaRPr sz="1500" b="1">
              <a:solidFill>
                <a:srgbClr val="10A37F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4229100" y="4895850"/>
            <a:ext cx="676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Check coverage, citation count, and whether citations are grounded in evidence.</a:t>
            </a:r>
            <a:endParaRPr sz="1425" b="0">
              <a:solidFill>
                <a:srgbClr val="64748B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09600" y="63436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Protein Structure Knowledge QA Agent</a:t>
            </a:r>
            <a:endParaRPr sz="1050" b="0">
              <a:solidFill>
                <a:srgbClr val="64748B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1144250" y="63436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05</a:t>
            </a:r>
            <a:endParaRPr sz="1050" b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40005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RETRIEVAL LOGIC</a:t>
            </a:r>
            <a:endParaRPr sz="1125" b="1">
              <a:solidFill>
                <a:srgbClr val="FF6B3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76200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0F172A"/>
                </a:solidFill>
              </a:defRPr>
            </a:pPr>
            <a:r>
              <a:rPr sz="3150" b="1">
                <a:solidFill>
                  <a:srgbClr val="0F172A"/>
                </a:solidFill>
              </a:rPr>
              <a:t>Agentic RAG, not a one-shot retriever</a:t>
            </a:r>
            <a:endParaRPr sz="3150" b="1">
              <a:solidFill>
                <a:srgbClr val="0F172A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466850"/>
            <a:ext cx="1485900" cy="28575"/>
          </a:xfrm>
          <a:prstGeom prst="rect">
            <a:avLst/>
          </a:prstGeom>
          <a:solidFill>
            <a:srgbClr val="0F172A"/>
          </a:solidFill>
          <a:ln w="0">
            <a:solidFill>
              <a:srgbClr val="0F172A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685800" y="1809750"/>
            <a:ext cx="3162300" cy="2609850"/>
          </a:xfrm>
          <a:prstGeom prst="roundRect">
            <a:avLst>
              <a:gd name="adj" fmla="val 438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95350" y="2019300"/>
            <a:ext cx="552450" cy="2857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95350" y="2247900"/>
            <a:ext cx="2743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1. Analyze</a:t>
            </a:r>
            <a:endParaRPr sz="1800" b="1">
              <a:solidFill>
                <a:srgbClr val="0F172A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95350" y="2743200"/>
            <a:ext cx="2743200" cy="1485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The system first decides whether the question needs grounded retrieval. Explicit entities override stale chat context.</a:t>
            </a:r>
            <a:endParaRPr sz="1350" b="0">
              <a:solidFill>
                <a:srgbClr val="64748B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4514850" y="1809750"/>
            <a:ext cx="3162300" cy="2609850"/>
          </a:xfrm>
          <a:prstGeom prst="roundRect">
            <a:avLst>
              <a:gd name="adj" fmla="val 438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4724400" y="2019300"/>
            <a:ext cx="552450" cy="28575"/>
          </a:xfrm>
          <a:prstGeom prst="rect">
            <a:avLst/>
          </a:prstGeom>
          <a:solidFill>
            <a:srgbClr val="FF6B35"/>
          </a:solidFill>
          <a:ln w="0">
            <a:solidFill>
              <a:srgbClr val="FF6B35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724400" y="2247900"/>
            <a:ext cx="2743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2. Retrieve</a:t>
            </a:r>
            <a:endParaRPr sz="1800" b="1">
              <a:solidFill>
                <a:srgbClr val="0F172A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724400" y="2743200"/>
            <a:ext cx="2743200" cy="1485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Planner creates targeted queries and forced IDs. Retriever filters very low confidence hits and accumulates evidence.</a:t>
            </a:r>
            <a:endParaRPr sz="1350" b="0">
              <a:solidFill>
                <a:srgbClr val="64748B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8343900" y="1809750"/>
            <a:ext cx="3162300" cy="2609850"/>
          </a:xfrm>
          <a:prstGeom prst="roundRect">
            <a:avLst>
              <a:gd name="adj" fmla="val 438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553450" y="2019300"/>
            <a:ext cx="552450" cy="28575"/>
          </a:xfrm>
          <a:prstGeom prst="rect">
            <a:avLst/>
          </a:prstGeom>
          <a:solidFill>
            <a:srgbClr val="10A37F"/>
          </a:solidFill>
          <a:ln w="0">
            <a:solidFill>
              <a:srgbClr val="10A37F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553450" y="2247900"/>
            <a:ext cx="2743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3. Validate</a:t>
            </a:r>
            <a:endParaRPr sz="1800" b="1">
              <a:solidFill>
                <a:srgbClr val="0F172A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553450" y="2743200"/>
            <a:ext cx="2743200" cy="1485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Validator checks citation grounding and coverage. Failed validation triggers one retry with feedback.</a:t>
            </a:r>
            <a:endParaRPr sz="1350" b="0">
              <a:solidFill>
                <a:srgbClr val="64748B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1866900" y="4953000"/>
            <a:ext cx="8458200" cy="742950"/>
          </a:xfrm>
          <a:prstGeom prst="roundRect">
            <a:avLst>
              <a:gd name="adj" fmla="val 15385"/>
            </a:avLst>
          </a:prstGeom>
          <a:solidFill>
            <a:srgbClr val="FFF7ED"/>
          </a:solidFill>
          <a:ln w="9525">
            <a:solidFill>
              <a:srgbClr val="FDBA74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2190750" y="5105400"/>
            <a:ext cx="7810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Recent fix: citations are normalized after generation, so displayed citations must come from retrieved evidence.</a:t>
            </a:r>
            <a:endParaRPr sz="1650" b="1">
              <a:solidFill>
                <a:srgbClr val="0F172A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09600" y="63436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Protein Structure Knowledge QA Agent</a:t>
            </a:r>
            <a:endParaRPr sz="1050" b="0">
              <a:solidFill>
                <a:srgbClr val="64748B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1144250" y="63436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06</a:t>
            </a:r>
            <a:endParaRPr sz="1050" b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40005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ASSET TAXONOMY</a:t>
            </a:r>
            <a:endParaRPr sz="1125" b="1">
              <a:solidFill>
                <a:srgbClr val="FF6B3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76200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0F172A"/>
                </a:solidFill>
              </a:defRPr>
            </a:pPr>
            <a:r>
              <a:rPr sz="3150" b="1">
                <a:solidFill>
                  <a:srgbClr val="0F172A"/>
                </a:solidFill>
              </a:rPr>
              <a:t>Knowledge organization</a:t>
            </a:r>
            <a:endParaRPr sz="3150" b="1">
              <a:solidFill>
                <a:srgbClr val="0F172A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466850"/>
            <a:ext cx="1485900" cy="28575"/>
          </a:xfrm>
          <a:prstGeom prst="rect">
            <a:avLst/>
          </a:prstGeom>
          <a:solidFill>
            <a:srgbClr val="0F172A"/>
          </a:solidFill>
          <a:ln w="0">
            <a:solidFill>
              <a:srgbClr val="0F172A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76300" y="1885950"/>
            <a:ext cx="228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01-academic</a:t>
            </a:r>
            <a:endParaRPr sz="1650" b="1">
              <a:solidFill>
                <a:srgbClr val="0F172A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3714750" y="1809750"/>
            <a:ext cx="95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>
                <a:solidFill>
                  <a:srgbClr val="FF6B35"/>
                </a:solidFill>
              </a:defRPr>
            </a:pPr>
            <a:r>
              <a:rPr sz="2550" b="1">
                <a:solidFill>
                  <a:srgbClr val="FF6B35"/>
                </a:solidFill>
              </a:rPr>
              <a:t>17</a:t>
            </a:r>
            <a:endParaRPr sz="2550" b="1">
              <a:solidFill>
                <a:srgbClr val="FF6B35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219700" y="1885950"/>
            <a:ext cx="571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64748B"/>
                </a:solidFill>
              </a:defRPr>
            </a:pPr>
            <a:r>
              <a:rPr sz="1575" b="0">
                <a:solidFill>
                  <a:srgbClr val="64748B"/>
                </a:solidFill>
              </a:rPr>
              <a:t>Deep-learning methods and review papers</a:t>
            </a:r>
            <a:endParaRPr sz="1575" b="0">
              <a:solidFill>
                <a:srgbClr val="64748B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76300" y="2305050"/>
            <a:ext cx="10363200" cy="2857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76300" y="2571750"/>
            <a:ext cx="228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02-textbook</a:t>
            </a:r>
            <a:endParaRPr sz="1650" b="1">
              <a:solidFill>
                <a:srgbClr val="0F172A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714750" y="2495550"/>
            <a:ext cx="95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>
                <a:solidFill>
                  <a:srgbClr val="FF6B35"/>
                </a:solidFill>
              </a:defRPr>
            </a:pPr>
            <a:r>
              <a:rPr sz="2550" b="1">
                <a:solidFill>
                  <a:srgbClr val="FF6B35"/>
                </a:solidFill>
              </a:rPr>
              <a:t>2</a:t>
            </a:r>
            <a:endParaRPr sz="2550" b="1">
              <a:solidFill>
                <a:srgbClr val="FF6B35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219700" y="2571750"/>
            <a:ext cx="571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64748B"/>
                </a:solidFill>
              </a:defRPr>
            </a:pPr>
            <a:r>
              <a:rPr sz="1575" b="0">
                <a:solidFill>
                  <a:srgbClr val="64748B"/>
                </a:solidFill>
              </a:rPr>
              <a:t>Protein folding and structural biology background</a:t>
            </a:r>
            <a:endParaRPr sz="1575" b="0">
              <a:solidFill>
                <a:srgbClr val="64748B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76300" y="2990850"/>
            <a:ext cx="10363200" cy="2857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876300" y="3257550"/>
            <a:ext cx="228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03-course</a:t>
            </a:r>
            <a:endParaRPr sz="1650" b="1">
              <a:solidFill>
                <a:srgbClr val="0F172A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714750" y="3181350"/>
            <a:ext cx="95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>
                <a:solidFill>
                  <a:srgbClr val="FF6B35"/>
                </a:solidFill>
              </a:defRPr>
            </a:pPr>
            <a:r>
              <a:rPr sz="2550" b="1">
                <a:solidFill>
                  <a:srgbClr val="FF6B35"/>
                </a:solidFill>
              </a:rPr>
              <a:t>1</a:t>
            </a:r>
            <a:endParaRPr sz="2550" b="1">
              <a:solidFill>
                <a:srgbClr val="FF6B35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219700" y="3257550"/>
            <a:ext cx="571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64748B"/>
                </a:solidFill>
              </a:defRPr>
            </a:pPr>
            <a:r>
              <a:rPr sz="1575" b="0">
                <a:solidFill>
                  <a:srgbClr val="64748B"/>
                </a:solidFill>
              </a:rPr>
              <a:t>Open course material</a:t>
            </a:r>
            <a:endParaRPr sz="1575" b="0">
              <a:solidFill>
                <a:srgbClr val="64748B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76300" y="3676650"/>
            <a:ext cx="10363200" cy="2857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76300" y="3943350"/>
            <a:ext cx="228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04-encyclopedia</a:t>
            </a:r>
            <a:endParaRPr sz="1650" b="1">
              <a:solidFill>
                <a:srgbClr val="0F172A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714750" y="3867150"/>
            <a:ext cx="95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>
                <a:solidFill>
                  <a:srgbClr val="FF6B35"/>
                </a:solidFill>
              </a:defRPr>
            </a:pPr>
            <a:r>
              <a:rPr sz="2550" b="1">
                <a:solidFill>
                  <a:srgbClr val="FF6B35"/>
                </a:solidFill>
              </a:rPr>
              <a:t>1</a:t>
            </a:r>
            <a:endParaRPr sz="2550" b="1">
              <a:solidFill>
                <a:srgbClr val="FF6B35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219700" y="3943350"/>
            <a:ext cx="571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64748B"/>
                </a:solidFill>
              </a:defRPr>
            </a:pPr>
            <a:r>
              <a:rPr sz="1575" b="0">
                <a:solidFill>
                  <a:srgbClr val="64748B"/>
                </a:solidFill>
              </a:rPr>
              <a:t>Domain overview</a:t>
            </a:r>
            <a:endParaRPr sz="1575" b="0">
              <a:solidFill>
                <a:srgbClr val="64748B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76300" y="4362450"/>
            <a:ext cx="10363200" cy="2857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76300" y="4629150"/>
            <a:ext cx="228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06-knowledge-base</a:t>
            </a:r>
            <a:endParaRPr sz="1650" b="1">
              <a:solidFill>
                <a:srgbClr val="0F172A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3714750" y="4552950"/>
            <a:ext cx="95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>
                <a:solidFill>
                  <a:srgbClr val="10A37F"/>
                </a:solidFill>
              </a:defRPr>
            </a:pPr>
            <a:r>
              <a:rPr sz="2550" b="1">
                <a:solidFill>
                  <a:srgbClr val="10A37F"/>
                </a:solidFill>
              </a:rPr>
              <a:t>20</a:t>
            </a:r>
            <a:endParaRPr sz="2550" b="1">
              <a:solidFill>
                <a:srgbClr val="10A37F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219700" y="4629150"/>
            <a:ext cx="571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64748B"/>
                </a:solidFill>
              </a:defRPr>
            </a:pPr>
            <a:r>
              <a:rPr sz="1575" b="0">
                <a:solidFill>
                  <a:srgbClr val="64748B"/>
                </a:solidFill>
              </a:rPr>
              <a:t>Curated RCSB PDB structures</a:t>
            </a:r>
            <a:endParaRPr sz="1575" b="0">
              <a:solidFill>
                <a:srgbClr val="64748B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76300" y="5048250"/>
            <a:ext cx="10363200" cy="2857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609600" y="63436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Protein Structure Knowledge QA Agent</a:t>
            </a:r>
            <a:endParaRPr sz="1050" b="0">
              <a:solidFill>
                <a:srgbClr val="64748B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1144250" y="63436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07</a:t>
            </a:r>
            <a:endParaRPr sz="1050" b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40005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OPTIONAL MODULES</a:t>
            </a:r>
            <a:endParaRPr sz="1125" b="1">
              <a:solidFill>
                <a:srgbClr val="FF6B3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76200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0F172A"/>
                </a:solidFill>
              </a:defRPr>
            </a:pPr>
            <a:r>
              <a:rPr sz="3150" b="1">
                <a:solidFill>
                  <a:srgbClr val="0F172A"/>
                </a:solidFill>
              </a:rPr>
              <a:t>Skills and model integration</a:t>
            </a:r>
            <a:endParaRPr sz="3150" b="1">
              <a:solidFill>
                <a:srgbClr val="0F172A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466850"/>
            <a:ext cx="1485900" cy="28575"/>
          </a:xfrm>
          <a:prstGeom prst="rect">
            <a:avLst/>
          </a:prstGeom>
          <a:solidFill>
            <a:srgbClr val="0F172A"/>
          </a:solidFill>
          <a:ln w="0">
            <a:solidFill>
              <a:srgbClr val="0F172A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742950" y="1866900"/>
            <a:ext cx="3352800" cy="28575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66800" y="2171700"/>
            <a:ext cx="2705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PDB Skill</a:t>
            </a:r>
            <a:endParaRPr sz="2250" b="1">
              <a:solidFill>
                <a:srgbClr val="0F172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66800" y="2743200"/>
            <a:ext cx="2705100" cy="1485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- search_structures(query, limit)</a:t>
            </a:r>
            <a:endParaRPr sz="1350" b="0">
              <a:solidFill>
                <a:srgbClr val="64748B"/>
              </a:solidFill>
            </a:endParaRPr>
          </a:p>
          <a:p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- get_structure_metadata(pdb_id)</a:t>
            </a:r>
            <a:endParaRPr sz="1350" b="0">
              <a:solidFill>
                <a:srgbClr val="64748B"/>
              </a:solidFill>
            </a:endParaRPr>
          </a:p>
          <a:p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- get_polymer_entities(pdb_id)</a:t>
            </a:r>
            <a:endParaRPr sz="1350" b="0">
              <a:solidFill>
                <a:srgbClr val="64748B"/>
              </a:solidFill>
            </a:endParaRPr>
          </a:p>
          <a:p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- Local entry.json fallback</a:t>
            </a:r>
            <a:endParaRPr sz="1350" b="0">
              <a:solidFill>
                <a:srgbClr val="64748B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4419600" y="1866900"/>
            <a:ext cx="3352800" cy="28575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4743450" y="2171700"/>
            <a:ext cx="2705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MiMo-V2.5-Pro</a:t>
            </a:r>
            <a:endParaRPr sz="2250" b="1">
              <a:solidFill>
                <a:srgbClr val="0F172A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743450" y="2743200"/>
            <a:ext cx="2705100" cy="1485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- Primary LLM for answer synthesis</a:t>
            </a:r>
            <a:endParaRPr sz="1350" b="0">
              <a:solidFill>
                <a:srgbClr val="64748B"/>
              </a:solidFill>
            </a:endParaRPr>
          </a:p>
          <a:p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- OpenAI-compatible chat API</a:t>
            </a:r>
            <a:endParaRPr sz="1350" b="0">
              <a:solidFill>
                <a:srgbClr val="64748B"/>
              </a:solidFill>
            </a:endParaRPr>
          </a:p>
          <a:p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- 4096 default completion budget</a:t>
            </a:r>
            <a:endParaRPr sz="1350" b="0">
              <a:solidFill>
                <a:srgbClr val="64748B"/>
              </a:solidFill>
            </a:endParaRPr>
          </a:p>
          <a:p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- Deterministic fallback when unavailable</a:t>
            </a:r>
            <a:endParaRPr sz="1350" b="0">
              <a:solidFill>
                <a:srgbClr val="64748B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096250" y="1866900"/>
            <a:ext cx="3352800" cy="28575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420100" y="2171700"/>
            <a:ext cx="2705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Difficulty total</a:t>
            </a:r>
            <a:endParaRPr sz="2250" b="1">
              <a:solidFill>
                <a:srgbClr val="0F172A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420100" y="2743200"/>
            <a:ext cx="2705100" cy="1485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- Skills Lv.2: PDB Skill</a:t>
            </a:r>
            <a:endParaRPr sz="1350" b="0">
              <a:solidFill>
                <a:srgbClr val="64748B"/>
              </a:solidFill>
            </a:endParaRPr>
          </a:p>
          <a:p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- Memory Lv.1: Agentic RAG</a:t>
            </a:r>
            <a:endParaRPr sz="1350" b="0">
              <a:solidFill>
                <a:srgbClr val="64748B"/>
              </a:solidFill>
            </a:endParaRPr>
          </a:p>
          <a:p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- Orchestration Lv.1: static workflow</a:t>
            </a:r>
            <a:endParaRPr sz="1350" b="0">
              <a:solidFill>
                <a:srgbClr val="64748B"/>
              </a:solidFill>
            </a:endParaRPr>
          </a:p>
          <a:p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- Total difficulty = 4</a:t>
            </a:r>
            <a:endParaRPr sz="1350" b="0">
              <a:solidFill>
                <a:srgbClr val="64748B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09600" y="63436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Protein Structure Knowledge QA Agent</a:t>
            </a:r>
            <a:endParaRPr sz="1050" b="0">
              <a:solidFill>
                <a:srgbClr val="64748B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1144250" y="63436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08</a:t>
            </a:r>
            <a:endParaRPr sz="1050" b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40005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FRONTEND AND TRACEABILITY</a:t>
            </a:r>
            <a:endParaRPr sz="1125" b="1">
              <a:solidFill>
                <a:srgbClr val="FF6B3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76200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0F172A"/>
                </a:solidFill>
              </a:defRPr>
            </a:pPr>
            <a:r>
              <a:rPr sz="3150" b="1">
                <a:solidFill>
                  <a:srgbClr val="0F172A"/>
                </a:solidFill>
              </a:rPr>
              <a:t>User-facing QA platform</a:t>
            </a:r>
            <a:endParaRPr sz="3150" b="1">
              <a:solidFill>
                <a:srgbClr val="0F172A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466850"/>
            <a:ext cx="1485900" cy="28575"/>
          </a:xfrm>
          <a:prstGeom prst="rect">
            <a:avLst/>
          </a:prstGeom>
          <a:solidFill>
            <a:srgbClr val="0F172A"/>
          </a:solidFill>
          <a:ln w="0">
            <a:solidFill>
              <a:srgbClr val="0F172A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723900" y="1809750"/>
            <a:ext cx="4857750" cy="3257550"/>
          </a:xfrm>
          <a:prstGeom prst="roundRect">
            <a:avLst>
              <a:gd name="adj" fmla="val 350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66800" y="2133600"/>
            <a:ext cx="4095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Chat interface</a:t>
            </a:r>
            <a:endParaRPr sz="2250" b="1">
              <a:solidFill>
                <a:srgbClr val="0F172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66800" y="2705100"/>
            <a:ext cx="39052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- Multi-turn chat history in browser localStorage</a:t>
            </a:r>
            <a:endParaRPr sz="1500" b="0">
              <a:solidFill>
                <a:srgbClr val="64748B"/>
              </a:solidFill>
            </a:endParaRPr>
          </a:p>
          <a:p>
            <a:pPr algn="l"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- Chat list with create and delete actions</a:t>
            </a:r>
            <a:endParaRPr sz="1500" b="0">
              <a:solidFill>
                <a:srgbClr val="64748B"/>
              </a:solidFill>
            </a:endParaRPr>
          </a:p>
          <a:p>
            <a:pPr algn="l"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- Follow-up questions include recent context</a:t>
            </a:r>
            <a:endParaRPr sz="1500" b="0">
              <a:solidFill>
                <a:srgbClr val="64748B"/>
              </a:solidFill>
            </a:endParaRPr>
          </a:p>
          <a:p>
            <a:pPr algn="l"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- MiMo model badge and fallback visibility</a:t>
            </a:r>
            <a:endParaRPr sz="1500" b="0">
              <a:solidFill>
                <a:srgbClr val="64748B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6324600" y="1809750"/>
            <a:ext cx="4857750" cy="3257550"/>
          </a:xfrm>
          <a:prstGeom prst="roundRect">
            <a:avLst>
              <a:gd name="adj" fmla="val 350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667500" y="2133600"/>
            <a:ext cx="4095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Evidence transparency</a:t>
            </a:r>
            <a:endParaRPr sz="2250" b="1">
              <a:solidFill>
                <a:srgbClr val="0F172A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667500" y="2705100"/>
            <a:ext cx="39052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- Inline knowledge_set_id citations</a:t>
            </a:r>
            <a:endParaRPr sz="1500" b="0">
              <a:solidFill>
                <a:srgbClr val="64748B"/>
              </a:solidFill>
            </a:endParaRPr>
          </a:p>
          <a:p>
            <a:pPr algn="l"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- Retrieved evidence panel</a:t>
            </a:r>
            <a:endParaRPr sz="1500" b="0">
              <a:solidFill>
                <a:srgbClr val="64748B"/>
              </a:solidFill>
            </a:endParaRPr>
          </a:p>
          <a:p>
            <a:pPr algn="l"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- Full agent trace per response</a:t>
            </a:r>
            <a:endParaRPr sz="1500" b="0">
              <a:solidFill>
                <a:srgbClr val="64748B"/>
              </a:solidFill>
            </a:endParaRPr>
          </a:p>
          <a:p>
            <a:pPr algn="l"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- Knowledge asset and benchmark browser</a:t>
            </a:r>
            <a:endParaRPr sz="1500" b="0">
              <a:solidFill>
                <a:srgbClr val="64748B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09600" y="63436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Protein Structure Knowledge QA Agent</a:t>
            </a:r>
            <a:endParaRPr sz="1050" b="0">
              <a:solidFill>
                <a:srgbClr val="64748B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1144250" y="63436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09</a:t>
            </a:r>
            <a:endParaRPr sz="1050" b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40005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6B35"/>
                </a:solidFill>
              </a:defRPr>
            </a:pPr>
            <a:r>
              <a:rPr lang="en-US" altLang="zh-CN" sz="1125" b="1">
                <a:solidFill>
                  <a:srgbClr val="FF6B35"/>
                </a:solidFill>
              </a:rPr>
              <a:t>Main Chat interface</a:t>
            </a:r>
            <a:endParaRPr sz="1125" b="1">
              <a:solidFill>
                <a:srgbClr val="FF6B3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76200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0F172A"/>
                </a:solidFill>
              </a:defRPr>
            </a:pPr>
            <a:r>
              <a:rPr lang="en-US" altLang="zh-CN" sz="3150" b="1">
                <a:solidFill>
                  <a:srgbClr val="0F172A"/>
                </a:solidFill>
              </a:rPr>
              <a:t>Frontend: Chat-Based Research QA</a:t>
            </a:r>
            <a:endParaRPr lang="en-US" altLang="zh-CN" sz="3150" b="1">
              <a:solidFill>
                <a:srgbClr val="0F172A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466850"/>
            <a:ext cx="1485900" cy="28575"/>
          </a:xfrm>
          <a:prstGeom prst="rect">
            <a:avLst/>
          </a:prstGeom>
          <a:solidFill>
            <a:srgbClr val="0F172A"/>
          </a:solidFill>
          <a:ln w="0">
            <a:solidFill>
              <a:srgbClr val="0F172A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263525" y="1772920"/>
            <a:ext cx="3051810" cy="3876675"/>
          </a:xfrm>
          <a:prstGeom prst="roundRect">
            <a:avLst>
              <a:gd name="adj" fmla="val 350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479425" y="1988820"/>
            <a:ext cx="2668905" cy="3962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0F172A"/>
                </a:solidFill>
              </a:defRPr>
            </a:pPr>
            <a:r>
              <a:rPr lang="en-US" sz="2250" b="1">
                <a:solidFill>
                  <a:srgbClr val="0F172A"/>
                </a:solidFill>
              </a:rPr>
              <a:t>Main </a:t>
            </a:r>
            <a:r>
              <a:rPr sz="2250" b="1">
                <a:solidFill>
                  <a:srgbClr val="0F172A"/>
                </a:solidFill>
              </a:rPr>
              <a:t>Chat interface</a:t>
            </a:r>
            <a:endParaRPr sz="2250" b="1">
              <a:solidFill>
                <a:srgbClr val="0F172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07670" y="2804160"/>
            <a:ext cx="2774950" cy="22307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64748B"/>
                </a:solidFill>
              </a:defRPr>
            </a:pPr>
            <a:r>
              <a:rPr lang="en-US" altLang="zh-CN" sz="1500" b="0">
                <a:solidFill>
                  <a:srgbClr val="64748B"/>
                </a:solidFill>
              </a:rPr>
              <a:t>The web interface provides a ChatGPT-style workflow for asking protein-structure questions, managing browser-local chat sessions, and submitting follow-up questions with recent context.</a:t>
            </a:r>
            <a:endParaRPr lang="en-US" altLang="zh-CN" sz="1500" b="0">
              <a:solidFill>
                <a:srgbClr val="64748B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09600" y="63436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Protein Structure Knowledge QA Agent</a:t>
            </a:r>
            <a:endParaRPr sz="1050" b="0">
              <a:solidFill>
                <a:srgbClr val="64748B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1144250" y="63436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09</a:t>
            </a:r>
            <a:endParaRPr sz="1050" b="0">
              <a:solidFill>
                <a:srgbClr val="64748B"/>
              </a:solidFill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51630" y="1398270"/>
            <a:ext cx="6695440" cy="486219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40005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6B35"/>
                </a:solidFill>
              </a:defRPr>
            </a:pPr>
            <a:r>
              <a:rPr lang="en-US" altLang="zh-CN" sz="1125" b="1">
                <a:solidFill>
                  <a:srgbClr val="FF6B35"/>
                </a:solidFill>
              </a:rPr>
              <a:t>Answer With Citations</a:t>
            </a:r>
            <a:endParaRPr lang="en-US" altLang="zh-CN" sz="1125" b="1">
              <a:solidFill>
                <a:srgbClr val="FF6B3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76200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0F172A"/>
                </a:solidFill>
              </a:defRPr>
            </a:pPr>
            <a:r>
              <a:rPr lang="en-US" altLang="zh-CN" sz="3150" b="1">
                <a:solidFill>
                  <a:srgbClr val="0F172A"/>
                </a:solidFill>
              </a:rPr>
              <a:t>Frontend: Evidence-Grounded Answers</a:t>
            </a:r>
            <a:endParaRPr lang="en-US" altLang="zh-CN" sz="3150" b="1">
              <a:solidFill>
                <a:srgbClr val="0F172A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466850"/>
            <a:ext cx="1485900" cy="28575"/>
          </a:xfrm>
          <a:prstGeom prst="rect">
            <a:avLst/>
          </a:prstGeom>
          <a:solidFill>
            <a:srgbClr val="0F172A"/>
          </a:solidFill>
          <a:ln w="0">
            <a:solidFill>
              <a:srgbClr val="0F172A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263525" y="1772920"/>
            <a:ext cx="3051810" cy="3876675"/>
          </a:xfrm>
          <a:prstGeom prst="roundRect">
            <a:avLst>
              <a:gd name="adj" fmla="val 350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407670" y="1959610"/>
            <a:ext cx="2774950" cy="33362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64748B"/>
                </a:solidFill>
              </a:defRPr>
            </a:pPr>
            <a:r>
              <a:rPr lang="en-US" altLang="zh-CN" sz="2400" b="0">
                <a:solidFill>
                  <a:srgbClr val="64748B"/>
                </a:solidFill>
              </a:rPr>
              <a:t>Each answer is grounded in retrieved knowledge assets. The system exposes citation IDs so the user can trace claims back to specific PDB entries or papers</a:t>
            </a:r>
            <a:r>
              <a:rPr lang="en-US" altLang="zh-CN" sz="1500" b="0">
                <a:solidFill>
                  <a:srgbClr val="64748B"/>
                </a:solidFill>
              </a:rPr>
              <a:t>.</a:t>
            </a:r>
            <a:endParaRPr lang="en-US" altLang="zh-CN" sz="1500" b="0">
              <a:solidFill>
                <a:srgbClr val="64748B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09600" y="63436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Protein Structure Knowledge QA Agent</a:t>
            </a:r>
            <a:endParaRPr sz="1050" b="0">
              <a:solidFill>
                <a:srgbClr val="64748B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1144250" y="63436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09</a:t>
            </a:r>
            <a:endParaRPr sz="1050" b="0">
              <a:solidFill>
                <a:srgbClr val="64748B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9785" y="1844675"/>
            <a:ext cx="8439150" cy="344233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40005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6B35"/>
                </a:solidFill>
              </a:defRPr>
            </a:pPr>
            <a:r>
              <a:rPr lang="en-US" altLang="zh-CN" sz="1125" b="1">
                <a:solidFill>
                  <a:srgbClr val="FF6B35"/>
                </a:solidFill>
              </a:rPr>
              <a:t>Retrieved Evidence Panel</a:t>
            </a:r>
            <a:endParaRPr lang="en-US" altLang="zh-CN" sz="1125" b="1">
              <a:solidFill>
                <a:srgbClr val="FF6B3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76200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0F172A"/>
                </a:solidFill>
              </a:defRPr>
            </a:pPr>
            <a:r>
              <a:rPr lang="en-US" altLang="zh-CN" sz="3150" b="1">
                <a:solidFill>
                  <a:srgbClr val="0F172A"/>
                </a:solidFill>
              </a:rPr>
              <a:t>Frontend: Inspectable Retrieval Evidence</a:t>
            </a:r>
            <a:endParaRPr lang="en-US" altLang="zh-CN" sz="3150" b="1">
              <a:solidFill>
                <a:srgbClr val="0F172A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466850"/>
            <a:ext cx="1485900" cy="28575"/>
          </a:xfrm>
          <a:prstGeom prst="rect">
            <a:avLst/>
          </a:prstGeom>
          <a:solidFill>
            <a:srgbClr val="0F172A"/>
          </a:solidFill>
          <a:ln w="0">
            <a:solidFill>
              <a:srgbClr val="0F172A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263525" y="1772920"/>
            <a:ext cx="3051810" cy="3876675"/>
          </a:xfrm>
          <a:prstGeom prst="roundRect">
            <a:avLst>
              <a:gd name="adj" fmla="val 350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407670" y="1967230"/>
            <a:ext cx="2774950" cy="30676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64748B"/>
                </a:solidFill>
              </a:defRPr>
            </a:pPr>
            <a:r>
              <a:rPr lang="en-US" altLang="zh-CN" sz="2000" b="0">
                <a:solidFill>
                  <a:srgbClr val="64748B"/>
                </a:solidFill>
              </a:rPr>
              <a:t>The retrieved evidence panel makes the RAG process inspectable by showing which assets were selected, their retrieval scores, source types, and short summaries.</a:t>
            </a:r>
            <a:endParaRPr lang="en-US" altLang="zh-CN" sz="2000" b="0">
              <a:solidFill>
                <a:srgbClr val="64748B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09600" y="63436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Protein Structure Knowledge QA Agent</a:t>
            </a:r>
            <a:endParaRPr sz="1050" b="0">
              <a:solidFill>
                <a:srgbClr val="64748B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1144250" y="63436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09</a:t>
            </a:r>
            <a:endParaRPr sz="1050" b="0">
              <a:solidFill>
                <a:srgbClr val="64748B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9920" y="1340485"/>
            <a:ext cx="6293485" cy="535749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40005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EXPERIMENT SETUP</a:t>
            </a:r>
            <a:endParaRPr sz="1125" b="1">
              <a:solidFill>
                <a:srgbClr val="FF6B3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76200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0F172A"/>
                </a:solidFill>
              </a:defRPr>
            </a:pPr>
            <a:r>
              <a:rPr sz="3150" b="1">
                <a:solidFill>
                  <a:srgbClr val="0F172A"/>
                </a:solidFill>
              </a:rPr>
              <a:t>Benchmark design</a:t>
            </a:r>
            <a:endParaRPr sz="3150" b="1">
              <a:solidFill>
                <a:srgbClr val="0F172A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466850"/>
            <a:ext cx="1485900" cy="28575"/>
          </a:xfrm>
          <a:prstGeom prst="rect">
            <a:avLst/>
          </a:prstGeom>
          <a:solidFill>
            <a:srgbClr val="0F172A"/>
          </a:solidFill>
          <a:ln w="0">
            <a:solidFill>
              <a:srgbClr val="0F172A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175260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0">
                <a:solidFill>
                  <a:srgbClr val="0F172A"/>
                </a:solidFill>
              </a:defRPr>
            </a:pPr>
            <a:r>
              <a:rPr sz="1875" b="0">
                <a:solidFill>
                  <a:srgbClr val="0F172A"/>
                </a:solidFill>
              </a:rPr>
              <a:t>The benchmark contains 20 sourced questions designed to test factual grounding over specific protein structures and functions.</a:t>
            </a:r>
            <a:endParaRPr sz="1875" b="0">
              <a:solidFill>
                <a:srgbClr val="0F172A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76300" y="2724150"/>
            <a:ext cx="3067050" cy="22098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085850" y="2933700"/>
            <a:ext cx="552450" cy="2857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085850" y="3162300"/>
            <a:ext cx="2647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Coverage</a:t>
            </a:r>
            <a:endParaRPr sz="1800" b="1">
              <a:solidFill>
                <a:srgbClr val="0F172A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085850" y="3657600"/>
            <a:ext cx="2647950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PDB entries cover enzymes, oxygen-binding proteins, viral complexes, fluorescent proteins, chaperonins, and structural benchmarks.</a:t>
            </a:r>
            <a:endParaRPr sz="1350" b="0">
              <a:solidFill>
                <a:srgbClr val="64748B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4552950" y="2724150"/>
            <a:ext cx="3067050" cy="22098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762500" y="2933700"/>
            <a:ext cx="552450" cy="28575"/>
          </a:xfrm>
          <a:prstGeom prst="rect">
            <a:avLst/>
          </a:prstGeom>
          <a:solidFill>
            <a:srgbClr val="FF6B35"/>
          </a:solidFill>
          <a:ln w="0">
            <a:solidFill>
              <a:srgbClr val="FF6B35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762500" y="3162300"/>
            <a:ext cx="2647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Scoring</a:t>
            </a:r>
            <a:endParaRPr sz="1800" b="1">
              <a:solidFill>
                <a:srgbClr val="0F172A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762500" y="3657600"/>
            <a:ext cx="2647950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Each question defines expected keypoints. Evaluation checks matched keypoints, citations, and validator status.</a:t>
            </a:r>
            <a:endParaRPr sz="1350" b="0">
              <a:solidFill>
                <a:srgbClr val="64748B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8229600" y="2724150"/>
            <a:ext cx="3067050" cy="22098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439150" y="2933700"/>
            <a:ext cx="552450" cy="28575"/>
          </a:xfrm>
          <a:prstGeom prst="rect">
            <a:avLst/>
          </a:prstGeom>
          <a:solidFill>
            <a:srgbClr val="10A37F"/>
          </a:solidFill>
          <a:ln w="0">
            <a:solidFill>
              <a:srgbClr val="10A37F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439150" y="3162300"/>
            <a:ext cx="2647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Reproducibility</a:t>
            </a:r>
            <a:endParaRPr sz="1800" b="1">
              <a:solidFill>
                <a:srgbClr val="0F172A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439150" y="3657600"/>
            <a:ext cx="2647950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run_evaluation.py disables online LLM calls by default to avoid API cost and produce deterministic results.</a:t>
            </a:r>
            <a:endParaRPr sz="1350" b="0">
              <a:solidFill>
                <a:srgbClr val="64748B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09600" y="63436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Protein Structure Knowledge QA Agent</a:t>
            </a:r>
            <a:endParaRPr sz="1050" b="0">
              <a:solidFill>
                <a:srgbClr val="64748B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1144250" y="63436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10</a:t>
            </a:r>
            <a:endParaRPr sz="1050" b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40005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BENCHMARK OUTCOME</a:t>
            </a:r>
            <a:endParaRPr sz="1125" b="1">
              <a:solidFill>
                <a:srgbClr val="FF6B3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76200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0F172A"/>
                </a:solidFill>
              </a:defRPr>
            </a:pPr>
            <a:r>
              <a:rPr sz="3150" b="1">
                <a:solidFill>
                  <a:srgbClr val="0F172A"/>
                </a:solidFill>
              </a:rPr>
              <a:t>Experimental results</a:t>
            </a:r>
            <a:endParaRPr sz="3150" b="1">
              <a:solidFill>
                <a:srgbClr val="0F172A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466850"/>
            <a:ext cx="1485900" cy="28575"/>
          </a:xfrm>
          <a:prstGeom prst="rect">
            <a:avLst/>
          </a:prstGeom>
          <a:solidFill>
            <a:srgbClr val="0F172A"/>
          </a:solidFill>
          <a:ln w="0">
            <a:solidFill>
              <a:srgbClr val="0F172A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47750" y="1962150"/>
            <a:ext cx="2286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750" b="1">
                <a:solidFill>
                  <a:srgbClr val="0F172A"/>
                </a:solidFill>
              </a:defRPr>
            </a:pPr>
            <a:r>
              <a:rPr sz="3750" b="1">
                <a:solidFill>
                  <a:srgbClr val="0F172A"/>
                </a:solidFill>
              </a:rPr>
              <a:t>20</a:t>
            </a:r>
            <a:endParaRPr sz="3750" b="1">
              <a:solidFill>
                <a:srgbClr val="0F172A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47750" y="2590800"/>
            <a:ext cx="228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benchmark questions</a:t>
            </a:r>
            <a:endParaRPr sz="1350" b="0">
              <a:solidFill>
                <a:srgbClr val="64748B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3695700" y="1962150"/>
            <a:ext cx="2286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750" b="1">
                <a:solidFill>
                  <a:srgbClr val="10A37F"/>
                </a:solidFill>
              </a:defRPr>
            </a:pPr>
            <a:r>
              <a:rPr sz="3750" b="1">
                <a:solidFill>
                  <a:srgbClr val="10A37F"/>
                </a:solidFill>
              </a:rPr>
              <a:t>0.985</a:t>
            </a:r>
            <a:endParaRPr sz="3750" b="1">
              <a:solidFill>
                <a:srgbClr val="10A37F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3695700" y="2590800"/>
            <a:ext cx="228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average score</a:t>
            </a:r>
            <a:endParaRPr sz="1350" b="0">
              <a:solidFill>
                <a:srgbClr val="64748B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343650" y="1962150"/>
            <a:ext cx="2286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750" b="1">
                <a:solidFill>
                  <a:srgbClr val="2563EB"/>
                </a:solidFill>
              </a:defRPr>
            </a:pPr>
            <a:r>
              <a:rPr sz="3750" b="1">
                <a:solidFill>
                  <a:srgbClr val="2563EB"/>
                </a:solidFill>
              </a:rPr>
              <a:t>17/17</a:t>
            </a:r>
            <a:endParaRPr sz="3750" b="1">
              <a:solidFill>
                <a:srgbClr val="2563EB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343650" y="2590800"/>
            <a:ext cx="228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unit tests passing</a:t>
            </a:r>
            <a:endParaRPr sz="1350" b="0">
              <a:solidFill>
                <a:srgbClr val="64748B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991600" y="1962150"/>
            <a:ext cx="2286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750" b="1">
                <a:solidFill>
                  <a:srgbClr val="FF6B35"/>
                </a:solidFill>
              </a:defRPr>
            </a:pPr>
            <a:r>
              <a:rPr sz="3750" b="1">
                <a:solidFill>
                  <a:srgbClr val="FF6B35"/>
                </a:solidFill>
              </a:rPr>
              <a:t>2</a:t>
            </a:r>
            <a:endParaRPr sz="3750" b="1">
              <a:solidFill>
                <a:srgbClr val="FF6B35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991600" y="2590800"/>
            <a:ext cx="228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max retrieval rounds</a:t>
            </a:r>
            <a:endParaRPr sz="1350" b="0">
              <a:solidFill>
                <a:srgbClr val="64748B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1066800" y="4114800"/>
            <a:ext cx="10058400" cy="104775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352550" y="4362450"/>
            <a:ext cx="9486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Most benchmark items pass with grounded citations. The remaining score loss is concentrated in one question where extra evidence was retrieved, but the expected keypoint set was only partially matched.</a:t>
            </a:r>
            <a:endParaRPr sz="1650" b="0">
              <a:solidFill>
                <a:srgbClr val="0F172A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352550" y="4876800"/>
            <a:ext cx="9486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Current result file: results/benchmark_report.json and results/benchmark_report.md.</a:t>
            </a:r>
            <a:endParaRPr sz="1275" b="0">
              <a:solidFill>
                <a:srgbClr val="64748B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09600" y="63436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Protein Structure Knowledge QA Agent</a:t>
            </a:r>
            <a:endParaRPr sz="1050" b="0">
              <a:solidFill>
                <a:srgbClr val="64748B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1144250" y="63436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11</a:t>
            </a:r>
            <a:endParaRPr sz="1050" b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40005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CONCLUSION</a:t>
            </a:r>
            <a:endParaRPr sz="1125" b="1">
              <a:solidFill>
                <a:srgbClr val="FF6B3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76200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0F172A"/>
                </a:solidFill>
              </a:defRPr>
            </a:pPr>
            <a:r>
              <a:rPr sz="3150" b="1">
                <a:solidFill>
                  <a:srgbClr val="0F172A"/>
                </a:solidFill>
              </a:rPr>
              <a:t>Takeaways and demo path</a:t>
            </a:r>
            <a:endParaRPr sz="3150" b="1">
              <a:solidFill>
                <a:srgbClr val="0F172A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466850"/>
            <a:ext cx="1485900" cy="28575"/>
          </a:xfrm>
          <a:prstGeom prst="rect">
            <a:avLst/>
          </a:prstGeom>
          <a:solidFill>
            <a:srgbClr val="0F172A"/>
          </a:solidFill>
          <a:ln w="0">
            <a:solidFill>
              <a:srgbClr val="0F172A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1695450"/>
            <a:ext cx="10287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0">
                <a:solidFill>
                  <a:srgbClr val="0F172A"/>
                </a:solidFill>
              </a:defRPr>
            </a:pPr>
            <a:r>
              <a:rPr sz="1950" b="0">
                <a:solidFill>
                  <a:srgbClr val="0F172A"/>
                </a:solidFill>
              </a:rPr>
              <a:t>The project demonstrates a compact but inspectable research QA agent: curated assets, explicit orchestration, PDB tooling, MiMo generation, citation validation, and benchmark evidence.</a:t>
            </a:r>
            <a:endParaRPr sz="1950" b="0">
              <a:solidFill>
                <a:srgbClr val="0F172A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95350" y="2895600"/>
            <a:ext cx="10363200" cy="1657350"/>
          </a:xfrm>
          <a:prstGeom prst="roundRect">
            <a:avLst>
              <a:gd name="adj" fmla="val 6897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238250" y="320040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Suggested live demo</a:t>
            </a:r>
            <a:endParaRPr sz="2100" b="1">
              <a:solidFill>
                <a:srgbClr val="0F172A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238250" y="3676650"/>
            <a:ext cx="9144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- Ask: Compare myoglobin and hemoglobin in oligomeric state and oxygen-binding role.</a:t>
            </a:r>
            <a:endParaRPr sz="1425" b="0">
              <a:solidFill>
                <a:srgbClr val="64748B"/>
              </a:solidFill>
            </a:endParaRPr>
          </a:p>
          <a:p>
            <a:pPr algn="l"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- Open Retrieved evidence and citations.</a:t>
            </a:r>
            <a:endParaRPr sz="1425" b="0">
              <a:solidFill>
                <a:srgbClr val="64748B"/>
              </a:solidFill>
            </a:endParaRPr>
          </a:p>
          <a:p>
            <a:pPr algn="l"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- Open Agent trace to show analyzer, planner, retriever, generator, and validator.</a:t>
            </a:r>
            <a:endParaRPr sz="1425" b="0">
              <a:solidFill>
                <a:srgbClr val="64748B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257300" y="5105400"/>
            <a:ext cx="9677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10A37F"/>
                </a:solidFill>
              </a:defRPr>
            </a:pPr>
            <a:r>
              <a:rPr sz="2100" b="1">
                <a:solidFill>
                  <a:srgbClr val="10A37F"/>
                </a:solidFill>
              </a:rPr>
              <a:t>Final message: the agent is not only answering; it is making its evidence path inspectable.</a:t>
            </a:r>
            <a:endParaRPr sz="2100" b="1">
              <a:solidFill>
                <a:srgbClr val="10A37F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09600" y="63436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Protein Structure Knowledge QA Agent</a:t>
            </a:r>
            <a:endParaRPr sz="1050" b="0">
              <a:solidFill>
                <a:srgbClr val="64748B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1144250" y="63436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12</a:t>
            </a:r>
            <a:endParaRPr sz="1050" b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6594</Words>
  <Application>WPS 演示</Application>
  <PresentationFormat>Converted Presentation</PresentationFormat>
  <Paragraphs>360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Arial</vt:lpstr>
      <vt:lpstr>宋体</vt:lpstr>
      <vt:lpstr>Wingdings</vt:lpstr>
      <vt:lpstr>Calibri</vt:lpstr>
      <vt:lpstr>微软雅黑</vt:lpstr>
      <vt:lpstr>Arial Unicode MS</vt:lpstr>
      <vt:lpstr>华文行楷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唐明阳</cp:lastModifiedBy>
  <cp:revision>2</cp:revision>
  <dcterms:created xsi:type="dcterms:W3CDTF">2026-06-28T08:39:00Z</dcterms:created>
  <dcterms:modified xsi:type="dcterms:W3CDTF">2026-06-28T08:44:39Z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B51C3884455E468D9E824E91D9192751_12</vt:lpwstr>
  </property>
</Properties>
</file>